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720" r:id="rId2"/>
    <p:sldId id="860" r:id="rId3"/>
    <p:sldId id="972" r:id="rId4"/>
    <p:sldId id="885" r:id="rId5"/>
    <p:sldId id="970" r:id="rId6"/>
    <p:sldId id="886" r:id="rId7"/>
    <p:sldId id="887" r:id="rId8"/>
    <p:sldId id="876" r:id="rId9"/>
    <p:sldId id="753" r:id="rId10"/>
    <p:sldId id="754" r:id="rId11"/>
    <p:sldId id="877" r:id="rId12"/>
    <p:sldId id="878" r:id="rId13"/>
    <p:sldId id="755" r:id="rId14"/>
    <p:sldId id="767" r:id="rId15"/>
    <p:sldId id="758" r:id="rId16"/>
    <p:sldId id="759" r:id="rId17"/>
    <p:sldId id="971" r:id="rId18"/>
    <p:sldId id="987" r:id="rId19"/>
    <p:sldId id="1057" r:id="rId20"/>
    <p:sldId id="1055" r:id="rId21"/>
    <p:sldId id="861" r:id="rId22"/>
    <p:sldId id="862" r:id="rId23"/>
    <p:sldId id="721" r:id="rId24"/>
    <p:sldId id="1059" r:id="rId25"/>
    <p:sldId id="973" r:id="rId26"/>
    <p:sldId id="849" r:id="rId27"/>
    <p:sldId id="765" r:id="rId28"/>
    <p:sldId id="844" r:id="rId29"/>
    <p:sldId id="888" r:id="rId30"/>
    <p:sldId id="762" r:id="rId31"/>
    <p:sldId id="847" r:id="rId32"/>
    <p:sldId id="845" r:id="rId33"/>
    <p:sldId id="848" r:id="rId34"/>
    <p:sldId id="764" r:id="rId35"/>
    <p:sldId id="846" r:id="rId36"/>
    <p:sldId id="938" r:id="rId37"/>
    <p:sldId id="937" r:id="rId38"/>
    <p:sldId id="901" r:id="rId39"/>
    <p:sldId id="1058" r:id="rId40"/>
  </p:sldIdLst>
  <p:sldSz cx="9144000" cy="6858000" type="screen4x3"/>
  <p:notesSz cx="7102475" cy="10234613"/>
  <p:defaultTextStyle>
    <a:defPPr>
      <a:defRPr lang="en-US"/>
    </a:defPPr>
    <a:lvl1pPr algn="l" rtl="0" eaLnBrk="0" fontAlgn="base" hangingPunct="0">
      <a:spcBef>
        <a:spcPct val="0"/>
      </a:spcBef>
      <a:spcAft>
        <a:spcPct val="0"/>
      </a:spcAft>
      <a:defRPr sz="3600" kern="1200">
        <a:solidFill>
          <a:schemeClr val="tx1"/>
        </a:solidFill>
        <a:latin typeface="Times New Roman" panose="02020603050405020304" pitchFamily="18" charset="0"/>
        <a:ea typeface="华文仿宋" panose="02010600040101010101" pitchFamily="2" charset="-122"/>
        <a:cs typeface="+mn-cs"/>
      </a:defRPr>
    </a:lvl1pPr>
    <a:lvl2pPr marL="457200" algn="l" rtl="0" eaLnBrk="0" fontAlgn="base" hangingPunct="0">
      <a:spcBef>
        <a:spcPct val="0"/>
      </a:spcBef>
      <a:spcAft>
        <a:spcPct val="0"/>
      </a:spcAft>
      <a:defRPr sz="3600" kern="1200">
        <a:solidFill>
          <a:schemeClr val="tx1"/>
        </a:solidFill>
        <a:latin typeface="Times New Roman" panose="02020603050405020304" pitchFamily="18" charset="0"/>
        <a:ea typeface="华文仿宋" panose="02010600040101010101" pitchFamily="2" charset="-122"/>
        <a:cs typeface="+mn-cs"/>
      </a:defRPr>
    </a:lvl2pPr>
    <a:lvl3pPr marL="914400" algn="l" rtl="0" eaLnBrk="0" fontAlgn="base" hangingPunct="0">
      <a:spcBef>
        <a:spcPct val="0"/>
      </a:spcBef>
      <a:spcAft>
        <a:spcPct val="0"/>
      </a:spcAft>
      <a:defRPr sz="3600" kern="1200">
        <a:solidFill>
          <a:schemeClr val="tx1"/>
        </a:solidFill>
        <a:latin typeface="Times New Roman" panose="02020603050405020304" pitchFamily="18" charset="0"/>
        <a:ea typeface="华文仿宋" panose="02010600040101010101" pitchFamily="2" charset="-122"/>
        <a:cs typeface="+mn-cs"/>
      </a:defRPr>
    </a:lvl3pPr>
    <a:lvl4pPr marL="1371600" algn="l" rtl="0" eaLnBrk="0" fontAlgn="base" hangingPunct="0">
      <a:spcBef>
        <a:spcPct val="0"/>
      </a:spcBef>
      <a:spcAft>
        <a:spcPct val="0"/>
      </a:spcAft>
      <a:defRPr sz="3600" kern="1200">
        <a:solidFill>
          <a:schemeClr val="tx1"/>
        </a:solidFill>
        <a:latin typeface="Times New Roman" panose="02020603050405020304" pitchFamily="18" charset="0"/>
        <a:ea typeface="华文仿宋" panose="02010600040101010101" pitchFamily="2" charset="-122"/>
        <a:cs typeface="+mn-cs"/>
      </a:defRPr>
    </a:lvl4pPr>
    <a:lvl5pPr marL="1828800" algn="l" rtl="0" eaLnBrk="0" fontAlgn="base" hangingPunct="0">
      <a:spcBef>
        <a:spcPct val="0"/>
      </a:spcBef>
      <a:spcAft>
        <a:spcPct val="0"/>
      </a:spcAft>
      <a:defRPr sz="3600" kern="1200">
        <a:solidFill>
          <a:schemeClr val="tx1"/>
        </a:solidFill>
        <a:latin typeface="Times New Roman" panose="02020603050405020304" pitchFamily="18" charset="0"/>
        <a:ea typeface="华文仿宋" panose="02010600040101010101" pitchFamily="2" charset="-122"/>
        <a:cs typeface="+mn-cs"/>
      </a:defRPr>
    </a:lvl5pPr>
    <a:lvl6pPr marL="2286000" algn="l" defTabSz="914400" rtl="0" eaLnBrk="1" latinLnBrk="0" hangingPunct="1">
      <a:defRPr sz="3600" kern="1200">
        <a:solidFill>
          <a:schemeClr val="tx1"/>
        </a:solidFill>
        <a:latin typeface="Times New Roman" panose="02020603050405020304" pitchFamily="18" charset="0"/>
        <a:ea typeface="华文仿宋" panose="02010600040101010101" pitchFamily="2" charset="-122"/>
        <a:cs typeface="+mn-cs"/>
      </a:defRPr>
    </a:lvl6pPr>
    <a:lvl7pPr marL="2743200" algn="l" defTabSz="914400" rtl="0" eaLnBrk="1" latinLnBrk="0" hangingPunct="1">
      <a:defRPr sz="3600" kern="1200">
        <a:solidFill>
          <a:schemeClr val="tx1"/>
        </a:solidFill>
        <a:latin typeface="Times New Roman" panose="02020603050405020304" pitchFamily="18" charset="0"/>
        <a:ea typeface="华文仿宋" panose="02010600040101010101" pitchFamily="2" charset="-122"/>
        <a:cs typeface="+mn-cs"/>
      </a:defRPr>
    </a:lvl7pPr>
    <a:lvl8pPr marL="3200400" algn="l" defTabSz="914400" rtl="0" eaLnBrk="1" latinLnBrk="0" hangingPunct="1">
      <a:defRPr sz="3600" kern="1200">
        <a:solidFill>
          <a:schemeClr val="tx1"/>
        </a:solidFill>
        <a:latin typeface="Times New Roman" panose="02020603050405020304" pitchFamily="18" charset="0"/>
        <a:ea typeface="华文仿宋" panose="02010600040101010101" pitchFamily="2" charset="-122"/>
        <a:cs typeface="+mn-cs"/>
      </a:defRPr>
    </a:lvl8pPr>
    <a:lvl9pPr marL="3657600" algn="l" defTabSz="914400" rtl="0" eaLnBrk="1" latinLnBrk="0" hangingPunct="1">
      <a:defRPr sz="3600" kern="1200">
        <a:solidFill>
          <a:schemeClr val="tx1"/>
        </a:solidFill>
        <a:latin typeface="Times New Roman" panose="02020603050405020304" pitchFamily="18" charset="0"/>
        <a:ea typeface="华文仿宋" panose="02010600040101010101" pitchFamily="2" charset="-122"/>
        <a:cs typeface="+mn-cs"/>
      </a:defRPr>
    </a:lvl9pPr>
  </p:defaultTextStyle>
  <p:extLst>
    <p:ext uri="{521415D9-36F7-43E2-AB2F-B90AF26B5E84}">
      <p14:sectionLst xmlns:p14="http://schemas.microsoft.com/office/powerpoint/2010/main">
        <p14:section name="默认节" id="{6D9FC1E1-3656-4E3D-8B03-8DA820CA66E6}">
          <p14:sldIdLst/>
        </p14:section>
        <p14:section name="无标题节" id="{8AA572A0-450C-4533-934F-FFF779280676}">
          <p14:sldIdLst>
            <p14:sldId id="720"/>
            <p14:sldId id="860"/>
            <p14:sldId id="972"/>
            <p14:sldId id="885"/>
            <p14:sldId id="970"/>
            <p14:sldId id="886"/>
            <p14:sldId id="887"/>
            <p14:sldId id="876"/>
            <p14:sldId id="753"/>
            <p14:sldId id="754"/>
            <p14:sldId id="877"/>
            <p14:sldId id="878"/>
            <p14:sldId id="755"/>
            <p14:sldId id="767"/>
            <p14:sldId id="758"/>
            <p14:sldId id="759"/>
            <p14:sldId id="971"/>
            <p14:sldId id="987"/>
            <p14:sldId id="1057"/>
            <p14:sldId id="1055"/>
            <p14:sldId id="861"/>
            <p14:sldId id="862"/>
            <p14:sldId id="721"/>
            <p14:sldId id="1059"/>
            <p14:sldId id="973"/>
            <p14:sldId id="849"/>
            <p14:sldId id="765"/>
            <p14:sldId id="844"/>
            <p14:sldId id="888"/>
            <p14:sldId id="762"/>
            <p14:sldId id="847"/>
            <p14:sldId id="845"/>
            <p14:sldId id="848"/>
            <p14:sldId id="764"/>
            <p14:sldId id="846"/>
            <p14:sldId id="938"/>
            <p14:sldId id="937"/>
            <p14:sldId id="901"/>
            <p14:sldId id="105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 id="2" name="1 1" initials="11" lastIdx="4" clrIdx="1">
    <p:extLst>
      <p:ext uri="{19B8F6BF-5375-455C-9EA6-DF929625EA0E}">
        <p15:presenceInfo xmlns:p15="http://schemas.microsoft.com/office/powerpoint/2012/main" userId="1 1"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3333CC"/>
    <a:srgbClr val="FF0000"/>
    <a:srgbClr val="FCFD58"/>
    <a:srgbClr val="009999"/>
    <a:srgbClr val="0099CC"/>
    <a:srgbClr val="99CCFF"/>
    <a:srgbClr val="C0C0C0"/>
    <a:srgbClr val="FFFFCC"/>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60" autoAdjust="0"/>
    <p:restoredTop sz="85964" autoAdjust="0"/>
  </p:normalViewPr>
  <p:slideViewPr>
    <p:cSldViewPr snapToGrid="0">
      <p:cViewPr varScale="1">
        <p:scale>
          <a:sx n="74" d="100"/>
          <a:sy n="74" d="100"/>
        </p:scale>
        <p:origin x="1218" y="27"/>
      </p:cViewPr>
      <p:guideLst>
        <p:guide orient="horz" pos="2160"/>
        <p:guide pos="2880"/>
      </p:guideLst>
    </p:cSldViewPr>
  </p:slideViewPr>
  <p:outlineViewPr>
    <p:cViewPr>
      <p:scale>
        <a:sx n="33" d="100"/>
        <a:sy n="33" d="100"/>
      </p:scale>
      <p:origin x="0" y="-122448"/>
    </p:cViewPr>
  </p:outlineViewPr>
  <p:notesTextViewPr>
    <p:cViewPr>
      <p:scale>
        <a:sx n="100" d="100"/>
        <a:sy n="100" d="100"/>
      </p:scale>
      <p:origin x="0" y="0"/>
    </p:cViewPr>
  </p:notesTextViewPr>
  <p:sorterViewPr>
    <p:cViewPr>
      <p:scale>
        <a:sx n="66" d="100"/>
        <a:sy n="66" d="100"/>
      </p:scale>
      <p:origin x="0" y="5376"/>
    </p:cViewPr>
  </p:sorterViewPr>
  <p:notesViewPr>
    <p:cSldViewPr snapToGrid="0">
      <p:cViewPr varScale="1">
        <p:scale>
          <a:sx n="52" d="100"/>
          <a:sy n="52" d="100"/>
        </p:scale>
        <p:origin x="-2664" y="-64"/>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7554" name="Rectangle 2"/>
          <p:cNvSpPr>
            <a:spLocks noGrp="1" noChangeArrowheads="1"/>
          </p:cNvSpPr>
          <p:nvPr>
            <p:ph type="hdr" sz="quarter"/>
          </p:nvPr>
        </p:nvSpPr>
        <p:spPr bwMode="auto">
          <a:xfrm>
            <a:off x="5" y="4"/>
            <a:ext cx="3077739" cy="511026"/>
          </a:xfrm>
          <a:prstGeom prst="rect">
            <a:avLst/>
          </a:prstGeom>
          <a:noFill/>
          <a:ln w="9525">
            <a:noFill/>
            <a:miter lim="800000"/>
            <a:headEnd/>
            <a:tailEnd/>
          </a:ln>
          <a:effectLst/>
        </p:spPr>
        <p:txBody>
          <a:bodyPr vert="horz" wrap="square" lIns="98549" tIns="49275" rIns="98549" bIns="49275" numCol="1" anchor="t" anchorCtr="0" compatLnSpc="1">
            <a:prstTxWarp prst="textNoShape">
              <a:avLst/>
            </a:prstTxWarp>
          </a:bodyPr>
          <a:lstStyle>
            <a:lvl1pPr algn="l" eaLnBrk="1" hangingPunct="1">
              <a:defRPr sz="1300">
                <a:latin typeface="Times New Roman" pitchFamily="18" charset="0"/>
                <a:ea typeface="宋体" pitchFamily="2" charset="-122"/>
              </a:defRPr>
            </a:lvl1pPr>
          </a:lstStyle>
          <a:p>
            <a:pPr>
              <a:defRPr/>
            </a:pPr>
            <a:endParaRPr lang="zh-CN" altLang="en-US" dirty="0">
              <a:ea typeface="黑体" panose="02010609060101010101" pitchFamily="49" charset="-122"/>
            </a:endParaRPr>
          </a:p>
        </p:txBody>
      </p:sp>
      <p:sp>
        <p:nvSpPr>
          <p:cNvPr id="407555" name="Rectangle 3"/>
          <p:cNvSpPr>
            <a:spLocks noGrp="1" noChangeArrowheads="1"/>
          </p:cNvSpPr>
          <p:nvPr>
            <p:ph type="dt" sz="quarter" idx="1"/>
          </p:nvPr>
        </p:nvSpPr>
        <p:spPr bwMode="auto">
          <a:xfrm>
            <a:off x="4023097" y="4"/>
            <a:ext cx="3077739" cy="511026"/>
          </a:xfrm>
          <a:prstGeom prst="rect">
            <a:avLst/>
          </a:prstGeom>
          <a:noFill/>
          <a:ln w="9525">
            <a:noFill/>
            <a:miter lim="800000"/>
            <a:headEnd/>
            <a:tailEnd/>
          </a:ln>
          <a:effectLst/>
        </p:spPr>
        <p:txBody>
          <a:bodyPr vert="horz" wrap="square" lIns="98549" tIns="49275" rIns="98549" bIns="49275" numCol="1" anchor="t" anchorCtr="0" compatLnSpc="1">
            <a:prstTxWarp prst="textNoShape">
              <a:avLst/>
            </a:prstTxWarp>
          </a:bodyPr>
          <a:lstStyle>
            <a:lvl1pPr algn="r" eaLnBrk="1" hangingPunct="1">
              <a:defRPr sz="1300">
                <a:latin typeface="Times New Roman" pitchFamily="18" charset="0"/>
                <a:ea typeface="宋体" pitchFamily="2" charset="-122"/>
              </a:defRPr>
            </a:lvl1pPr>
          </a:lstStyle>
          <a:p>
            <a:pPr>
              <a:defRPr/>
            </a:pPr>
            <a:endParaRPr lang="en-US" altLang="zh-CN" dirty="0">
              <a:ea typeface="黑体" panose="02010609060101010101" pitchFamily="49" charset="-122"/>
            </a:endParaRPr>
          </a:p>
        </p:txBody>
      </p:sp>
      <p:sp>
        <p:nvSpPr>
          <p:cNvPr id="407556" name="Rectangle 4"/>
          <p:cNvSpPr>
            <a:spLocks noGrp="1" noChangeArrowheads="1"/>
          </p:cNvSpPr>
          <p:nvPr>
            <p:ph type="ftr" sz="quarter" idx="2"/>
          </p:nvPr>
        </p:nvSpPr>
        <p:spPr bwMode="auto">
          <a:xfrm>
            <a:off x="5" y="9721826"/>
            <a:ext cx="3077739" cy="511026"/>
          </a:xfrm>
          <a:prstGeom prst="rect">
            <a:avLst/>
          </a:prstGeom>
          <a:noFill/>
          <a:ln w="9525">
            <a:noFill/>
            <a:miter lim="800000"/>
            <a:headEnd/>
            <a:tailEnd/>
          </a:ln>
          <a:effectLst/>
        </p:spPr>
        <p:txBody>
          <a:bodyPr vert="horz" wrap="square" lIns="98549" tIns="49275" rIns="98549" bIns="49275" numCol="1" anchor="b" anchorCtr="0" compatLnSpc="1">
            <a:prstTxWarp prst="textNoShape">
              <a:avLst/>
            </a:prstTxWarp>
          </a:bodyPr>
          <a:lstStyle>
            <a:lvl1pPr algn="l" eaLnBrk="1" hangingPunct="1">
              <a:defRPr sz="1300">
                <a:latin typeface="Times New Roman" pitchFamily="18" charset="0"/>
                <a:ea typeface="宋体" pitchFamily="2" charset="-122"/>
              </a:defRPr>
            </a:lvl1pPr>
          </a:lstStyle>
          <a:p>
            <a:pPr>
              <a:defRPr/>
            </a:pPr>
            <a:endParaRPr lang="en-US" altLang="zh-CN" dirty="0">
              <a:ea typeface="黑体" panose="02010609060101010101" pitchFamily="49" charset="-122"/>
            </a:endParaRPr>
          </a:p>
        </p:txBody>
      </p:sp>
      <p:sp>
        <p:nvSpPr>
          <p:cNvPr id="407557" name="Rectangle 5"/>
          <p:cNvSpPr>
            <a:spLocks noGrp="1" noChangeArrowheads="1"/>
          </p:cNvSpPr>
          <p:nvPr>
            <p:ph type="sldNum" sz="quarter" idx="3"/>
          </p:nvPr>
        </p:nvSpPr>
        <p:spPr bwMode="auto">
          <a:xfrm>
            <a:off x="4023097" y="9721826"/>
            <a:ext cx="3077739" cy="511026"/>
          </a:xfrm>
          <a:prstGeom prst="rect">
            <a:avLst/>
          </a:prstGeom>
          <a:noFill/>
          <a:ln w="9525">
            <a:noFill/>
            <a:miter lim="800000"/>
            <a:headEnd/>
            <a:tailEnd/>
          </a:ln>
          <a:effectLst/>
        </p:spPr>
        <p:txBody>
          <a:bodyPr vert="horz" wrap="square" lIns="98549" tIns="49275" rIns="98549" bIns="49275" numCol="1" anchor="b" anchorCtr="0" compatLnSpc="1">
            <a:prstTxWarp prst="textNoShape">
              <a:avLst/>
            </a:prstTxWarp>
          </a:bodyPr>
          <a:lstStyle>
            <a:lvl1pPr algn="r" eaLnBrk="1" hangingPunct="1">
              <a:defRPr sz="1300">
                <a:ea typeface="宋体" panose="02010600030101010101" pitchFamily="2" charset="-122"/>
              </a:defRPr>
            </a:lvl1pPr>
          </a:lstStyle>
          <a:p>
            <a:pPr>
              <a:defRPr/>
            </a:pPr>
            <a:fld id="{0F604EA8-A712-4041-A2E4-BE909F10F605}" type="slidenum">
              <a:rPr lang="zh-CN" altLang="en-US">
                <a:ea typeface="黑体" panose="02010609060101010101" pitchFamily="49" charset="-122"/>
              </a:rPr>
              <a:pPr>
                <a:defRPr/>
              </a:pPr>
              <a:t>‹#›</a:t>
            </a:fld>
            <a:endParaRPr lang="en-US" altLang="zh-CN" dirty="0">
              <a:ea typeface="黑体" panose="02010609060101010101" pitchFamily="49" charset="-122"/>
            </a:endParaRPr>
          </a:p>
        </p:txBody>
      </p:sp>
    </p:spTree>
    <p:extLst>
      <p:ext uri="{BB962C8B-B14F-4D97-AF65-F5344CB8AC3E}">
        <p14:creationId xmlns:p14="http://schemas.microsoft.com/office/powerpoint/2010/main" val="956637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bwMode="auto">
          <a:xfrm>
            <a:off x="5" y="4"/>
            <a:ext cx="3077739" cy="511026"/>
          </a:xfrm>
          <a:prstGeom prst="rect">
            <a:avLst/>
          </a:prstGeom>
          <a:noFill/>
          <a:ln w="9525">
            <a:noFill/>
            <a:miter lim="800000"/>
            <a:headEnd/>
            <a:tailEnd/>
          </a:ln>
          <a:effectLst/>
        </p:spPr>
        <p:txBody>
          <a:bodyPr vert="horz" wrap="square" lIns="98549" tIns="49275" rIns="98549" bIns="49275" numCol="1" anchor="t" anchorCtr="0" compatLnSpc="1">
            <a:prstTxWarp prst="textNoShape">
              <a:avLst/>
            </a:prstTxWarp>
          </a:bodyPr>
          <a:lstStyle>
            <a:lvl1pPr algn="l" eaLnBrk="1" hangingPunct="1">
              <a:defRPr sz="1300">
                <a:latin typeface="Times New Roman" pitchFamily="18" charset="0"/>
                <a:ea typeface="黑体" panose="02010609060101010101" pitchFamily="49" charset="-122"/>
              </a:defRPr>
            </a:lvl1pPr>
          </a:lstStyle>
          <a:p>
            <a:pPr>
              <a:defRPr/>
            </a:pPr>
            <a:endParaRPr lang="en-US" altLang="zh-CN" dirty="0"/>
          </a:p>
        </p:txBody>
      </p:sp>
      <p:sp>
        <p:nvSpPr>
          <p:cNvPr id="116739" name="Rectangle 3"/>
          <p:cNvSpPr>
            <a:spLocks noGrp="1" noChangeArrowheads="1"/>
          </p:cNvSpPr>
          <p:nvPr>
            <p:ph type="dt" idx="1"/>
          </p:nvPr>
        </p:nvSpPr>
        <p:spPr bwMode="auto">
          <a:xfrm>
            <a:off x="4023097" y="4"/>
            <a:ext cx="3077739" cy="511026"/>
          </a:xfrm>
          <a:prstGeom prst="rect">
            <a:avLst/>
          </a:prstGeom>
          <a:noFill/>
          <a:ln w="9525">
            <a:noFill/>
            <a:miter lim="800000"/>
            <a:headEnd/>
            <a:tailEnd/>
          </a:ln>
          <a:effectLst/>
        </p:spPr>
        <p:txBody>
          <a:bodyPr vert="horz" wrap="square" lIns="98549" tIns="49275" rIns="98549" bIns="49275" numCol="1" anchor="t" anchorCtr="0" compatLnSpc="1">
            <a:prstTxWarp prst="textNoShape">
              <a:avLst/>
            </a:prstTxWarp>
          </a:bodyPr>
          <a:lstStyle>
            <a:lvl1pPr algn="r" eaLnBrk="1" hangingPunct="1">
              <a:defRPr sz="1300">
                <a:latin typeface="Times New Roman" pitchFamily="18" charset="0"/>
                <a:ea typeface="黑体" panose="02010609060101010101" pitchFamily="49" charset="-122"/>
              </a:defRPr>
            </a:lvl1pPr>
          </a:lstStyle>
          <a:p>
            <a:pPr>
              <a:defRPr/>
            </a:pPr>
            <a:endParaRPr lang="en-US" altLang="zh-CN" dirty="0"/>
          </a:p>
        </p:txBody>
      </p:sp>
      <p:sp>
        <p:nvSpPr>
          <p:cNvPr id="14340" name="Rectangle 4"/>
          <p:cNvSpPr>
            <a:spLocks noGrp="1" noRot="1" noChangeAspect="1" noChangeArrowheads="1" noTextEdit="1"/>
          </p:cNvSpPr>
          <p:nvPr>
            <p:ph type="sldImg" idx="2"/>
          </p:nvPr>
        </p:nvSpPr>
        <p:spPr bwMode="auto">
          <a:xfrm>
            <a:off x="992188" y="768350"/>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41" name="Rectangle 5"/>
          <p:cNvSpPr>
            <a:spLocks noGrp="1" noChangeArrowheads="1"/>
          </p:cNvSpPr>
          <p:nvPr>
            <p:ph type="body" sz="quarter" idx="3"/>
          </p:nvPr>
        </p:nvSpPr>
        <p:spPr bwMode="auto">
          <a:xfrm>
            <a:off x="710248" y="4861794"/>
            <a:ext cx="5681980" cy="4604519"/>
          </a:xfrm>
          <a:prstGeom prst="rect">
            <a:avLst/>
          </a:prstGeom>
          <a:noFill/>
          <a:ln w="9525">
            <a:noFill/>
            <a:miter lim="800000"/>
            <a:headEnd/>
            <a:tailEnd/>
          </a:ln>
          <a:effectLst/>
        </p:spPr>
        <p:txBody>
          <a:bodyPr vert="horz" wrap="square" lIns="98549" tIns="49275" rIns="98549" bIns="49275" numCol="1" anchor="t" anchorCtr="0" compatLnSpc="1">
            <a:prstTxWarp prst="textNoShape">
              <a:avLst/>
            </a:prstTxWarp>
          </a:bodyPr>
          <a:lstStyle/>
          <a:p>
            <a:pPr lvl="0"/>
            <a:r>
              <a:rPr lang="en-US" altLang="zh-CN" noProof="0" dirty="0"/>
              <a:t>Click to edit Master text styles</a:t>
            </a:r>
          </a:p>
          <a:p>
            <a:pPr lvl="1"/>
            <a:r>
              <a:rPr lang="en-US" altLang="zh-CN" noProof="0" dirty="0"/>
              <a:t>Second level</a:t>
            </a:r>
          </a:p>
          <a:p>
            <a:pPr lvl="2"/>
            <a:r>
              <a:rPr lang="en-US" altLang="zh-CN" noProof="0" dirty="0"/>
              <a:t>Third level</a:t>
            </a:r>
          </a:p>
          <a:p>
            <a:pPr lvl="3"/>
            <a:r>
              <a:rPr lang="en-US" altLang="zh-CN" noProof="0" dirty="0"/>
              <a:t>Fourth level</a:t>
            </a:r>
          </a:p>
          <a:p>
            <a:pPr lvl="4"/>
            <a:r>
              <a:rPr lang="en-US" altLang="zh-CN" noProof="0" dirty="0"/>
              <a:t>Fifth level</a:t>
            </a:r>
          </a:p>
        </p:txBody>
      </p:sp>
      <p:sp>
        <p:nvSpPr>
          <p:cNvPr id="116742" name="Rectangle 6"/>
          <p:cNvSpPr>
            <a:spLocks noGrp="1" noChangeArrowheads="1"/>
          </p:cNvSpPr>
          <p:nvPr>
            <p:ph type="ftr" sz="quarter" idx="4"/>
          </p:nvPr>
        </p:nvSpPr>
        <p:spPr bwMode="auto">
          <a:xfrm>
            <a:off x="5" y="9721826"/>
            <a:ext cx="3077739" cy="511026"/>
          </a:xfrm>
          <a:prstGeom prst="rect">
            <a:avLst/>
          </a:prstGeom>
          <a:noFill/>
          <a:ln w="9525">
            <a:noFill/>
            <a:miter lim="800000"/>
            <a:headEnd/>
            <a:tailEnd/>
          </a:ln>
          <a:effectLst/>
        </p:spPr>
        <p:txBody>
          <a:bodyPr vert="horz" wrap="square" lIns="98549" tIns="49275" rIns="98549" bIns="49275" numCol="1" anchor="b" anchorCtr="0" compatLnSpc="1">
            <a:prstTxWarp prst="textNoShape">
              <a:avLst/>
            </a:prstTxWarp>
          </a:bodyPr>
          <a:lstStyle>
            <a:lvl1pPr algn="l" eaLnBrk="1" hangingPunct="1">
              <a:defRPr sz="1300">
                <a:latin typeface="Times New Roman" pitchFamily="18" charset="0"/>
                <a:ea typeface="黑体" panose="02010609060101010101" pitchFamily="49" charset="-122"/>
              </a:defRPr>
            </a:lvl1pPr>
          </a:lstStyle>
          <a:p>
            <a:pPr>
              <a:defRPr/>
            </a:pPr>
            <a:endParaRPr lang="en-US" altLang="zh-CN" dirty="0"/>
          </a:p>
        </p:txBody>
      </p:sp>
      <p:sp>
        <p:nvSpPr>
          <p:cNvPr id="116743" name="Rectangle 7"/>
          <p:cNvSpPr>
            <a:spLocks noGrp="1" noChangeArrowheads="1"/>
          </p:cNvSpPr>
          <p:nvPr>
            <p:ph type="sldNum" sz="quarter" idx="5"/>
          </p:nvPr>
        </p:nvSpPr>
        <p:spPr bwMode="auto">
          <a:xfrm>
            <a:off x="4023097" y="9721826"/>
            <a:ext cx="3077739" cy="511026"/>
          </a:xfrm>
          <a:prstGeom prst="rect">
            <a:avLst/>
          </a:prstGeom>
          <a:noFill/>
          <a:ln w="9525">
            <a:noFill/>
            <a:miter lim="800000"/>
            <a:headEnd/>
            <a:tailEnd/>
          </a:ln>
          <a:effectLst/>
        </p:spPr>
        <p:txBody>
          <a:bodyPr vert="horz" wrap="square" lIns="98549" tIns="49275" rIns="98549" bIns="49275" numCol="1" anchor="b" anchorCtr="0" compatLnSpc="1">
            <a:prstTxWarp prst="textNoShape">
              <a:avLst/>
            </a:prstTxWarp>
          </a:bodyPr>
          <a:lstStyle>
            <a:lvl1pPr algn="r" eaLnBrk="1" hangingPunct="1">
              <a:defRPr sz="1300">
                <a:ea typeface="黑体" panose="02010609060101010101" pitchFamily="49" charset="-122"/>
              </a:defRPr>
            </a:lvl1pPr>
          </a:lstStyle>
          <a:p>
            <a:pPr>
              <a:defRPr/>
            </a:pPr>
            <a:fld id="{9422A9E2-93C5-47F1-BF8D-EB98369E3583}" type="slidenum">
              <a:rPr lang="zh-CN" altLang="en-US" smtClean="0"/>
              <a:pPr>
                <a:defRPr/>
              </a:pPr>
              <a:t>‹#›</a:t>
            </a:fld>
            <a:endParaRPr lang="en-US" altLang="zh-CN" dirty="0"/>
          </a:p>
        </p:txBody>
      </p:sp>
    </p:spTree>
    <p:extLst>
      <p:ext uri="{BB962C8B-B14F-4D97-AF65-F5344CB8AC3E}">
        <p14:creationId xmlns:p14="http://schemas.microsoft.com/office/powerpoint/2010/main" val="11469183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黑体" panose="02010609060101010101" pitchFamily="49"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黑体" panose="02010609060101010101" pitchFamily="49"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黑体" panose="02010609060101010101" pitchFamily="49"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黑体" panose="02010609060101010101" pitchFamily="49"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黑体"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163.com/dy/article/J0282HDK0511AQHO.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blog.csdn.net/dbvz4901/article/details/101901504"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EBB97A4E-B8CD-41A3-A159-C1EDF6DDB073}" type="slidenum">
              <a:rPr lang="zh-CN" altLang="en-US" smtClean="0"/>
              <a:pPr>
                <a:spcBef>
                  <a:spcPct val="0"/>
                </a:spcBef>
              </a:pPr>
              <a:t>2</a:t>
            </a:fld>
            <a:endParaRPr lang="en-US" altLang="zh-CN"/>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a:p>
            <a:pPr eaLnBrk="1" hangingPunct="1"/>
            <a:endParaRPr lang="zh-CN" altLang="en-US"/>
          </a:p>
        </p:txBody>
      </p:sp>
    </p:spTree>
    <p:extLst>
      <p:ext uri="{BB962C8B-B14F-4D97-AF65-F5344CB8AC3E}">
        <p14:creationId xmlns:p14="http://schemas.microsoft.com/office/powerpoint/2010/main" val="1167959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DFA6806C-8988-43D7-A737-447B9A717890}" type="slidenum">
              <a:rPr lang="en-US" altLang="zh-CN" smtClean="0">
                <a:latin typeface="Arial" panose="020B0604020202020204" pitchFamily="34" charset="0"/>
              </a:rPr>
              <a:pPr>
                <a:spcBef>
                  <a:spcPct val="0"/>
                </a:spcBef>
              </a:pPr>
              <a:t>3</a:t>
            </a:fld>
            <a:endParaRPr lang="en-US" altLang="zh-CN">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361834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DFA6806C-8988-43D7-A737-447B9A717890}" type="slidenum">
              <a:rPr lang="en-US" altLang="zh-CN" smtClean="0">
                <a:latin typeface="Arial" panose="020B0604020202020204" pitchFamily="34" charset="0"/>
              </a:rPr>
              <a:pPr>
                <a:spcBef>
                  <a:spcPct val="0"/>
                </a:spcBef>
              </a:pPr>
              <a:t>4</a:t>
            </a:fld>
            <a:endParaRPr lang="en-US" altLang="zh-CN">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99178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DFA6806C-8988-43D7-A737-447B9A717890}" type="slidenum">
              <a:rPr lang="en-US" altLang="zh-CN" smtClean="0">
                <a:latin typeface="Arial" panose="020B0604020202020204" pitchFamily="34" charset="0"/>
              </a:rPr>
              <a:pPr>
                <a:spcBef>
                  <a:spcPct val="0"/>
                </a:spcBef>
              </a:pPr>
              <a:t>5</a:t>
            </a:fld>
            <a:endParaRPr lang="en-US" altLang="zh-CN">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302351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A05CB311-B805-4A03-B7F5-E9D0FEE0D488}" type="slidenum">
              <a:rPr lang="en-US" altLang="zh-CN" smtClean="0">
                <a:latin typeface="Arial" panose="020B0604020202020204" pitchFamily="34" charset="0"/>
              </a:rPr>
              <a:pPr>
                <a:spcBef>
                  <a:spcPct val="0"/>
                </a:spcBef>
              </a:pPr>
              <a:t>6</a:t>
            </a:fld>
            <a:endParaRPr lang="en-US" altLang="zh-CN">
              <a:latin typeface="Arial" panose="020B0604020202020204" pitchFamily="34" charset="0"/>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52386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859448A2-4D73-4C5D-B499-C2EA262E31A4}" type="slidenum">
              <a:rPr lang="en-US" altLang="zh-CN" smtClean="0">
                <a:latin typeface="Arial" panose="020B0604020202020204" pitchFamily="34" charset="0"/>
              </a:rPr>
              <a:pPr>
                <a:spcBef>
                  <a:spcPct val="0"/>
                </a:spcBef>
              </a:pPr>
              <a:t>7</a:t>
            </a:fld>
            <a:endParaRPr lang="en-US" altLang="zh-CN">
              <a:latin typeface="Arial" panose="020B0604020202020204" pitchFamily="34"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435143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DFA6806C-8988-43D7-A737-447B9A717890}" type="slidenum">
              <a:rPr lang="en-US" altLang="zh-CN" smtClean="0">
                <a:latin typeface="Arial" panose="020B0604020202020204" pitchFamily="34" charset="0"/>
              </a:rPr>
              <a:pPr>
                <a:spcBef>
                  <a:spcPct val="0"/>
                </a:spcBef>
              </a:pPr>
              <a:t>8</a:t>
            </a:fld>
            <a:endParaRPr lang="en-US" altLang="zh-CN">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hlinkClick r:id="rId3"/>
              </a:rPr>
              <a:t>无向图最小割问题取得新突破，谷歌研究获</a:t>
            </a:r>
            <a:r>
              <a:rPr lang="en-US" altLang="zh-CN" dirty="0">
                <a:hlinkClick r:id="rId3"/>
              </a:rPr>
              <a:t>SODA 2024</a:t>
            </a:r>
            <a:r>
              <a:rPr lang="zh-CN" altLang="en-US" dirty="0">
                <a:hlinkClick r:id="rId3"/>
              </a:rPr>
              <a:t>最佳论文奖</a:t>
            </a:r>
            <a:r>
              <a:rPr lang="en-US" altLang="zh-CN" dirty="0">
                <a:hlinkClick r:id="rId3"/>
              </a:rPr>
              <a:t>|</a:t>
            </a:r>
            <a:r>
              <a:rPr lang="zh-CN" altLang="en-US" dirty="0">
                <a:hlinkClick r:id="rId3"/>
              </a:rPr>
              <a:t>算法</a:t>
            </a:r>
            <a:r>
              <a:rPr lang="en-US" altLang="zh-CN" dirty="0">
                <a:hlinkClick r:id="rId3"/>
              </a:rPr>
              <a:t>|</a:t>
            </a:r>
            <a:r>
              <a:rPr lang="zh-CN" altLang="en-US" dirty="0">
                <a:hlinkClick r:id="rId3"/>
              </a:rPr>
              <a:t>随机化</a:t>
            </a:r>
            <a:r>
              <a:rPr lang="en-US" altLang="zh-CN" dirty="0">
                <a:hlinkClick r:id="rId3"/>
              </a:rPr>
              <a:t>|</a:t>
            </a:r>
            <a:r>
              <a:rPr lang="zh-CN" altLang="en-US" dirty="0">
                <a:hlinkClick r:id="rId3"/>
              </a:rPr>
              <a:t>稀疏化</a:t>
            </a:r>
            <a:r>
              <a:rPr lang="en-US" altLang="zh-CN" dirty="0">
                <a:hlinkClick r:id="rId3"/>
              </a:rPr>
              <a:t>_</a:t>
            </a:r>
            <a:r>
              <a:rPr lang="zh-CN" altLang="en-US" dirty="0">
                <a:hlinkClick r:id="rId3"/>
              </a:rPr>
              <a:t>网易订阅 </a:t>
            </a:r>
            <a:r>
              <a:rPr lang="en-US" altLang="zh-CN" dirty="0">
                <a:hlinkClick r:id="rId3"/>
              </a:rPr>
              <a:t>(163.com)</a:t>
            </a:r>
            <a:endParaRPr lang="en-US" altLang="zh-CN" dirty="0"/>
          </a:p>
          <a:p>
            <a:pPr eaLnBrk="1" hangingPunct="1"/>
            <a:endParaRPr lang="en-US" altLang="zh-CN" dirty="0"/>
          </a:p>
          <a:p>
            <a:pPr eaLnBrk="1" hangingPunct="1"/>
            <a:r>
              <a:rPr lang="en-US" altLang="zh-CN"/>
              <a:t>https://www.163.com/dy/article/J0282HDK0511AQHO.html</a:t>
            </a:r>
            <a:endParaRPr lang="zh-CN" altLang="zh-CN"/>
          </a:p>
        </p:txBody>
      </p:sp>
    </p:spTree>
    <p:extLst>
      <p:ext uri="{BB962C8B-B14F-4D97-AF65-F5344CB8AC3E}">
        <p14:creationId xmlns:p14="http://schemas.microsoft.com/office/powerpoint/2010/main" val="3472802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DFA6806C-8988-43D7-A737-447B9A717890}" type="slidenum">
              <a:rPr lang="en-US" altLang="zh-CN" smtClean="0">
                <a:latin typeface="Arial" panose="020B0604020202020204" pitchFamily="34" charset="0"/>
              </a:rPr>
              <a:pPr>
                <a:spcBef>
                  <a:spcPct val="0"/>
                </a:spcBef>
              </a:pPr>
              <a:t>11</a:t>
            </a:fld>
            <a:endParaRPr lang="en-US" altLang="zh-CN">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721367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DFA6806C-8988-43D7-A737-447B9A717890}" type="slidenum">
              <a:rPr lang="en-US" altLang="zh-CN" smtClean="0">
                <a:latin typeface="Arial" panose="020B0604020202020204" pitchFamily="34" charset="0"/>
              </a:rPr>
              <a:pPr>
                <a:spcBef>
                  <a:spcPct val="0"/>
                </a:spcBef>
              </a:pPr>
              <a:t>12</a:t>
            </a:fld>
            <a:endParaRPr lang="en-US" altLang="zh-CN">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46227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https://www.icode9.com/content-1-709942.html</a:t>
            </a:r>
            <a:endParaRPr lang="zh-CN" altLang="en-US" dirty="0"/>
          </a:p>
        </p:txBody>
      </p:sp>
      <p:sp>
        <p:nvSpPr>
          <p:cNvPr id="4" name="灯片编号占位符 3"/>
          <p:cNvSpPr>
            <a:spLocks noGrp="1"/>
          </p:cNvSpPr>
          <p:nvPr>
            <p:ph type="sldNum" sz="quarter" idx="10"/>
          </p:nvPr>
        </p:nvSpPr>
        <p:spPr/>
        <p:txBody>
          <a:bodyPr/>
          <a:lstStyle/>
          <a:p>
            <a:pPr>
              <a:defRPr/>
            </a:pPr>
            <a:fld id="{9422A9E2-93C5-47F1-BF8D-EB98369E3583}" type="slidenum">
              <a:rPr lang="zh-CN" altLang="en-US" smtClean="0"/>
              <a:pPr>
                <a:defRPr/>
              </a:pPr>
              <a:t>18</a:t>
            </a:fld>
            <a:endParaRPr lang="en-US" altLang="zh-CN" dirty="0"/>
          </a:p>
        </p:txBody>
      </p:sp>
    </p:spTree>
    <p:extLst>
      <p:ext uri="{BB962C8B-B14F-4D97-AF65-F5344CB8AC3E}">
        <p14:creationId xmlns:p14="http://schemas.microsoft.com/office/powerpoint/2010/main" val="1032767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https://www.icode9.com/content-1-709942.html</a:t>
            </a:r>
            <a:endParaRPr lang="zh-CN" altLang="en-US" dirty="0"/>
          </a:p>
        </p:txBody>
      </p:sp>
      <p:sp>
        <p:nvSpPr>
          <p:cNvPr id="4" name="灯片编号占位符 3"/>
          <p:cNvSpPr>
            <a:spLocks noGrp="1"/>
          </p:cNvSpPr>
          <p:nvPr>
            <p:ph type="sldNum" sz="quarter" idx="10"/>
          </p:nvPr>
        </p:nvSpPr>
        <p:spPr/>
        <p:txBody>
          <a:bodyPr/>
          <a:lstStyle/>
          <a:p>
            <a:pPr>
              <a:defRPr/>
            </a:pPr>
            <a:fld id="{9422A9E2-93C5-47F1-BF8D-EB98369E3583}" type="slidenum">
              <a:rPr lang="zh-CN" altLang="en-US" smtClean="0"/>
              <a:pPr>
                <a:defRPr/>
              </a:pPr>
              <a:t>19</a:t>
            </a:fld>
            <a:endParaRPr lang="en-US" altLang="zh-CN" dirty="0"/>
          </a:p>
        </p:txBody>
      </p:sp>
    </p:spTree>
    <p:extLst>
      <p:ext uri="{BB962C8B-B14F-4D97-AF65-F5344CB8AC3E}">
        <p14:creationId xmlns:p14="http://schemas.microsoft.com/office/powerpoint/2010/main" val="2286850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https://www.icode9.com/content-1-709942.html</a:t>
            </a:r>
            <a:endParaRPr lang="zh-CN" altLang="en-US" dirty="0"/>
          </a:p>
        </p:txBody>
      </p:sp>
      <p:sp>
        <p:nvSpPr>
          <p:cNvPr id="4" name="灯片编号占位符 3"/>
          <p:cNvSpPr>
            <a:spLocks noGrp="1"/>
          </p:cNvSpPr>
          <p:nvPr>
            <p:ph type="sldNum" sz="quarter" idx="10"/>
          </p:nvPr>
        </p:nvSpPr>
        <p:spPr/>
        <p:txBody>
          <a:bodyPr/>
          <a:lstStyle/>
          <a:p>
            <a:pPr>
              <a:defRPr/>
            </a:pPr>
            <a:fld id="{9422A9E2-93C5-47F1-BF8D-EB98369E3583}" type="slidenum">
              <a:rPr lang="zh-CN" altLang="en-US" smtClean="0"/>
              <a:pPr>
                <a:defRPr/>
              </a:pPr>
              <a:t>20</a:t>
            </a:fld>
            <a:endParaRPr lang="en-US" altLang="zh-CN" dirty="0"/>
          </a:p>
        </p:txBody>
      </p:sp>
    </p:spTree>
    <p:extLst>
      <p:ext uri="{BB962C8B-B14F-4D97-AF65-F5344CB8AC3E}">
        <p14:creationId xmlns:p14="http://schemas.microsoft.com/office/powerpoint/2010/main" val="3477427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EBB97A4E-B8CD-41A3-A159-C1EDF6DDB073}" type="slidenum">
              <a:rPr lang="zh-CN" altLang="en-US" smtClean="0"/>
              <a:pPr>
                <a:spcBef>
                  <a:spcPct val="0"/>
                </a:spcBef>
              </a:pPr>
              <a:t>22</a:t>
            </a:fld>
            <a:endParaRPr lang="en-US" altLang="zh-CN"/>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a:p>
            <a:pPr eaLnBrk="1" hangingPunct="1"/>
            <a:endParaRPr lang="zh-CN" altLang="en-US"/>
          </a:p>
        </p:txBody>
      </p:sp>
    </p:spTree>
    <p:extLst>
      <p:ext uri="{BB962C8B-B14F-4D97-AF65-F5344CB8AC3E}">
        <p14:creationId xmlns:p14="http://schemas.microsoft.com/office/powerpoint/2010/main" val="4214307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DFA6806C-8988-43D7-A737-447B9A717890}" type="slidenum">
              <a:rPr lang="en-US" altLang="zh-CN" smtClean="0">
                <a:latin typeface="Arial" panose="020B0604020202020204" pitchFamily="34" charset="0"/>
              </a:rPr>
              <a:pPr>
                <a:spcBef>
                  <a:spcPct val="0"/>
                </a:spcBef>
              </a:pPr>
              <a:t>24</a:t>
            </a:fld>
            <a:endParaRPr lang="en-US" altLang="zh-CN">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8637923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Times New Roman" panose="02020603050405020304" pitchFamily="18" charset="0"/>
              </a:defRPr>
            </a:lvl1pPr>
            <a:lvl2pPr marL="800720" indent="-307969">
              <a:spcBef>
                <a:spcPct val="30000"/>
              </a:spcBef>
              <a:defRPr sz="1300">
                <a:solidFill>
                  <a:schemeClr val="tx1"/>
                </a:solidFill>
                <a:latin typeface="Times New Roman" panose="02020603050405020304" pitchFamily="18" charset="0"/>
              </a:defRPr>
            </a:lvl2pPr>
            <a:lvl3pPr marL="1231875" indent="-246376">
              <a:spcBef>
                <a:spcPct val="30000"/>
              </a:spcBef>
              <a:defRPr sz="1300">
                <a:solidFill>
                  <a:schemeClr val="tx1"/>
                </a:solidFill>
                <a:latin typeface="Times New Roman" panose="02020603050405020304" pitchFamily="18" charset="0"/>
              </a:defRPr>
            </a:lvl3pPr>
            <a:lvl4pPr marL="1724625" indent="-246376">
              <a:spcBef>
                <a:spcPct val="30000"/>
              </a:spcBef>
              <a:defRPr sz="1300">
                <a:solidFill>
                  <a:schemeClr val="tx1"/>
                </a:solidFill>
                <a:latin typeface="Times New Roman" panose="02020603050405020304" pitchFamily="18" charset="0"/>
              </a:defRPr>
            </a:lvl4pPr>
            <a:lvl5pPr marL="2217375" indent="-246376">
              <a:spcBef>
                <a:spcPct val="30000"/>
              </a:spcBef>
              <a:defRPr sz="1300">
                <a:solidFill>
                  <a:schemeClr val="tx1"/>
                </a:solidFill>
                <a:latin typeface="Times New Roman" panose="02020603050405020304" pitchFamily="18" charset="0"/>
              </a:defRPr>
            </a:lvl5pPr>
            <a:lvl6pPr marL="2710125" indent="-246376" eaLnBrk="0" fontAlgn="base" hangingPunct="0">
              <a:spcBef>
                <a:spcPct val="30000"/>
              </a:spcBef>
              <a:spcAft>
                <a:spcPct val="0"/>
              </a:spcAft>
              <a:defRPr sz="1300">
                <a:solidFill>
                  <a:schemeClr val="tx1"/>
                </a:solidFill>
                <a:latin typeface="Times New Roman" panose="02020603050405020304" pitchFamily="18" charset="0"/>
              </a:defRPr>
            </a:lvl6pPr>
            <a:lvl7pPr marL="3202875" indent="-246376" eaLnBrk="0" fontAlgn="base" hangingPunct="0">
              <a:spcBef>
                <a:spcPct val="30000"/>
              </a:spcBef>
              <a:spcAft>
                <a:spcPct val="0"/>
              </a:spcAft>
              <a:defRPr sz="1300">
                <a:solidFill>
                  <a:schemeClr val="tx1"/>
                </a:solidFill>
                <a:latin typeface="Times New Roman" panose="02020603050405020304" pitchFamily="18" charset="0"/>
              </a:defRPr>
            </a:lvl7pPr>
            <a:lvl8pPr marL="3695625" indent="-246376" eaLnBrk="0" fontAlgn="base" hangingPunct="0">
              <a:spcBef>
                <a:spcPct val="30000"/>
              </a:spcBef>
              <a:spcAft>
                <a:spcPct val="0"/>
              </a:spcAft>
              <a:defRPr sz="1300">
                <a:solidFill>
                  <a:schemeClr val="tx1"/>
                </a:solidFill>
                <a:latin typeface="Times New Roman" panose="02020603050405020304" pitchFamily="18" charset="0"/>
              </a:defRPr>
            </a:lvl8pPr>
            <a:lvl9pPr marL="4188374" indent="-246376"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DFA6806C-8988-43D7-A737-447B9A717890}" type="slidenum">
              <a:rPr lang="en-US" altLang="zh-CN" smtClean="0">
                <a:latin typeface="Arial" panose="020B0604020202020204" pitchFamily="34" charset="0"/>
              </a:rPr>
              <a:pPr>
                <a:spcBef>
                  <a:spcPct val="0"/>
                </a:spcBef>
              </a:pPr>
              <a:t>25</a:t>
            </a:fld>
            <a:endParaRPr lang="en-US" altLang="zh-CN">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179927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422A9E2-93C5-47F1-BF8D-EB98369E3583}" type="slidenum">
              <a:rPr lang="zh-CN" altLang="en-US" smtClean="0"/>
              <a:pPr>
                <a:defRPr/>
              </a:pPr>
              <a:t>28</a:t>
            </a:fld>
            <a:endParaRPr lang="en-US" altLang="zh-CN" dirty="0"/>
          </a:p>
        </p:txBody>
      </p:sp>
    </p:spTree>
    <p:extLst>
      <p:ext uri="{BB962C8B-B14F-4D97-AF65-F5344CB8AC3E}">
        <p14:creationId xmlns:p14="http://schemas.microsoft.com/office/powerpoint/2010/main" val="13175313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422A9E2-93C5-47F1-BF8D-EB98369E3583}" type="slidenum">
              <a:rPr lang="zh-CN" altLang="en-US" smtClean="0"/>
              <a:pPr>
                <a:defRPr/>
              </a:pPr>
              <a:t>29</a:t>
            </a:fld>
            <a:endParaRPr lang="en-US" altLang="zh-CN" dirty="0"/>
          </a:p>
        </p:txBody>
      </p:sp>
    </p:spTree>
    <p:extLst>
      <p:ext uri="{BB962C8B-B14F-4D97-AF65-F5344CB8AC3E}">
        <p14:creationId xmlns:p14="http://schemas.microsoft.com/office/powerpoint/2010/main" val="9077368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422A9E2-93C5-47F1-BF8D-EB98369E3583}" type="slidenum">
              <a:rPr lang="zh-CN" altLang="en-US" smtClean="0"/>
              <a:pPr>
                <a:defRPr/>
              </a:pPr>
              <a:t>30</a:t>
            </a:fld>
            <a:endParaRPr lang="en-US" altLang="zh-CN"/>
          </a:p>
        </p:txBody>
      </p:sp>
    </p:spTree>
    <p:extLst>
      <p:ext uri="{BB962C8B-B14F-4D97-AF65-F5344CB8AC3E}">
        <p14:creationId xmlns:p14="http://schemas.microsoft.com/office/powerpoint/2010/main" val="31334728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422A9E2-93C5-47F1-BF8D-EB98369E3583}" type="slidenum">
              <a:rPr lang="zh-CN" altLang="en-US" smtClean="0"/>
              <a:pPr>
                <a:defRPr/>
              </a:pPr>
              <a:t>31</a:t>
            </a:fld>
            <a:endParaRPr lang="en-US" altLang="zh-CN"/>
          </a:p>
        </p:txBody>
      </p:sp>
    </p:spTree>
    <p:extLst>
      <p:ext uri="{BB962C8B-B14F-4D97-AF65-F5344CB8AC3E}">
        <p14:creationId xmlns:p14="http://schemas.microsoft.com/office/powerpoint/2010/main" val="2820381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422A9E2-93C5-47F1-BF8D-EB98369E3583}" type="slidenum">
              <a:rPr lang="zh-CN" altLang="en-US" smtClean="0"/>
              <a:pPr>
                <a:defRPr/>
              </a:pPr>
              <a:t>32</a:t>
            </a:fld>
            <a:endParaRPr lang="en-US" altLang="zh-CN"/>
          </a:p>
        </p:txBody>
      </p:sp>
    </p:spTree>
    <p:extLst>
      <p:ext uri="{BB962C8B-B14F-4D97-AF65-F5344CB8AC3E}">
        <p14:creationId xmlns:p14="http://schemas.microsoft.com/office/powerpoint/2010/main" val="3829476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hlinkClick r:id="rId3"/>
              </a:rPr>
              <a:t>算法课堂笔记</a:t>
            </a:r>
            <a:r>
              <a:rPr lang="en-US" altLang="zh-CN" dirty="0">
                <a:hlinkClick r:id="rId3"/>
              </a:rPr>
              <a:t>6—</a:t>
            </a:r>
            <a:r>
              <a:rPr lang="zh-CN" altLang="en-US" dirty="0">
                <a:hlinkClick r:id="rId3"/>
              </a:rPr>
              <a:t>近似算法</a:t>
            </a:r>
            <a:r>
              <a:rPr lang="en-US" altLang="zh-CN" dirty="0">
                <a:hlinkClick r:id="rId3"/>
              </a:rPr>
              <a:t>-CSDN</a:t>
            </a:r>
            <a:r>
              <a:rPr lang="zh-CN" altLang="en-US" dirty="0">
                <a:hlinkClick r:id="rId3"/>
              </a:rPr>
              <a:t>博客</a:t>
            </a:r>
            <a:endParaRPr lang="en-US" altLang="zh-CN" dirty="0"/>
          </a:p>
          <a:p>
            <a:endParaRPr lang="en-US" altLang="zh-CN" dirty="0"/>
          </a:p>
          <a:p>
            <a:endParaRPr lang="en-US" altLang="zh-CN" dirty="0"/>
          </a:p>
          <a:p>
            <a:r>
              <a:rPr lang="en-US" altLang="zh-CN" dirty="0"/>
              <a:t>https://www.cnblogs.com/f91og/p/6257739.html</a:t>
            </a:r>
            <a:endParaRPr lang="zh-CN" altLang="en-US" dirty="0"/>
          </a:p>
        </p:txBody>
      </p:sp>
      <p:sp>
        <p:nvSpPr>
          <p:cNvPr id="4" name="灯片编号占位符 3"/>
          <p:cNvSpPr>
            <a:spLocks noGrp="1"/>
          </p:cNvSpPr>
          <p:nvPr>
            <p:ph type="sldNum" sz="quarter" idx="5"/>
          </p:nvPr>
        </p:nvSpPr>
        <p:spPr/>
        <p:txBody>
          <a:bodyPr/>
          <a:lstStyle/>
          <a:p>
            <a:pPr>
              <a:defRPr/>
            </a:pPr>
            <a:fld id="{9422A9E2-93C5-47F1-BF8D-EB98369E3583}" type="slidenum">
              <a:rPr lang="zh-CN" altLang="en-US" smtClean="0"/>
              <a:pPr>
                <a:defRPr/>
              </a:pPr>
              <a:t>37</a:t>
            </a:fld>
            <a:endParaRPr lang="en-US" altLang="zh-CN" dirty="0"/>
          </a:p>
        </p:txBody>
      </p:sp>
    </p:spTree>
    <p:extLst>
      <p:ext uri="{BB962C8B-B14F-4D97-AF65-F5344CB8AC3E}">
        <p14:creationId xmlns:p14="http://schemas.microsoft.com/office/powerpoint/2010/main" val="23696437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vmlDrawing" Target="../drawings/vmlDrawing1.vml"/><Relationship Id="rId6" Type="http://schemas.openxmlformats.org/officeDocument/2006/relationships/image" Target="../media/image3.gif"/><Relationship Id="rId5" Type="http://schemas.openxmlformats.org/officeDocument/2006/relationships/image" Target="../media/image1.png"/><Relationship Id="rId4" Type="http://schemas.openxmlformats.org/officeDocument/2006/relationships/oleObject" Target="../embeddings/oleObject1.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8" descr="bottom b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313488"/>
            <a:ext cx="91440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10"/>
          <p:cNvGraphicFramePr>
            <a:graphicFrameLocks noChangeAspect="1"/>
          </p:cNvGraphicFramePr>
          <p:nvPr userDrawn="1"/>
        </p:nvGraphicFramePr>
        <p:xfrm>
          <a:off x="0" y="0"/>
          <a:ext cx="9144000" cy="703263"/>
        </p:xfrm>
        <a:graphic>
          <a:graphicData uri="http://schemas.openxmlformats.org/presentationml/2006/ole">
            <mc:AlternateContent xmlns:mc="http://schemas.openxmlformats.org/markup-compatibility/2006">
              <mc:Choice xmlns:v="urn:schemas-microsoft-com:vml" Requires="v">
                <p:oleObj spid="_x0000_s171638" name="位图图像" r:id="rId4" imgW="9161905" imgH="704948" progId="Paint.Picture">
                  <p:embed/>
                </p:oleObj>
              </mc:Choice>
              <mc:Fallback>
                <p:oleObj name="位图图像" r:id="rId4" imgW="9161905" imgH="704948"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0"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13"/>
          <p:cNvSpPr>
            <a:spLocks noChangeShapeType="1"/>
          </p:cNvSpPr>
          <p:nvPr userDrawn="1"/>
        </p:nvSpPr>
        <p:spPr bwMode="auto">
          <a:xfrm>
            <a:off x="0" y="723900"/>
            <a:ext cx="9144000"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黑体" panose="02010609060101010101" pitchFamily="49" charset="-122"/>
            </a:endParaRPr>
          </a:p>
        </p:txBody>
      </p:sp>
      <p:pic>
        <p:nvPicPr>
          <p:cNvPr id="7" name="Picture 11" descr="earth3_112k"/>
          <p:cNvPicPr>
            <a:picLocks noChangeAspect="1" noChangeArrowheads="1" noCrop="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370888" y="0"/>
            <a:ext cx="65722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14"/>
          <p:cNvSpPr>
            <a:spLocks noChangeShapeType="1"/>
          </p:cNvSpPr>
          <p:nvPr userDrawn="1"/>
        </p:nvSpPr>
        <p:spPr bwMode="auto">
          <a:xfrm>
            <a:off x="376238" y="1296988"/>
            <a:ext cx="8767762" cy="14287"/>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黑体" panose="02010609060101010101" pitchFamily="49" charset="-122"/>
            </a:endParaRPr>
          </a:p>
        </p:txBody>
      </p:sp>
      <p:pic>
        <p:nvPicPr>
          <p:cNvPr id="9" name="Picture 8" descr="新主楼－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0" y="-26988"/>
            <a:ext cx="9144000"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2" name="Rectangle 2"/>
          <p:cNvSpPr>
            <a:spLocks noGrp="1" noChangeArrowheads="1"/>
          </p:cNvSpPr>
          <p:nvPr>
            <p:ph type="ctrTitle"/>
          </p:nvPr>
        </p:nvSpPr>
        <p:spPr>
          <a:xfrm>
            <a:off x="685800" y="2130425"/>
            <a:ext cx="7772400" cy="1470025"/>
          </a:xfrm>
        </p:spPr>
        <p:txBody>
          <a:bodyPr/>
          <a:lstStyle>
            <a:lvl1pPr algn="ctr">
              <a:defRPr>
                <a:latin typeface="华文行楷" pitchFamily="2" charset="-122"/>
                <a:ea typeface="华文行楷" pitchFamily="2" charset="-122"/>
              </a:defRPr>
            </a:lvl1pPr>
          </a:lstStyle>
          <a:p>
            <a:r>
              <a:rPr lang="en-US" altLang="zh-CN"/>
              <a:t>Click to edit Master title style</a:t>
            </a:r>
          </a:p>
        </p:txBody>
      </p:sp>
      <p:sp>
        <p:nvSpPr>
          <p:cNvPr id="128003" name="Rectangle 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ltLang="zh-CN"/>
              <a:t>Click to edit Master subtitle style</a:t>
            </a:r>
          </a:p>
        </p:txBody>
      </p:sp>
      <p:sp>
        <p:nvSpPr>
          <p:cNvPr id="10" name="Rectangle 4"/>
          <p:cNvSpPr>
            <a:spLocks noGrp="1" noChangeArrowheads="1"/>
          </p:cNvSpPr>
          <p:nvPr>
            <p:ph type="dt" sz="half" idx="10"/>
          </p:nvPr>
        </p:nvSpPr>
        <p:spPr bwMode="auto">
          <a:xfrm>
            <a:off x="457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eaLnBrk="1" hangingPunct="1">
              <a:defRPr sz="1400">
                <a:latin typeface="Times New Roman" pitchFamily="18" charset="0"/>
                <a:ea typeface="黑体" panose="02010609060101010101" pitchFamily="49" charset="-122"/>
              </a:defRPr>
            </a:lvl1pPr>
          </a:lstStyle>
          <a:p>
            <a:pPr>
              <a:defRPr/>
            </a:pPr>
            <a:endParaRPr lang="en-US" altLang="zh-CN" dirty="0"/>
          </a:p>
        </p:txBody>
      </p:sp>
      <p:sp>
        <p:nvSpPr>
          <p:cNvPr id="11" name="Rectangle 5"/>
          <p:cNvSpPr>
            <a:spLocks noGrp="1" noChangeArrowheads="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12" name="Rectangle 6"/>
          <p:cNvSpPr>
            <a:spLocks noGrp="1" noChangeArrowheads="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16BED798-C44A-4581-B2CD-3FD2BACA84C2}" type="slidenum">
              <a:rPr lang="zh-CN" altLang="en-US" smtClean="0"/>
              <a:pPr>
                <a:defRPr/>
              </a:pPr>
              <a:t>‹#›</a:t>
            </a:fld>
            <a:endParaRPr lang="en-US" altLang="zh-CN" dirty="0"/>
          </a:p>
        </p:txBody>
      </p:sp>
    </p:spTree>
    <p:extLst>
      <p:ext uri="{BB962C8B-B14F-4D97-AF65-F5344CB8AC3E}">
        <p14:creationId xmlns:p14="http://schemas.microsoft.com/office/powerpoint/2010/main" val="4142162070"/>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xfrm>
            <a:off x="7010400" y="6265863"/>
            <a:ext cx="205105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b="1">
                <a:ea typeface="黑体" panose="02010609060101010101" pitchFamily="49" charset="-122"/>
              </a:defRPr>
            </a:lvl1pPr>
          </a:lstStyle>
          <a:p>
            <a:pPr>
              <a:defRPr/>
            </a:pPr>
            <a:fld id="{96C8578B-CD89-477C-BC65-8B1A00CEAC8B}" type="slidenum">
              <a:rPr lang="zh-CN" altLang="en-US" smtClean="0"/>
              <a:pPr>
                <a:defRPr/>
              </a:pPr>
              <a:t>‹#›</a:t>
            </a:fld>
            <a:endParaRPr lang="en-US" altLang="zh-CN" dirty="0"/>
          </a:p>
        </p:txBody>
      </p:sp>
    </p:spTree>
    <p:extLst>
      <p:ext uri="{BB962C8B-B14F-4D97-AF65-F5344CB8AC3E}">
        <p14:creationId xmlns:p14="http://schemas.microsoft.com/office/powerpoint/2010/main" val="116634874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xfrm>
            <a:off x="7156450" y="5783263"/>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4DAF9153-8D27-4CA5-A342-FA1A3FCD4863}" type="slidenum">
              <a:rPr lang="zh-CN" altLang="en-US" smtClean="0"/>
              <a:pPr>
                <a:defRPr/>
              </a:pPr>
              <a:t>‹#›</a:t>
            </a:fld>
            <a:endParaRPr lang="en-US" altLang="zh-CN" dirty="0"/>
          </a:p>
        </p:txBody>
      </p:sp>
    </p:spTree>
    <p:extLst>
      <p:ext uri="{BB962C8B-B14F-4D97-AF65-F5344CB8AC3E}">
        <p14:creationId xmlns:p14="http://schemas.microsoft.com/office/powerpoint/2010/main" val="3256558935"/>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76225" y="946150"/>
            <a:ext cx="4217988" cy="5245100"/>
          </a:xfrm>
        </p:spPr>
        <p:txBody>
          <a:bodyPr/>
          <a:lstStyle>
            <a:lvl1pPr>
              <a:defRPr sz="2800"/>
            </a:lvl1pPr>
            <a:lvl2pPr>
              <a:defRPr sz="2400"/>
            </a:lvl2pPr>
            <a:lvl3pPr>
              <a:defRPr sz="2000"/>
            </a:lvl3pPr>
            <a:lvl4pPr>
              <a:defRPr sz="1800">
                <a:latin typeface="黑体" panose="02010609060101010101" pitchFamily="49" charset="-122"/>
                <a:ea typeface="黑体" panose="02010609060101010101" pitchFamily="49" charset="-122"/>
              </a:defRPr>
            </a:lvl4pPr>
            <a:lvl5pPr>
              <a:defRPr sz="1800">
                <a:latin typeface="黑体" panose="02010609060101010101" pitchFamily="49" charset="-122"/>
                <a:ea typeface="黑体" panose="02010609060101010101" pitchFamily="49"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6613" y="946150"/>
            <a:ext cx="4219575" cy="5245100"/>
          </a:xfrm>
        </p:spPr>
        <p:txBody>
          <a:bodyPr/>
          <a:lstStyle>
            <a:lvl1pPr>
              <a:defRPr sz="2800"/>
            </a:lvl1pPr>
            <a:lvl2pPr>
              <a:defRPr sz="2400"/>
            </a:lvl2pPr>
            <a:lvl3pPr>
              <a:defRPr sz="2000"/>
            </a:lvl3pPr>
            <a:lvl4pPr>
              <a:defRPr sz="1800">
                <a:latin typeface="黑体" panose="02010609060101010101" pitchFamily="49" charset="-122"/>
                <a:ea typeface="黑体" panose="02010609060101010101" pitchFamily="49" charset="-122"/>
              </a:defRPr>
            </a:lvl4pPr>
            <a:lvl5pPr>
              <a:defRPr sz="1800">
                <a:latin typeface="黑体" panose="02010609060101010101" pitchFamily="49" charset="-122"/>
                <a:ea typeface="黑体" panose="02010609060101010101" pitchFamily="49"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Rectangle 5"/>
          <p:cNvSpPr>
            <a:spLocks noGrp="1" noChangeArrowheads="1"/>
          </p:cNvSpPr>
          <p:nvPr>
            <p:ph type="ftr" sz="quarter" idx="10"/>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1"/>
          </p:nvPr>
        </p:nvSpPr>
        <p:spPr>
          <a:xfrm>
            <a:off x="7156450" y="5783263"/>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508484FE-8A86-408E-94DA-0EEC4DDD0987}" type="slidenum">
              <a:rPr lang="zh-CN" altLang="en-US" smtClean="0"/>
              <a:pPr>
                <a:defRPr/>
              </a:pPr>
              <a:t>‹#›</a:t>
            </a:fld>
            <a:endParaRPr lang="en-US" altLang="zh-CN" dirty="0"/>
          </a:p>
        </p:txBody>
      </p:sp>
    </p:spTree>
    <p:extLst>
      <p:ext uri="{BB962C8B-B14F-4D97-AF65-F5344CB8AC3E}">
        <p14:creationId xmlns:p14="http://schemas.microsoft.com/office/powerpoint/2010/main" val="3200272421"/>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atin typeface="黑体" panose="02010609060101010101" pitchFamily="49" charset="-122"/>
                <a:ea typeface="黑体" panose="02010609060101010101" pitchFamily="49" charset="-122"/>
              </a:defRPr>
            </a:lvl4pPr>
            <a:lvl5pPr>
              <a:defRPr sz="1600">
                <a:latin typeface="黑体" panose="02010609060101010101" pitchFamily="49" charset="-122"/>
                <a:ea typeface="黑体" panose="02010609060101010101" pitchFamily="49"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atin typeface="黑体" panose="02010609060101010101" pitchFamily="49" charset="-122"/>
                <a:ea typeface="黑体" panose="02010609060101010101" pitchFamily="49" charset="-122"/>
              </a:defRPr>
            </a:lvl4pPr>
            <a:lvl5pPr>
              <a:defRPr sz="1600">
                <a:latin typeface="黑体" panose="02010609060101010101" pitchFamily="49" charset="-122"/>
                <a:ea typeface="黑体" panose="02010609060101010101" pitchFamily="49"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Rectangle 5"/>
          <p:cNvSpPr>
            <a:spLocks noGrp="1" noChangeArrowheads="1"/>
          </p:cNvSpPr>
          <p:nvPr>
            <p:ph type="ftr" sz="quarter" idx="10"/>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1"/>
          </p:nvPr>
        </p:nvSpPr>
        <p:spPr>
          <a:xfrm>
            <a:off x="7156450" y="5783263"/>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5F17D22A-0737-4E45-A3B9-A5C3EF7529CA}" type="slidenum">
              <a:rPr lang="zh-CN" altLang="en-US" smtClean="0"/>
              <a:pPr>
                <a:defRPr/>
              </a:pPr>
              <a:t>‹#›</a:t>
            </a:fld>
            <a:endParaRPr lang="en-US" altLang="zh-CN" dirty="0"/>
          </a:p>
        </p:txBody>
      </p:sp>
    </p:spTree>
    <p:extLst>
      <p:ext uri="{BB962C8B-B14F-4D97-AF65-F5344CB8AC3E}">
        <p14:creationId xmlns:p14="http://schemas.microsoft.com/office/powerpoint/2010/main" val="181013993"/>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xfrm>
            <a:off x="7156450" y="5783263"/>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E7046267-D029-40ED-A6C4-A546771A76C4}" type="slidenum">
              <a:rPr lang="zh-CN" altLang="en-US" smtClean="0"/>
              <a:pPr>
                <a:defRPr/>
              </a:pPr>
              <a:t>‹#›</a:t>
            </a:fld>
            <a:endParaRPr lang="en-US" altLang="zh-CN" dirty="0"/>
          </a:p>
        </p:txBody>
      </p:sp>
    </p:spTree>
    <p:extLst>
      <p:ext uri="{BB962C8B-B14F-4D97-AF65-F5344CB8AC3E}">
        <p14:creationId xmlns:p14="http://schemas.microsoft.com/office/powerpoint/2010/main" val="1115653140"/>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5"/>
          <p:cNvSpPr>
            <a:spLocks noGrp="1" noChangeArrowheads="1"/>
          </p:cNvSpPr>
          <p:nvPr>
            <p:ph type="ftr" sz="quarter" idx="10"/>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a:xfrm>
            <a:off x="7156450" y="5783263"/>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685B2849-6CA2-413B-8A8A-82A1A79363F9}" type="slidenum">
              <a:rPr lang="zh-CN" altLang="en-US" smtClean="0"/>
              <a:pPr>
                <a:defRPr/>
              </a:pPr>
              <a:t>‹#›</a:t>
            </a:fld>
            <a:endParaRPr lang="en-US" altLang="zh-CN" dirty="0"/>
          </a:p>
        </p:txBody>
      </p:sp>
    </p:spTree>
    <p:extLst>
      <p:ext uri="{BB962C8B-B14F-4D97-AF65-F5344CB8AC3E}">
        <p14:creationId xmlns:p14="http://schemas.microsoft.com/office/powerpoint/2010/main" val="2674434886"/>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atin typeface="黑体" panose="02010609060101010101" pitchFamily="49" charset="-122"/>
                <a:ea typeface="黑体" panose="02010609060101010101" pitchFamily="49" charset="-122"/>
              </a:defRPr>
            </a:lvl4pPr>
            <a:lvl5pPr>
              <a:defRPr sz="2000">
                <a:latin typeface="黑体" panose="02010609060101010101" pitchFamily="49" charset="-122"/>
                <a:ea typeface="黑体" panose="02010609060101010101" pitchFamily="49"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Rectangle 5"/>
          <p:cNvSpPr>
            <a:spLocks noGrp="1" noChangeArrowheads="1"/>
          </p:cNvSpPr>
          <p:nvPr>
            <p:ph type="ftr" sz="quarter" idx="10"/>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1"/>
          </p:nvPr>
        </p:nvSpPr>
        <p:spPr>
          <a:xfrm>
            <a:off x="7156450" y="5783263"/>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B06E58C9-8FB9-44FD-BDC7-ED3A72F2DD68}" type="slidenum">
              <a:rPr lang="zh-CN" altLang="en-US" smtClean="0"/>
              <a:pPr>
                <a:defRPr/>
              </a:pPr>
              <a:t>‹#›</a:t>
            </a:fld>
            <a:endParaRPr lang="en-US" altLang="zh-CN" dirty="0"/>
          </a:p>
        </p:txBody>
      </p:sp>
    </p:spTree>
    <p:extLst>
      <p:ext uri="{BB962C8B-B14F-4D97-AF65-F5344CB8AC3E}">
        <p14:creationId xmlns:p14="http://schemas.microsoft.com/office/powerpoint/2010/main" val="1794624429"/>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Rectangle 5"/>
          <p:cNvSpPr>
            <a:spLocks noGrp="1" noChangeArrowheads="1"/>
          </p:cNvSpPr>
          <p:nvPr>
            <p:ph type="ftr" sz="quarter" idx="10"/>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1"/>
          </p:nvPr>
        </p:nvSpPr>
        <p:spPr>
          <a:xfrm>
            <a:off x="7156450" y="5783263"/>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58FFE957-F8F7-4793-BE83-5F9076B46A75}" type="slidenum">
              <a:rPr lang="zh-CN" altLang="en-US" smtClean="0"/>
              <a:pPr>
                <a:defRPr/>
              </a:pPr>
              <a:t>‹#›</a:t>
            </a:fld>
            <a:endParaRPr lang="en-US" altLang="zh-CN" dirty="0"/>
          </a:p>
        </p:txBody>
      </p:sp>
    </p:spTree>
    <p:extLst>
      <p:ext uri="{BB962C8B-B14F-4D97-AF65-F5344CB8AC3E}">
        <p14:creationId xmlns:p14="http://schemas.microsoft.com/office/powerpoint/2010/main" val="2767642532"/>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xfrm>
            <a:off x="7156450" y="5783263"/>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6F8C9D52-9C88-4FFA-AD4D-28033CCAF86B}" type="slidenum">
              <a:rPr lang="zh-CN" altLang="en-US" smtClean="0"/>
              <a:pPr>
                <a:defRPr/>
              </a:pPr>
              <a:t>‹#›</a:t>
            </a:fld>
            <a:endParaRPr lang="en-US" altLang="zh-CN" dirty="0"/>
          </a:p>
        </p:txBody>
      </p:sp>
    </p:spTree>
    <p:extLst>
      <p:ext uri="{BB962C8B-B14F-4D97-AF65-F5344CB8AC3E}">
        <p14:creationId xmlns:p14="http://schemas.microsoft.com/office/powerpoint/2010/main" val="1993992832"/>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707188" y="195263"/>
            <a:ext cx="2159000" cy="59959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28600" y="195263"/>
            <a:ext cx="6326188" cy="5995987"/>
          </a:xfrm>
        </p:spPr>
        <p:txBody>
          <a:bodyPr vert="eaVert"/>
          <a:lstStyle>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xfrm>
            <a:off x="7156450" y="5783263"/>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8CB5DD0E-22EA-450C-A7A9-B722A379A352}" type="slidenum">
              <a:rPr lang="zh-CN" altLang="en-US" smtClean="0"/>
              <a:pPr>
                <a:defRPr/>
              </a:pPr>
              <a:t>‹#›</a:t>
            </a:fld>
            <a:endParaRPr lang="en-US" altLang="zh-CN" dirty="0"/>
          </a:p>
        </p:txBody>
      </p:sp>
    </p:spTree>
    <p:extLst>
      <p:ext uri="{BB962C8B-B14F-4D97-AF65-F5344CB8AC3E}">
        <p14:creationId xmlns:p14="http://schemas.microsoft.com/office/powerpoint/2010/main" val="3937625090"/>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013" y="104775"/>
            <a:ext cx="8175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228600" y="195263"/>
            <a:ext cx="83947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276225" y="946150"/>
            <a:ext cx="4217988" cy="5245100"/>
          </a:xfrm>
        </p:spPr>
        <p:txBody>
          <a:bodyPr/>
          <a:lstStyle>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剪贴画占位符 3"/>
          <p:cNvSpPr>
            <a:spLocks noGrp="1"/>
          </p:cNvSpPr>
          <p:nvPr>
            <p:ph type="clipArt" sz="half" idx="2"/>
          </p:nvPr>
        </p:nvSpPr>
        <p:spPr>
          <a:xfrm>
            <a:off x="4646613" y="946150"/>
            <a:ext cx="4219575" cy="5245100"/>
          </a:xfrm>
        </p:spPr>
        <p:txBody>
          <a:bodyPr/>
          <a:lstStyle/>
          <a:p>
            <a:pPr lvl="0"/>
            <a:endParaRPr lang="zh-CN" altLang="en-US" noProof="0"/>
          </a:p>
        </p:txBody>
      </p:sp>
      <p:sp>
        <p:nvSpPr>
          <p:cNvPr id="6" name="页脚占位符 4"/>
          <p:cNvSpPr>
            <a:spLocks noGrp="1"/>
          </p:cNvSpPr>
          <p:nvPr>
            <p:ph type="ftr" sz="quarter" idx="10"/>
          </p:nvPr>
        </p:nvSpPr>
        <p:spPr/>
        <p:txBody>
          <a:bodyPr/>
          <a:lstStyle>
            <a:lvl1pPr>
              <a:defRPr/>
            </a:lvl1pPr>
          </a:lstStyle>
          <a:p>
            <a:pPr>
              <a:defRPr/>
            </a:pPr>
            <a:endParaRPr lang="en-US" altLang="zh-CN"/>
          </a:p>
        </p:txBody>
      </p:sp>
      <p:sp>
        <p:nvSpPr>
          <p:cNvPr id="7" name="灯片编号占位符 5"/>
          <p:cNvSpPr>
            <a:spLocks noGrp="1"/>
          </p:cNvSpPr>
          <p:nvPr>
            <p:ph type="sldNum" sz="quarter" idx="11"/>
          </p:nvPr>
        </p:nvSpPr>
        <p:spPr>
          <a:xfrm>
            <a:off x="6553200" y="6248400"/>
            <a:ext cx="19050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ea typeface="黑体" panose="02010609060101010101" pitchFamily="49" charset="-122"/>
              </a:defRPr>
            </a:lvl1pPr>
          </a:lstStyle>
          <a:p>
            <a:pPr>
              <a:defRPr/>
            </a:pPr>
            <a:fld id="{DD6791AA-3274-4DFF-9AA9-645B7AC7A2AD}" type="slidenum">
              <a:rPr lang="zh-CN" altLang="en-US" smtClean="0"/>
              <a:pPr>
                <a:defRPr/>
              </a:pPr>
              <a:t>‹#›</a:t>
            </a:fld>
            <a:endParaRPr lang="en-US" altLang="zh-CN" dirty="0"/>
          </a:p>
        </p:txBody>
      </p:sp>
    </p:spTree>
    <p:extLst>
      <p:ext uri="{BB962C8B-B14F-4D97-AF65-F5344CB8AC3E}">
        <p14:creationId xmlns:p14="http://schemas.microsoft.com/office/powerpoint/2010/main" val="1443102704"/>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5"/>
          <p:cNvSpPr>
            <a:spLocks noGrp="1" noChangeArrowheads="1"/>
          </p:cNvSpPr>
          <p:nvPr>
            <p:ph type="ftr" sz="quarter" idx="10"/>
          </p:nvPr>
        </p:nvSpPr>
        <p:spPr/>
        <p:txBody>
          <a:bodyPr/>
          <a:lstStyle>
            <a:lvl1pPr>
              <a:defRPr/>
            </a:lvl1pPr>
          </a:lstStyle>
          <a:p>
            <a:pPr>
              <a:defRPr/>
            </a:pPr>
            <a:endParaRPr lang="en-US" altLang="zh-CN" dirty="0"/>
          </a:p>
        </p:txBody>
      </p:sp>
      <p:sp>
        <p:nvSpPr>
          <p:cNvPr id="5" name="Rectangle 6"/>
          <p:cNvSpPr>
            <a:spLocks noGrp="1" noChangeArrowheads="1"/>
          </p:cNvSpPr>
          <p:nvPr>
            <p:ph type="sldNum" sz="quarter" idx="11"/>
          </p:nvPr>
        </p:nvSpPr>
        <p:spPr>
          <a:xfrm>
            <a:off x="7010400" y="6265863"/>
            <a:ext cx="2051050" cy="457200"/>
          </a:xfrm>
          <a:prstGeom prst="rect">
            <a:avLst/>
          </a:prstGeom>
        </p:spPr>
        <p:txBody>
          <a:bodyPr/>
          <a:lstStyle>
            <a:lvl1pPr>
              <a:defRPr b="1">
                <a:ea typeface="黑体" panose="02010609060101010101" pitchFamily="49" charset="-122"/>
              </a:defRPr>
            </a:lvl1pPr>
          </a:lstStyle>
          <a:p>
            <a:pPr>
              <a:defRPr/>
            </a:pPr>
            <a:fld id="{D305A89C-C919-496E-B88A-969A0B8A52F9}" type="slidenum">
              <a:rPr lang="zh-CN" altLang="en-US" smtClean="0"/>
              <a:pPr>
                <a:defRPr/>
              </a:pPr>
              <a:t>‹#›</a:t>
            </a:fld>
            <a:endParaRPr lang="en-US" altLang="zh-CN" dirty="0"/>
          </a:p>
        </p:txBody>
      </p:sp>
    </p:spTree>
    <p:extLst>
      <p:ext uri="{BB962C8B-B14F-4D97-AF65-F5344CB8AC3E}">
        <p14:creationId xmlns:p14="http://schemas.microsoft.com/office/powerpoint/2010/main" val="3549597760"/>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76338" y="195263"/>
            <a:ext cx="74469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dirty="0"/>
              <a:t>Click to edit Master title style</a:t>
            </a:r>
          </a:p>
        </p:txBody>
      </p:sp>
      <p:sp>
        <p:nvSpPr>
          <p:cNvPr id="1027" name="Rectangle 3"/>
          <p:cNvSpPr>
            <a:spLocks noGrp="1" noChangeArrowheads="1"/>
          </p:cNvSpPr>
          <p:nvPr>
            <p:ph type="body" idx="1"/>
          </p:nvPr>
        </p:nvSpPr>
        <p:spPr bwMode="auto">
          <a:xfrm>
            <a:off x="276225" y="946150"/>
            <a:ext cx="8589963" cy="571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p:txBody>
      </p:sp>
      <p:sp>
        <p:nvSpPr>
          <p:cNvPr id="1029" name="Rectangle 5"/>
          <p:cNvSpPr>
            <a:spLocks noGrp="1" noChangeArrowheads="1"/>
          </p:cNvSpPr>
          <p:nvPr>
            <p:ph type="ftr" sz="quarter" idx="3"/>
          </p:nvPr>
        </p:nvSpPr>
        <p:spPr bwMode="auto">
          <a:xfrm>
            <a:off x="3124200" y="64008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Times New Roman" pitchFamily="18" charset="0"/>
                <a:ea typeface="黑体" panose="02010609060101010101" pitchFamily="49" charset="-122"/>
              </a:defRPr>
            </a:lvl1pPr>
          </a:lstStyle>
          <a:p>
            <a:pPr>
              <a:defRPr/>
            </a:pPr>
            <a:endParaRPr lang="en-US" altLang="zh-CN" dirty="0"/>
          </a:p>
        </p:txBody>
      </p:sp>
      <p:sp>
        <p:nvSpPr>
          <p:cNvPr id="2" name="Text Box 19"/>
          <p:cNvSpPr txBox="1">
            <a:spLocks noChangeArrowheads="1"/>
          </p:cNvSpPr>
          <p:nvPr userDrawn="1"/>
        </p:nvSpPr>
        <p:spPr bwMode="auto">
          <a:xfrm>
            <a:off x="4903788" y="4256088"/>
            <a:ext cx="2409825" cy="457200"/>
          </a:xfrm>
          <a:prstGeom prst="rect">
            <a:avLst/>
          </a:prstGeom>
          <a:noFill/>
          <a:ln>
            <a:noFill/>
          </a:ln>
        </p:spPr>
        <p:txBody>
          <a:bodyPr>
            <a:spAutoFit/>
          </a:bodyPr>
          <a:lstStyle>
            <a:lvl1pPr algn="ctr">
              <a:defRPr sz="3600">
                <a:solidFill>
                  <a:schemeClr val="tx1"/>
                </a:solidFill>
                <a:latin typeface="Times New Roman" panose="02020603050405020304" pitchFamily="18" charset="0"/>
                <a:ea typeface="华文仿宋" panose="02010600040101010101" pitchFamily="2" charset="-122"/>
              </a:defRPr>
            </a:lvl1pPr>
            <a:lvl2pPr marL="742950" indent="-285750" algn="ctr">
              <a:defRPr sz="3600">
                <a:solidFill>
                  <a:schemeClr val="tx1"/>
                </a:solidFill>
                <a:latin typeface="Times New Roman" panose="02020603050405020304" pitchFamily="18" charset="0"/>
                <a:ea typeface="华文仿宋" panose="02010600040101010101" pitchFamily="2" charset="-122"/>
              </a:defRPr>
            </a:lvl2pPr>
            <a:lvl3pPr marL="1143000" indent="-228600" algn="ctr">
              <a:defRPr sz="3600">
                <a:solidFill>
                  <a:schemeClr val="tx1"/>
                </a:solidFill>
                <a:latin typeface="Times New Roman" panose="02020603050405020304" pitchFamily="18" charset="0"/>
                <a:ea typeface="华文仿宋" panose="02010600040101010101" pitchFamily="2" charset="-122"/>
              </a:defRPr>
            </a:lvl3pPr>
            <a:lvl4pPr marL="1600200" indent="-228600" algn="ctr">
              <a:defRPr sz="3600">
                <a:solidFill>
                  <a:schemeClr val="tx1"/>
                </a:solidFill>
                <a:latin typeface="Times New Roman" panose="02020603050405020304" pitchFamily="18" charset="0"/>
                <a:ea typeface="华文仿宋" panose="02010600040101010101" pitchFamily="2" charset="-122"/>
              </a:defRPr>
            </a:lvl4pPr>
            <a:lvl5pPr marL="2057400" indent="-228600" algn="ctr">
              <a:defRPr sz="3600">
                <a:solidFill>
                  <a:schemeClr val="tx1"/>
                </a:solidFill>
                <a:latin typeface="Times New Roman" panose="02020603050405020304" pitchFamily="18" charset="0"/>
                <a:ea typeface="华文仿宋" panose="02010600040101010101" pitchFamily="2" charset="-122"/>
              </a:defRPr>
            </a:lvl5pPr>
            <a:lvl6pPr marL="25146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6pPr>
            <a:lvl7pPr marL="29718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7pPr>
            <a:lvl8pPr marL="34290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8pPr>
            <a:lvl9pPr marL="38862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9pPr>
          </a:lstStyle>
          <a:p>
            <a:pPr eaLnBrk="1" hangingPunct="1">
              <a:spcBef>
                <a:spcPct val="50000"/>
              </a:spcBef>
              <a:defRPr/>
            </a:pPr>
            <a:r>
              <a:rPr lang="zh-CN" altLang="en-US" sz="2400">
                <a:solidFill>
                  <a:schemeClr val="bg1"/>
                </a:solidFill>
                <a:ea typeface="华文行楷" panose="02010800040101010101" pitchFamily="2" charset="-122"/>
              </a:rPr>
              <a:t>计算机学院</a:t>
            </a:r>
          </a:p>
        </p:txBody>
      </p:sp>
      <p:sp>
        <p:nvSpPr>
          <p:cNvPr id="1044" name="Rectangle 20"/>
          <p:cNvSpPr>
            <a:spLocks noChangeArrowheads="1"/>
          </p:cNvSpPr>
          <p:nvPr userDrawn="1"/>
        </p:nvSpPr>
        <p:spPr bwMode="auto">
          <a:xfrm>
            <a:off x="8394700" y="6488113"/>
            <a:ext cx="539750" cy="336550"/>
          </a:xfrm>
          <a:prstGeom prst="rect">
            <a:avLst/>
          </a:prstGeom>
          <a:noFill/>
          <a:ln w="9525" algn="ctr">
            <a:noFill/>
            <a:miter lim="800000"/>
            <a:headEnd/>
            <a:tailEnd/>
          </a:ln>
          <a:effectLst/>
        </p:spPr>
        <p:txBody>
          <a:bodyPr>
            <a:spAutoFit/>
          </a:bodyPr>
          <a:lstStyle>
            <a:lvl1pPr eaLnBrk="0" hangingPunct="0">
              <a:defRPr sz="3600">
                <a:solidFill>
                  <a:schemeClr val="tx1"/>
                </a:solidFill>
                <a:latin typeface="Times New Roman" panose="02020603050405020304" pitchFamily="18" charset="0"/>
                <a:ea typeface="华文仿宋" panose="02010600040101010101" pitchFamily="2" charset="-122"/>
              </a:defRPr>
            </a:lvl1pPr>
            <a:lvl2pPr marL="742950" indent="-285750" eaLnBrk="0" hangingPunct="0">
              <a:defRPr sz="3600">
                <a:solidFill>
                  <a:schemeClr val="tx1"/>
                </a:solidFill>
                <a:latin typeface="Times New Roman" panose="02020603050405020304" pitchFamily="18" charset="0"/>
                <a:ea typeface="华文仿宋" panose="02010600040101010101" pitchFamily="2" charset="-122"/>
              </a:defRPr>
            </a:lvl2pPr>
            <a:lvl3pPr marL="1143000" indent="-228600" eaLnBrk="0" hangingPunct="0">
              <a:defRPr sz="3600">
                <a:solidFill>
                  <a:schemeClr val="tx1"/>
                </a:solidFill>
                <a:latin typeface="Times New Roman" panose="02020603050405020304" pitchFamily="18" charset="0"/>
                <a:ea typeface="华文仿宋" panose="02010600040101010101" pitchFamily="2" charset="-122"/>
              </a:defRPr>
            </a:lvl3pPr>
            <a:lvl4pPr marL="1600200" indent="-228600" eaLnBrk="0" hangingPunct="0">
              <a:defRPr sz="3600">
                <a:solidFill>
                  <a:schemeClr val="tx1"/>
                </a:solidFill>
                <a:latin typeface="Times New Roman" panose="02020603050405020304" pitchFamily="18" charset="0"/>
                <a:ea typeface="华文仿宋" panose="02010600040101010101" pitchFamily="2" charset="-122"/>
              </a:defRPr>
            </a:lvl4pPr>
            <a:lvl5pPr marL="2057400" indent="-228600" eaLnBrk="0" hangingPunct="0">
              <a:defRPr sz="3600">
                <a:solidFill>
                  <a:schemeClr val="tx1"/>
                </a:solidFill>
                <a:latin typeface="Times New Roman" panose="02020603050405020304" pitchFamily="18" charset="0"/>
                <a:ea typeface="华文仿宋" panose="02010600040101010101" pitchFamily="2" charset="-122"/>
              </a:defRPr>
            </a:lvl5pPr>
            <a:lvl6pPr marL="25146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6pPr>
            <a:lvl7pPr marL="29718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7pPr>
            <a:lvl8pPr marL="34290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8pPr>
            <a:lvl9pPr marL="38862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9pPr>
          </a:lstStyle>
          <a:p>
            <a:pPr algn="ctr" eaLnBrk="1" hangingPunct="1">
              <a:defRPr/>
            </a:pPr>
            <a:fld id="{E41B374C-6919-462C-B0BD-0C74AD194B64}" type="slidenum">
              <a:rPr lang="zh-CN" altLang="en-US" sz="1600" smtClean="0">
                <a:solidFill>
                  <a:schemeClr val="bg1"/>
                </a:solidFill>
                <a:ea typeface="黑体" panose="02010609060101010101" pitchFamily="49" charset="-122"/>
              </a:rPr>
              <a:pPr algn="ctr" eaLnBrk="1" hangingPunct="1">
                <a:defRPr/>
              </a:pPr>
              <a:t>‹#›</a:t>
            </a:fld>
            <a:endParaRPr lang="en-US" altLang="zh-CN" sz="1600" dirty="0">
              <a:solidFill>
                <a:schemeClr val="bg1"/>
              </a:solidFill>
              <a:ea typeface="黑体" panose="02010609060101010101" pitchFamily="49" charset="-122"/>
            </a:endParaRPr>
          </a:p>
        </p:txBody>
      </p:sp>
      <p:sp>
        <p:nvSpPr>
          <p:cNvPr id="1031" name="Line 28"/>
          <p:cNvSpPr>
            <a:spLocks noChangeShapeType="1"/>
          </p:cNvSpPr>
          <p:nvPr userDrawn="1"/>
        </p:nvSpPr>
        <p:spPr bwMode="auto">
          <a:xfrm>
            <a:off x="881063" y="750888"/>
            <a:ext cx="8262937" cy="46037"/>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黑体" panose="02010609060101010101" pitchFamily="49" charset="-122"/>
            </a:endParaRPr>
          </a:p>
        </p:txBody>
      </p:sp>
      <p:sp>
        <p:nvSpPr>
          <p:cNvPr id="1033" name="Text Box 33"/>
          <p:cNvSpPr txBox="1">
            <a:spLocks noChangeArrowheads="1"/>
          </p:cNvSpPr>
          <p:nvPr userDrawn="1"/>
        </p:nvSpPr>
        <p:spPr bwMode="auto">
          <a:xfrm>
            <a:off x="2871788" y="6411913"/>
            <a:ext cx="2678112" cy="457200"/>
          </a:xfrm>
          <a:prstGeom prst="rect">
            <a:avLst/>
          </a:prstGeom>
          <a:noFill/>
          <a:ln>
            <a:noFill/>
          </a:ln>
          <a:effectLst>
            <a:prstShdw prst="shdw13" dist="74053" dir="7257825">
              <a:schemeClr val="bg2">
                <a:alpha val="50000"/>
              </a:schemeClr>
            </a:prstShdw>
          </a:effectLst>
        </p:spPr>
        <p:txBody>
          <a:bodyPr>
            <a:spAutoFit/>
          </a:bodyPr>
          <a:lstStyle>
            <a:lvl1pPr algn="ctr">
              <a:defRPr sz="3600">
                <a:solidFill>
                  <a:schemeClr val="tx1"/>
                </a:solidFill>
                <a:latin typeface="Times New Roman" panose="02020603050405020304" pitchFamily="18" charset="0"/>
                <a:ea typeface="华文仿宋" panose="02010600040101010101" pitchFamily="2" charset="-122"/>
              </a:defRPr>
            </a:lvl1pPr>
            <a:lvl2pPr marL="742950" indent="-285750" algn="ctr">
              <a:defRPr sz="3600">
                <a:solidFill>
                  <a:schemeClr val="tx1"/>
                </a:solidFill>
                <a:latin typeface="Times New Roman" panose="02020603050405020304" pitchFamily="18" charset="0"/>
                <a:ea typeface="华文仿宋" panose="02010600040101010101" pitchFamily="2" charset="-122"/>
              </a:defRPr>
            </a:lvl2pPr>
            <a:lvl3pPr marL="1143000" indent="-228600" algn="ctr">
              <a:defRPr sz="3600">
                <a:solidFill>
                  <a:schemeClr val="tx1"/>
                </a:solidFill>
                <a:latin typeface="Times New Roman" panose="02020603050405020304" pitchFamily="18" charset="0"/>
                <a:ea typeface="华文仿宋" panose="02010600040101010101" pitchFamily="2" charset="-122"/>
              </a:defRPr>
            </a:lvl3pPr>
            <a:lvl4pPr marL="1600200" indent="-228600" algn="ctr">
              <a:defRPr sz="3600">
                <a:solidFill>
                  <a:schemeClr val="tx1"/>
                </a:solidFill>
                <a:latin typeface="Times New Roman" panose="02020603050405020304" pitchFamily="18" charset="0"/>
                <a:ea typeface="华文仿宋" panose="02010600040101010101" pitchFamily="2" charset="-122"/>
              </a:defRPr>
            </a:lvl4pPr>
            <a:lvl5pPr marL="2057400" indent="-228600" algn="ctr">
              <a:defRPr sz="3600">
                <a:solidFill>
                  <a:schemeClr val="tx1"/>
                </a:solidFill>
                <a:latin typeface="Times New Roman" panose="02020603050405020304" pitchFamily="18" charset="0"/>
                <a:ea typeface="华文仿宋" panose="02010600040101010101" pitchFamily="2" charset="-122"/>
              </a:defRPr>
            </a:lvl5pPr>
            <a:lvl6pPr marL="25146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6pPr>
            <a:lvl7pPr marL="29718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7pPr>
            <a:lvl8pPr marL="34290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8pPr>
            <a:lvl9pPr marL="38862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9pPr>
          </a:lstStyle>
          <a:p>
            <a:pPr eaLnBrk="1" hangingPunct="1">
              <a:spcBef>
                <a:spcPct val="50000"/>
              </a:spcBef>
              <a:defRPr/>
            </a:pPr>
            <a:r>
              <a:rPr lang="zh-CN" altLang="en-US" sz="2400">
                <a:solidFill>
                  <a:schemeClr val="bg1"/>
                </a:solidFill>
                <a:latin typeface="华文行楷" panose="02010800040101010101" pitchFamily="2" charset="-122"/>
                <a:ea typeface="华文行楷" panose="02010800040101010101" pitchFamily="2" charset="-122"/>
              </a:rPr>
              <a:t>计算机学院</a:t>
            </a:r>
          </a:p>
        </p:txBody>
      </p:sp>
      <p:sp>
        <p:nvSpPr>
          <p:cNvPr id="12" name="Rectangle 20"/>
          <p:cNvSpPr>
            <a:spLocks noChangeArrowheads="1"/>
          </p:cNvSpPr>
          <p:nvPr userDrawn="1"/>
        </p:nvSpPr>
        <p:spPr bwMode="auto">
          <a:xfrm>
            <a:off x="8355013" y="6257925"/>
            <a:ext cx="788987" cy="460375"/>
          </a:xfrm>
          <a:prstGeom prst="rect">
            <a:avLst/>
          </a:prstGeom>
          <a:noFill/>
          <a:ln w="9525" algn="ctr">
            <a:noFill/>
            <a:miter lim="800000"/>
            <a:headEnd/>
            <a:tailEnd/>
          </a:ln>
          <a:effectLst/>
        </p:spPr>
        <p:txBody>
          <a:bodyPr>
            <a:spAutoFit/>
          </a:bodyPr>
          <a:lstStyle>
            <a:lvl1pPr eaLnBrk="0" hangingPunct="0">
              <a:defRPr sz="3600">
                <a:solidFill>
                  <a:schemeClr val="tx1"/>
                </a:solidFill>
                <a:latin typeface="Times New Roman" panose="02020603050405020304" pitchFamily="18" charset="0"/>
                <a:ea typeface="华文仿宋" panose="02010600040101010101" pitchFamily="2" charset="-122"/>
              </a:defRPr>
            </a:lvl1pPr>
            <a:lvl2pPr marL="742950" indent="-285750" eaLnBrk="0" hangingPunct="0">
              <a:defRPr sz="3600">
                <a:solidFill>
                  <a:schemeClr val="tx1"/>
                </a:solidFill>
                <a:latin typeface="Times New Roman" panose="02020603050405020304" pitchFamily="18" charset="0"/>
                <a:ea typeface="华文仿宋" panose="02010600040101010101" pitchFamily="2" charset="-122"/>
              </a:defRPr>
            </a:lvl2pPr>
            <a:lvl3pPr marL="1143000" indent="-228600" eaLnBrk="0" hangingPunct="0">
              <a:defRPr sz="3600">
                <a:solidFill>
                  <a:schemeClr val="tx1"/>
                </a:solidFill>
                <a:latin typeface="Times New Roman" panose="02020603050405020304" pitchFamily="18" charset="0"/>
                <a:ea typeface="华文仿宋" panose="02010600040101010101" pitchFamily="2" charset="-122"/>
              </a:defRPr>
            </a:lvl3pPr>
            <a:lvl4pPr marL="1600200" indent="-228600" eaLnBrk="0" hangingPunct="0">
              <a:defRPr sz="3600">
                <a:solidFill>
                  <a:schemeClr val="tx1"/>
                </a:solidFill>
                <a:latin typeface="Times New Roman" panose="02020603050405020304" pitchFamily="18" charset="0"/>
                <a:ea typeface="华文仿宋" panose="02010600040101010101" pitchFamily="2" charset="-122"/>
              </a:defRPr>
            </a:lvl4pPr>
            <a:lvl5pPr marL="2057400" indent="-228600" eaLnBrk="0" hangingPunct="0">
              <a:defRPr sz="3600">
                <a:solidFill>
                  <a:schemeClr val="tx1"/>
                </a:solidFill>
                <a:latin typeface="Times New Roman" panose="02020603050405020304" pitchFamily="18" charset="0"/>
                <a:ea typeface="华文仿宋" panose="02010600040101010101" pitchFamily="2" charset="-122"/>
              </a:defRPr>
            </a:lvl5pPr>
            <a:lvl6pPr marL="25146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6pPr>
            <a:lvl7pPr marL="29718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7pPr>
            <a:lvl8pPr marL="34290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8pPr>
            <a:lvl9pPr marL="3886200" indent="-228600" algn="ctr" eaLnBrk="0" fontAlgn="base" hangingPunct="0">
              <a:spcBef>
                <a:spcPct val="0"/>
              </a:spcBef>
              <a:spcAft>
                <a:spcPct val="0"/>
              </a:spcAft>
              <a:defRPr sz="3600">
                <a:solidFill>
                  <a:schemeClr val="tx1"/>
                </a:solidFill>
                <a:latin typeface="Times New Roman" panose="02020603050405020304" pitchFamily="18" charset="0"/>
                <a:ea typeface="华文仿宋" panose="02010600040101010101" pitchFamily="2" charset="-122"/>
              </a:defRPr>
            </a:lvl9pPr>
          </a:lstStyle>
          <a:p>
            <a:pPr algn="ctr" eaLnBrk="1" hangingPunct="1">
              <a:defRPr/>
            </a:pPr>
            <a:fld id="{BF5CB5AF-A41C-4B49-BF31-40D6D4E78698}" type="slidenum">
              <a:rPr lang="zh-CN" altLang="en-US" sz="2400" smtClean="0">
                <a:ea typeface="黑体" panose="02010609060101010101" pitchFamily="49" charset="-122"/>
              </a:rPr>
              <a:pPr algn="ctr" eaLnBrk="1" hangingPunct="1">
                <a:defRPr/>
              </a:pPr>
              <a:t>‹#›</a:t>
            </a:fld>
            <a:endParaRPr lang="en-US" altLang="zh-CN" sz="2400" dirty="0">
              <a:ea typeface="黑体" panose="02010609060101010101" pitchFamily="49" charset="-122"/>
            </a:endParaRPr>
          </a:p>
        </p:txBody>
      </p:sp>
    </p:spTree>
  </p:cSld>
  <p:clrMap bg1="lt1" tx1="dk1" bg2="lt2" tx2="dk2" accent1="accent1" accent2="accent2" accent3="accent3" accent4="accent4" accent5="accent5" accent6="accent6" hlink="hlink" folHlink="folHlink"/>
  <p:sldLayoutIdLst>
    <p:sldLayoutId id="2147485705" r:id="rId1"/>
    <p:sldLayoutId id="2147485706" r:id="rId2"/>
    <p:sldLayoutId id="2147485707" r:id="rId3"/>
    <p:sldLayoutId id="2147485708" r:id="rId4"/>
    <p:sldLayoutId id="2147485709" r:id="rId5"/>
    <p:sldLayoutId id="2147485710" r:id="rId6"/>
    <p:sldLayoutId id="2147485711" r:id="rId7"/>
    <p:sldLayoutId id="2147485712" r:id="rId8"/>
    <p:sldLayoutId id="2147485713" r:id="rId9"/>
    <p:sldLayoutId id="2147485714" r:id="rId10"/>
    <p:sldLayoutId id="2147485715" r:id="rId11"/>
    <p:sldLayoutId id="2147485716" r:id="rId12"/>
    <p:sldLayoutId id="2147485717" r:id="rId13"/>
  </p:sldLayoutIdLst>
  <p:transition>
    <p:wipe dir="r"/>
  </p:transition>
  <p:txStyles>
    <p:titleStyle>
      <a:lvl1pPr algn="l" rtl="0" eaLnBrk="0" fontAlgn="base" hangingPunct="0">
        <a:spcBef>
          <a:spcPct val="0"/>
        </a:spcBef>
        <a:spcAft>
          <a:spcPct val="0"/>
        </a:spcAft>
        <a:defRPr sz="4000" b="1">
          <a:solidFill>
            <a:srgbClr val="FF0000"/>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2pPr>
      <a:lvl3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3pPr>
      <a:lvl4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4pPr>
      <a:lvl5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5pPr>
      <a:lvl6pPr marL="457200" algn="l" rtl="0" fontAlgn="base">
        <a:spcBef>
          <a:spcPct val="0"/>
        </a:spcBef>
        <a:spcAft>
          <a:spcPct val="0"/>
        </a:spcAft>
        <a:defRPr sz="4000" b="1">
          <a:solidFill>
            <a:srgbClr val="FF0000"/>
          </a:solidFill>
          <a:latin typeface="华文中宋" pitchFamily="2" charset="-122"/>
          <a:ea typeface="华文中宋" pitchFamily="2" charset="-122"/>
        </a:defRPr>
      </a:lvl6pPr>
      <a:lvl7pPr marL="914400" algn="l" rtl="0" fontAlgn="base">
        <a:spcBef>
          <a:spcPct val="0"/>
        </a:spcBef>
        <a:spcAft>
          <a:spcPct val="0"/>
        </a:spcAft>
        <a:defRPr sz="4000" b="1">
          <a:solidFill>
            <a:srgbClr val="FF0000"/>
          </a:solidFill>
          <a:latin typeface="华文中宋" pitchFamily="2" charset="-122"/>
          <a:ea typeface="华文中宋" pitchFamily="2" charset="-122"/>
        </a:defRPr>
      </a:lvl7pPr>
      <a:lvl8pPr marL="1371600" algn="l" rtl="0" fontAlgn="base">
        <a:spcBef>
          <a:spcPct val="0"/>
        </a:spcBef>
        <a:spcAft>
          <a:spcPct val="0"/>
        </a:spcAft>
        <a:defRPr sz="4000" b="1">
          <a:solidFill>
            <a:srgbClr val="FF0000"/>
          </a:solidFill>
          <a:latin typeface="华文中宋" pitchFamily="2" charset="-122"/>
          <a:ea typeface="华文中宋" pitchFamily="2" charset="-122"/>
        </a:defRPr>
      </a:lvl8pPr>
      <a:lvl9pPr marL="1828800" algn="l" rtl="0" fontAlgn="base">
        <a:spcBef>
          <a:spcPct val="0"/>
        </a:spcBef>
        <a:spcAft>
          <a:spcPct val="0"/>
        </a:spcAft>
        <a:defRPr sz="4000" b="1">
          <a:solidFill>
            <a:srgbClr val="FF0000"/>
          </a:solidFill>
          <a:latin typeface="华文中宋" pitchFamily="2" charset="-122"/>
          <a:ea typeface="华文中宋" pitchFamily="2" charset="-122"/>
        </a:defRPr>
      </a:lvl9pPr>
    </p:titleStyle>
    <p:bodyStyle>
      <a:lvl1pPr marL="342900" indent="-342900" algn="l" rtl="0" eaLnBrk="0" fontAlgn="base" hangingPunct="0">
        <a:lnSpc>
          <a:spcPct val="90000"/>
        </a:lnSpc>
        <a:spcBef>
          <a:spcPct val="25000"/>
        </a:spcBef>
        <a:spcAft>
          <a:spcPct val="20000"/>
        </a:spcAft>
        <a:buClr>
          <a:srgbClr val="336699"/>
        </a:buClr>
        <a:buFont typeface="Wingdings" panose="05000000000000000000" pitchFamily="2" charset="2"/>
        <a:buChar char="§"/>
        <a:defRPr sz="2600" b="1">
          <a:solidFill>
            <a:schemeClr val="tx1"/>
          </a:solidFill>
          <a:latin typeface="黑体" panose="02010609060101010101" pitchFamily="49" charset="-122"/>
          <a:ea typeface="黑体" panose="02010609060101010101" pitchFamily="49" charset="-122"/>
          <a:cs typeface="+mn-cs"/>
        </a:defRPr>
      </a:lvl1pPr>
      <a:lvl2pPr marL="742950" indent="-285750" algn="l" rtl="0" eaLnBrk="0" fontAlgn="base" hangingPunct="0">
        <a:lnSpc>
          <a:spcPct val="90000"/>
        </a:lnSpc>
        <a:spcBef>
          <a:spcPct val="25000"/>
        </a:spcBef>
        <a:spcAft>
          <a:spcPct val="0"/>
        </a:spcAft>
        <a:buClr>
          <a:srgbClr val="336699"/>
        </a:buClr>
        <a:buChar char="•"/>
        <a:defRPr sz="2400" b="1">
          <a:solidFill>
            <a:schemeClr val="tx1"/>
          </a:solidFill>
          <a:latin typeface="黑体" panose="02010609060101010101" pitchFamily="49" charset="-122"/>
          <a:ea typeface="黑体" panose="02010609060101010101" pitchFamily="49" charset="-122"/>
        </a:defRPr>
      </a:lvl2pPr>
      <a:lvl3pPr marL="1143000" indent="-228600" algn="l" rtl="0" eaLnBrk="0" fontAlgn="base" hangingPunct="0">
        <a:lnSpc>
          <a:spcPct val="90000"/>
        </a:lnSpc>
        <a:spcBef>
          <a:spcPct val="25000"/>
        </a:spcBef>
        <a:spcAft>
          <a:spcPct val="0"/>
        </a:spcAft>
        <a:buClr>
          <a:srgbClr val="336699"/>
        </a:buClr>
        <a:buChar char="–"/>
        <a:defRPr sz="2000" b="1">
          <a:solidFill>
            <a:schemeClr val="tx1"/>
          </a:solidFill>
          <a:latin typeface="黑体" panose="02010609060101010101" pitchFamily="49" charset="-122"/>
          <a:ea typeface="黑体" panose="02010609060101010101" pitchFamily="49" charset="-122"/>
        </a:defRPr>
      </a:lvl3pPr>
      <a:lvl4pPr marL="1600200" indent="-228600" algn="l" rtl="0" eaLnBrk="0" fontAlgn="base" hangingPunct="0">
        <a:lnSpc>
          <a:spcPct val="90000"/>
        </a:lnSpc>
        <a:spcBef>
          <a:spcPct val="25000"/>
        </a:spcBef>
        <a:spcAft>
          <a:spcPct val="0"/>
        </a:spcAft>
        <a:buClr>
          <a:srgbClr val="336699"/>
        </a:buClr>
        <a:buChar char="»"/>
        <a:defRPr b="1">
          <a:solidFill>
            <a:schemeClr val="tx1"/>
          </a:solidFill>
          <a:latin typeface="+mn-lt"/>
          <a:ea typeface="+mn-ea"/>
        </a:defRPr>
      </a:lvl4pPr>
      <a:lvl5pPr marL="2057400" indent="-228600" algn="l" rtl="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defRPr>
      </a:lvl5pPr>
      <a:lvl6pPr marL="2514600" indent="-228600" algn="l" rtl="0" fontAlgn="base">
        <a:lnSpc>
          <a:spcPct val="90000"/>
        </a:lnSpc>
        <a:spcBef>
          <a:spcPct val="25000"/>
        </a:spcBef>
        <a:spcAft>
          <a:spcPct val="0"/>
        </a:spcAft>
        <a:buClr>
          <a:srgbClr val="336699"/>
        </a:buClr>
        <a:buFont typeface="Wingdings" pitchFamily="2" charset="2"/>
        <a:buChar char="§"/>
        <a:defRPr sz="1600" b="1">
          <a:solidFill>
            <a:schemeClr val="tx1"/>
          </a:solidFill>
          <a:latin typeface="+mn-lt"/>
          <a:ea typeface="+mn-ea"/>
        </a:defRPr>
      </a:lvl6pPr>
      <a:lvl7pPr marL="2971800" indent="-228600" algn="l" rtl="0" fontAlgn="base">
        <a:lnSpc>
          <a:spcPct val="90000"/>
        </a:lnSpc>
        <a:spcBef>
          <a:spcPct val="25000"/>
        </a:spcBef>
        <a:spcAft>
          <a:spcPct val="0"/>
        </a:spcAft>
        <a:buClr>
          <a:srgbClr val="336699"/>
        </a:buClr>
        <a:buFont typeface="Wingdings" pitchFamily="2" charset="2"/>
        <a:buChar char="§"/>
        <a:defRPr sz="1600" b="1">
          <a:solidFill>
            <a:schemeClr val="tx1"/>
          </a:solidFill>
          <a:latin typeface="+mn-lt"/>
          <a:ea typeface="+mn-ea"/>
        </a:defRPr>
      </a:lvl7pPr>
      <a:lvl8pPr marL="3429000" indent="-228600" algn="l" rtl="0" fontAlgn="base">
        <a:lnSpc>
          <a:spcPct val="90000"/>
        </a:lnSpc>
        <a:spcBef>
          <a:spcPct val="25000"/>
        </a:spcBef>
        <a:spcAft>
          <a:spcPct val="0"/>
        </a:spcAft>
        <a:buClr>
          <a:srgbClr val="336699"/>
        </a:buClr>
        <a:buFont typeface="Wingdings" pitchFamily="2" charset="2"/>
        <a:buChar char="§"/>
        <a:defRPr sz="1600" b="1">
          <a:solidFill>
            <a:schemeClr val="tx1"/>
          </a:solidFill>
          <a:latin typeface="+mn-lt"/>
          <a:ea typeface="+mn-ea"/>
        </a:defRPr>
      </a:lvl8pPr>
      <a:lvl9pPr marL="3886200" indent="-228600" algn="l" rtl="0" fontAlgn="base">
        <a:lnSpc>
          <a:spcPct val="90000"/>
        </a:lnSpc>
        <a:spcBef>
          <a:spcPct val="25000"/>
        </a:spcBef>
        <a:spcAft>
          <a:spcPct val="0"/>
        </a:spcAft>
        <a:buClr>
          <a:srgbClr val="336699"/>
        </a:buClr>
        <a:buFont typeface="Wingdings" pitchFamily="2" charset="2"/>
        <a:buChar char="§"/>
        <a:defRPr sz="16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7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60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670.png"/><Relationship Id="rId3" Type="http://schemas.openxmlformats.org/officeDocument/2006/relationships/image" Target="../media/image6.png"/><Relationship Id="rId7" Type="http://schemas.openxmlformats.org/officeDocument/2006/relationships/image" Target="../media/image266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650.png"/><Relationship Id="rId5" Type="http://schemas.openxmlformats.org/officeDocument/2006/relationships/image" Target="../media/image2640.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762.png"/></Relationships>
</file>

<file path=ppt/slides/_rels/slide8.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77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5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4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740.png"/><Relationship Id="rId4" Type="http://schemas.openxmlformats.org/officeDocument/2006/relationships/image" Target="../media/image2730.png"/></Relationships>
</file>

<file path=ppt/slides/_rels/slide12.xml.rels><?xml version="1.0" encoding="UTF-8" standalone="yes"?>
<Relationships xmlns="http://schemas.openxmlformats.org/package/2006/relationships"><Relationship Id="rId3" Type="http://schemas.openxmlformats.org/officeDocument/2006/relationships/image" Target="../media/image12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60.png"/><Relationship Id="rId2" Type="http://schemas.openxmlformats.org/officeDocument/2006/relationships/image" Target="../media/image275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81.png"/><Relationship Id="rId2" Type="http://schemas.openxmlformats.org/officeDocument/2006/relationships/image" Target="../media/image275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78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10.png"/><Relationship Id="rId2" Type="http://schemas.openxmlformats.org/officeDocument/2006/relationships/image" Target="../media/image279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8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86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91.png"/><Relationship Id="rId5" Type="http://schemas.openxmlformats.org/officeDocument/2006/relationships/image" Target="../media/image2841.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86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91.png"/><Relationship Id="rId5" Type="http://schemas.openxmlformats.org/officeDocument/2006/relationships/image" Target="../media/image2871.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8" Type="http://schemas.openxmlformats.org/officeDocument/2006/relationships/image" Target="../media/image291.png"/><Relationship Id="rId3" Type="http://schemas.openxmlformats.org/officeDocument/2006/relationships/image" Target="../media/image10.png"/><Relationship Id="rId7" Type="http://schemas.openxmlformats.org/officeDocument/2006/relationships/image" Target="../media/image290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9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292.png"/></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5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8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4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2" Type="http://schemas.openxmlformats.org/officeDocument/2006/relationships/image" Target="../media/image300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20.png"/><Relationship Id="rId2" Type="http://schemas.openxmlformats.org/officeDocument/2006/relationships/image" Target="../media/image2970.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30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idx="4294967295"/>
          </p:nvPr>
        </p:nvSpPr>
        <p:spPr/>
        <p:txBody>
          <a:bodyPr/>
          <a:lstStyle/>
          <a:p>
            <a:pPr>
              <a:lnSpc>
                <a:spcPct val="120000"/>
              </a:lnSpc>
            </a:pPr>
            <a:r>
              <a:rPr lang="zh-CN" altLang="en-US" sz="3600">
                <a:latin typeface="黑体" panose="02010609060101010101" pitchFamily="49" charset="-122"/>
                <a:ea typeface="黑体" panose="02010609060101010101" pitchFamily="49" charset="-122"/>
              </a:rPr>
              <a:t>提纲</a:t>
            </a:r>
          </a:p>
        </p:txBody>
      </p:sp>
      <p:sp>
        <p:nvSpPr>
          <p:cNvPr id="17411" name="内容占位符 2"/>
          <p:cNvSpPr>
            <a:spLocks noGrp="1"/>
          </p:cNvSpPr>
          <p:nvPr>
            <p:ph idx="1"/>
          </p:nvPr>
        </p:nvSpPr>
        <p:spPr/>
        <p:txBody>
          <a:bodyPr/>
          <a:lstStyle/>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10.1</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引言</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10.2</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无向图及有向图</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10.3</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特殊图</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10.4</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子图</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10.5</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图的矩阵表示</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10.6</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通路和回路</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10.7</a:t>
            </a:r>
            <a:r>
              <a:rPr lang="en-US" altLang="zh-CN" sz="2800" b="0" dirty="0">
                <a:solidFill>
                  <a:srgbClr val="FF0000"/>
                </a:solidFill>
                <a:latin typeface="黑体" panose="02010609060101010101" pitchFamily="49" charset="-122"/>
                <a:ea typeface="黑体" panose="02010609060101010101" pitchFamily="49" charset="-122"/>
              </a:rPr>
              <a:t> </a:t>
            </a:r>
            <a:r>
              <a:rPr lang="zh-CN" altLang="en-US" sz="2800" b="0" dirty="0">
                <a:solidFill>
                  <a:srgbClr val="FF0000"/>
                </a:solidFill>
                <a:latin typeface="黑体" panose="02010609060101010101" pitchFamily="49" charset="-122"/>
                <a:ea typeface="黑体" panose="02010609060101010101" pitchFamily="49" charset="-122"/>
              </a:rPr>
              <a:t>割集与圈</a:t>
            </a:r>
            <a:endParaRPr lang="en-US" altLang="zh-CN" sz="2800" b="0" dirty="0">
              <a:solidFill>
                <a:srgbClr val="FF0000"/>
              </a:solidFill>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10.8</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支配集、覆盖集与独立集</a:t>
            </a:r>
            <a:endParaRPr lang="en-US" altLang="zh-CN" sz="2800" b="0" dirty="0">
              <a:latin typeface="黑体" panose="02010609060101010101" pitchFamily="49" charset="-122"/>
              <a:ea typeface="黑体" panose="02010609060101010101" pitchFamily="49" charset="-122"/>
            </a:endParaRPr>
          </a:p>
          <a:p>
            <a:pPr marL="0" indent="0">
              <a:lnSpc>
                <a:spcPct val="120000"/>
              </a:lnSpc>
              <a:buFont typeface="Wingdings" panose="05000000000000000000" pitchFamily="2" charset="2"/>
              <a:buNone/>
              <a:defRPr/>
            </a:pPr>
            <a:endParaRPr lang="en-US" altLang="zh-CN" sz="2800" b="0" dirty="0">
              <a:latin typeface="黑体" panose="02010609060101010101" pitchFamily="49" charset="-122"/>
              <a:ea typeface="黑体" panose="02010609060101010101" pitchFamily="49" charset="-122"/>
            </a:endParaRPr>
          </a:p>
          <a:p>
            <a:pPr>
              <a:lnSpc>
                <a:spcPct val="120000"/>
              </a:lnSpc>
              <a:defRPr/>
            </a:pPr>
            <a:endParaRPr lang="en-US" altLang="zh-CN" sz="2800" b="0" dirty="0">
              <a:latin typeface="黑体" panose="02010609060101010101" pitchFamily="49" charset="-122"/>
              <a:ea typeface="黑体" panose="02010609060101010101" pitchFamily="49" charset="-122"/>
            </a:endParaRPr>
          </a:p>
          <a:p>
            <a:pPr>
              <a:lnSpc>
                <a:spcPct val="120000"/>
              </a:lnSpc>
              <a:defRPr/>
            </a:pPr>
            <a:endParaRPr lang="zh-CN" altLang="en-US" sz="2800" b="0" dirty="0">
              <a:latin typeface="黑体" panose="02010609060101010101" pitchFamily="49" charset="-122"/>
              <a:ea typeface="黑体" panose="02010609060101010101" pitchFamily="49" charset="-122"/>
            </a:endParaRPr>
          </a:p>
        </p:txBody>
      </p:sp>
    </p:spTree>
  </p:cSld>
  <p:clrMapOvr>
    <a:masterClrMapping/>
  </p:clrMapOvr>
  <p:transition advTm="15028">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ctrTitle"/>
          </p:nvPr>
        </p:nvSpPr>
        <p:spPr>
          <a:xfrm>
            <a:off x="623888" y="217488"/>
            <a:ext cx="8266112" cy="1876425"/>
          </a:xfrm>
        </p:spPr>
        <p:txBody>
          <a:bodyPr/>
          <a:lstStyle/>
          <a:p>
            <a:pPr eaLnBrk="1" hangingPunct="1">
              <a:lnSpc>
                <a:spcPct val="120000"/>
              </a:lnSpc>
            </a:pPr>
            <a:r>
              <a:rPr lang="zh-CN" altLang="en-US" sz="4800" dirty="0">
                <a:latin typeface="黑体" panose="02010609060101010101" pitchFamily="49" charset="-122"/>
                <a:ea typeface="黑体" panose="02010609060101010101" pitchFamily="49" charset="-122"/>
              </a:rPr>
              <a:t>割集和图</a:t>
            </a:r>
          </a:p>
        </p:txBody>
      </p:sp>
      <p:sp>
        <p:nvSpPr>
          <p:cNvPr id="73731" name="Rectangle 6"/>
          <p:cNvSpPr>
            <a:spLocks noGrp="1" noChangeArrowheads="1"/>
          </p:cNvSpPr>
          <p:nvPr>
            <p:ph type="subTitle" idx="1"/>
          </p:nvPr>
        </p:nvSpPr>
        <p:spPr>
          <a:xfrm>
            <a:off x="5486400" y="4816475"/>
            <a:ext cx="3425825" cy="1385888"/>
          </a:xfrm>
          <a:noFill/>
        </p:spPr>
        <p:txBody>
          <a:bodyPr/>
          <a:lstStyle/>
          <a:p>
            <a:pPr eaLnBrk="1" hangingPunct="1">
              <a:lnSpc>
                <a:spcPct val="120000"/>
              </a:lnSpc>
              <a:spcBef>
                <a:spcPct val="20000"/>
              </a:spcBef>
              <a:spcAft>
                <a:spcPct val="0"/>
              </a:spcAft>
              <a:buClrTx/>
            </a:pPr>
            <a:r>
              <a:rPr lang="zh-CN" altLang="en-US" sz="2800" dirty="0">
                <a:solidFill>
                  <a:schemeClr val="bg1"/>
                </a:solidFill>
                <a:latin typeface="黑体" panose="02010609060101010101" pitchFamily="49" charset="-122"/>
                <a:ea typeface="黑体" panose="02010609060101010101" pitchFamily="49" charset="-122"/>
              </a:rPr>
              <a:t>北京航空航天大学</a:t>
            </a:r>
            <a:endParaRPr lang="en-US" altLang="zh-CN" sz="2800" dirty="0">
              <a:solidFill>
                <a:schemeClr val="bg1"/>
              </a:solidFill>
              <a:latin typeface="黑体" panose="02010609060101010101" pitchFamily="49" charset="-122"/>
              <a:ea typeface="黑体" panose="02010609060101010101" pitchFamily="49" charset="-122"/>
            </a:endParaRPr>
          </a:p>
          <a:p>
            <a:pPr eaLnBrk="1" hangingPunct="1">
              <a:lnSpc>
                <a:spcPct val="120000"/>
              </a:lnSpc>
              <a:spcBef>
                <a:spcPct val="20000"/>
              </a:spcBef>
              <a:spcAft>
                <a:spcPct val="0"/>
              </a:spcAft>
              <a:buClrTx/>
            </a:pPr>
            <a:r>
              <a:rPr lang="en-US" altLang="zh-CN" sz="2800" dirty="0">
                <a:solidFill>
                  <a:schemeClr val="bg1"/>
                </a:solidFill>
                <a:latin typeface="黑体" panose="02010609060101010101" pitchFamily="49" charset="-122"/>
                <a:ea typeface="黑体" panose="02010609060101010101" pitchFamily="49" charset="-122"/>
              </a:rPr>
              <a:t>《</a:t>
            </a:r>
            <a:r>
              <a:rPr lang="zh-CN" altLang="en-US" sz="2800" dirty="0">
                <a:solidFill>
                  <a:schemeClr val="bg1"/>
                </a:solidFill>
                <a:latin typeface="黑体" panose="02010609060101010101" pitchFamily="49" charset="-122"/>
                <a:ea typeface="黑体" panose="02010609060101010101" pitchFamily="49" charset="-122"/>
              </a:rPr>
              <a:t>离散数学</a:t>
            </a:r>
            <a:r>
              <a:rPr lang="en-US" altLang="zh-CN" sz="2800" dirty="0">
                <a:solidFill>
                  <a:schemeClr val="bg1"/>
                </a:solidFill>
                <a:latin typeface="黑体" panose="02010609060101010101" pitchFamily="49" charset="-122"/>
                <a:ea typeface="黑体" panose="02010609060101010101" pitchFamily="49" charset="-122"/>
              </a:rPr>
              <a:t>》</a:t>
            </a:r>
            <a:r>
              <a:rPr lang="zh-CN" altLang="en-US" sz="2800" dirty="0">
                <a:solidFill>
                  <a:schemeClr val="bg1"/>
                </a:solidFill>
                <a:latin typeface="黑体" panose="02010609060101010101" pitchFamily="49" charset="-122"/>
                <a:ea typeface="黑体" panose="02010609060101010101" pitchFamily="49" charset="-122"/>
              </a:rPr>
              <a:t>课程组20</a:t>
            </a:r>
            <a:r>
              <a:rPr lang="en-US" altLang="zh-CN" sz="2800" dirty="0">
                <a:solidFill>
                  <a:schemeClr val="bg1"/>
                </a:solidFill>
                <a:latin typeface="黑体" panose="02010609060101010101" pitchFamily="49" charset="-122"/>
                <a:ea typeface="黑体" panose="02010609060101010101" pitchFamily="49" charset="-122"/>
              </a:rPr>
              <a:t>25-10</a:t>
            </a:r>
          </a:p>
        </p:txBody>
      </p:sp>
    </p:spTree>
    <p:extLst>
      <p:ext uri="{BB962C8B-B14F-4D97-AF65-F5344CB8AC3E}">
        <p14:creationId xmlns:p14="http://schemas.microsoft.com/office/powerpoint/2010/main" val="1048849154"/>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p:txBody>
          <a:bodyPr/>
          <a:lstStyle/>
          <a:p>
            <a:pPr latinLnBrk="1"/>
            <a:r>
              <a:rPr lang="en-US" altLang="zh-CN" sz="3600" dirty="0"/>
              <a:t>[</a:t>
            </a:r>
            <a:r>
              <a:rPr lang="en-US" altLang="zh-CN" sz="3600" dirty="0">
                <a:latin typeface="Times New Roman" panose="02020603050405020304" pitchFamily="18" charset="0"/>
                <a:cs typeface="Times New Roman" panose="02020603050405020304" pitchFamily="18" charset="0"/>
              </a:rPr>
              <a:t>ZJOI2004</a:t>
            </a:r>
            <a:r>
              <a:rPr lang="en-US" altLang="zh-CN" sz="3600" dirty="0"/>
              <a:t>]</a:t>
            </a:r>
            <a:r>
              <a:rPr lang="zh-CN" altLang="en-US" sz="3600" dirty="0"/>
              <a:t>嗅探器</a:t>
            </a:r>
          </a:p>
        </p:txBody>
      </p:sp>
      <p:sp>
        <p:nvSpPr>
          <p:cNvPr id="14339" name="Rectangle 3"/>
          <p:cNvSpPr>
            <a:spLocks noGrp="1" noChangeArrowheads="1"/>
          </p:cNvSpPr>
          <p:nvPr>
            <p:ph type="body" idx="1"/>
          </p:nvPr>
        </p:nvSpPr>
        <p:spPr>
          <a:xfrm>
            <a:off x="0" y="837792"/>
            <a:ext cx="9144000" cy="4921250"/>
          </a:xfrm>
        </p:spPr>
        <p:txBody>
          <a:bodyPr>
            <a:noAutofit/>
          </a:bodyPr>
          <a:lstStyle/>
          <a:p>
            <a:pPr algn="just" eaLnBrk="1" hangingPunct="1">
              <a:lnSpc>
                <a:spcPts val="3200"/>
              </a:lnSpc>
              <a:buClr>
                <a:srgbClr val="0000FF"/>
              </a:buClr>
              <a:buSzPct val="80000"/>
              <a:defRPr/>
            </a:pPr>
            <a:r>
              <a:rPr lang="zh-CN" altLang="en-US" sz="2800" b="0" dirty="0">
                <a:cs typeface="Times New Roman" panose="02020603050405020304" pitchFamily="18" charset="0"/>
              </a:rPr>
              <a:t>某军搞信息对抗实战演习，红军成功地侵入了蓝军的内部网络，蓝军共有两个信息中心，红军计划在某台中间服务器上安装一个嗅探器，从而能够侦听到两个信息中心互相交换的所有信息</a:t>
            </a:r>
            <a:endParaRPr lang="en-US" altLang="zh-CN" sz="2800" b="0" dirty="0">
              <a:cs typeface="Times New Roman" panose="02020603050405020304" pitchFamily="18" charset="0"/>
            </a:endParaRPr>
          </a:p>
          <a:p>
            <a:pPr algn="just" eaLnBrk="1" hangingPunct="1">
              <a:lnSpc>
                <a:spcPts val="3200"/>
              </a:lnSpc>
              <a:buClr>
                <a:srgbClr val="0000FF"/>
              </a:buClr>
              <a:buSzPct val="80000"/>
              <a:defRPr/>
            </a:pPr>
            <a:r>
              <a:rPr lang="zh-CN" altLang="en-US" sz="2800" b="0" dirty="0">
                <a:cs typeface="Times New Roman" panose="02020603050405020304" pitchFamily="18" charset="0"/>
              </a:rPr>
              <a:t>但是蓝军的网络相当的庞大，数据包从一个信息中心传到另一个信息中心可以不止有一条通路。</a:t>
            </a:r>
            <a:endParaRPr lang="en-US" altLang="zh-CN" sz="2800" b="0" dirty="0">
              <a:cs typeface="Times New Roman" panose="02020603050405020304" pitchFamily="18" charset="0"/>
            </a:endParaRPr>
          </a:p>
          <a:p>
            <a:pPr algn="just" eaLnBrk="1" hangingPunct="1">
              <a:lnSpc>
                <a:spcPts val="3200"/>
              </a:lnSpc>
              <a:buClr>
                <a:srgbClr val="0000FF"/>
              </a:buClr>
              <a:buSzPct val="80000"/>
              <a:defRPr/>
            </a:pPr>
            <a:r>
              <a:rPr lang="zh-CN" altLang="en-US" sz="2800" b="0" dirty="0">
                <a:cs typeface="Times New Roman" panose="02020603050405020304" pitchFamily="18" charset="0"/>
              </a:rPr>
              <a:t>现在需要你尽快地解决这个问题，应该把嗅探器安装在哪个中间服务器上才能保证所有的数据包都能被捕获？</a:t>
            </a:r>
            <a:endParaRPr lang="en-US" altLang="zh-CN" sz="2800" b="0" dirty="0">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endParaRPr>
          </a:p>
        </p:txBody>
      </p:sp>
      <p:grpSp>
        <p:nvGrpSpPr>
          <p:cNvPr id="4" name="组合 3">
            <a:extLst>
              <a:ext uri="{FF2B5EF4-FFF2-40B4-BE49-F238E27FC236}">
                <a16:creationId xmlns:a16="http://schemas.microsoft.com/office/drawing/2014/main" id="{7D8F9006-2838-4EAE-A7EB-DA5DB933A6BA}"/>
              </a:ext>
            </a:extLst>
          </p:cNvPr>
          <p:cNvGrpSpPr/>
          <p:nvPr/>
        </p:nvGrpSpPr>
        <p:grpSpPr>
          <a:xfrm>
            <a:off x="3658598" y="4643809"/>
            <a:ext cx="2361202" cy="2018928"/>
            <a:chOff x="-2601503" y="3087401"/>
            <a:chExt cx="2868202" cy="2743866"/>
          </a:xfrm>
        </p:grpSpPr>
        <p:sp>
          <p:nvSpPr>
            <p:cNvPr id="7" name="Oval 9">
              <a:extLst>
                <a:ext uri="{FF2B5EF4-FFF2-40B4-BE49-F238E27FC236}">
                  <a16:creationId xmlns:a16="http://schemas.microsoft.com/office/drawing/2014/main" id="{A097A5D6-C894-4333-9BF4-7654A5725F43}"/>
                </a:ext>
              </a:extLst>
            </p:cNvPr>
            <p:cNvSpPr>
              <a:spLocks noChangeArrowheads="1"/>
            </p:cNvSpPr>
            <p:nvPr/>
          </p:nvSpPr>
          <p:spPr bwMode="auto">
            <a:xfrm>
              <a:off x="-190501" y="4221189"/>
              <a:ext cx="457200" cy="422031"/>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72000" anchor="ctr"/>
            <a:lstStyle/>
            <a:p>
              <a:r>
                <a:rPr lang="en-US" sz="2400" dirty="0">
                  <a:ea typeface="黑体" panose="02010609060101010101" pitchFamily="49" charset="-122"/>
                </a:rPr>
                <a:t>1</a:t>
              </a:r>
            </a:p>
          </p:txBody>
        </p:sp>
        <p:sp>
          <p:nvSpPr>
            <p:cNvPr id="8" name="Oval 11">
              <a:extLst>
                <a:ext uri="{FF2B5EF4-FFF2-40B4-BE49-F238E27FC236}">
                  <a16:creationId xmlns:a16="http://schemas.microsoft.com/office/drawing/2014/main" id="{63CC490B-9CF0-462F-81B4-7E070F1D4D37}"/>
                </a:ext>
              </a:extLst>
            </p:cNvPr>
            <p:cNvSpPr>
              <a:spLocks noChangeArrowheads="1"/>
            </p:cNvSpPr>
            <p:nvPr/>
          </p:nvSpPr>
          <p:spPr bwMode="auto">
            <a:xfrm>
              <a:off x="-1261049" y="4243649"/>
              <a:ext cx="457200" cy="422031"/>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72000" anchor="ctr"/>
            <a:lstStyle/>
            <a:p>
              <a:r>
                <a:rPr lang="en-US" sz="2400" dirty="0">
                  <a:ea typeface="黑体" panose="02010609060101010101" pitchFamily="49" charset="-122"/>
                </a:rPr>
                <a:t>2</a:t>
              </a:r>
            </a:p>
          </p:txBody>
        </p:sp>
        <p:sp>
          <p:nvSpPr>
            <p:cNvPr id="11" name="Line 35">
              <a:extLst>
                <a:ext uri="{FF2B5EF4-FFF2-40B4-BE49-F238E27FC236}">
                  <a16:creationId xmlns:a16="http://schemas.microsoft.com/office/drawing/2014/main" id="{B92C9FF1-52C5-4DAE-8EEC-16729F14C4BA}"/>
                </a:ext>
              </a:extLst>
            </p:cNvPr>
            <p:cNvSpPr>
              <a:spLocks noChangeShapeType="1"/>
            </p:cNvSpPr>
            <p:nvPr/>
          </p:nvSpPr>
          <p:spPr bwMode="auto">
            <a:xfrm flipH="1">
              <a:off x="-928308" y="4595346"/>
              <a:ext cx="737805" cy="79143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3323" dirty="0">
                <a:ea typeface="黑体" panose="02010609060101010101" pitchFamily="49" charset="-122"/>
              </a:endParaRPr>
            </a:p>
          </p:txBody>
        </p:sp>
        <p:sp>
          <p:nvSpPr>
            <p:cNvPr id="12" name="Line 36">
              <a:extLst>
                <a:ext uri="{FF2B5EF4-FFF2-40B4-BE49-F238E27FC236}">
                  <a16:creationId xmlns:a16="http://schemas.microsoft.com/office/drawing/2014/main" id="{28E1278E-F90F-4C88-ACDE-5879EF38AA79}"/>
                </a:ext>
              </a:extLst>
            </p:cNvPr>
            <p:cNvSpPr>
              <a:spLocks noChangeShapeType="1"/>
            </p:cNvSpPr>
            <p:nvPr/>
          </p:nvSpPr>
          <p:spPr bwMode="auto">
            <a:xfrm flipH="1">
              <a:off x="-803849" y="4452814"/>
              <a:ext cx="613348"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3323" dirty="0">
                <a:ea typeface="黑体" panose="02010609060101010101" pitchFamily="49" charset="-122"/>
              </a:endParaRPr>
            </a:p>
          </p:txBody>
        </p:sp>
        <p:sp>
          <p:nvSpPr>
            <p:cNvPr id="13" name="Line 37">
              <a:extLst>
                <a:ext uri="{FF2B5EF4-FFF2-40B4-BE49-F238E27FC236}">
                  <a16:creationId xmlns:a16="http://schemas.microsoft.com/office/drawing/2014/main" id="{0059232A-C8C9-4B3B-AB9F-4DC39FC56AF7}"/>
                </a:ext>
              </a:extLst>
            </p:cNvPr>
            <p:cNvSpPr>
              <a:spLocks noChangeShapeType="1"/>
            </p:cNvSpPr>
            <p:nvPr/>
          </p:nvSpPr>
          <p:spPr bwMode="auto">
            <a:xfrm flipV="1">
              <a:off x="-2345869" y="3507582"/>
              <a:ext cx="595497" cy="186148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3323" dirty="0">
                <a:ea typeface="黑体" panose="02010609060101010101" pitchFamily="49" charset="-122"/>
              </a:endParaRPr>
            </a:p>
          </p:txBody>
        </p:sp>
        <p:sp>
          <p:nvSpPr>
            <p:cNvPr id="14" name="Line 36">
              <a:extLst>
                <a:ext uri="{FF2B5EF4-FFF2-40B4-BE49-F238E27FC236}">
                  <a16:creationId xmlns:a16="http://schemas.microsoft.com/office/drawing/2014/main" id="{0EA0221E-D2D7-407F-924D-F28985C531D5}"/>
                </a:ext>
              </a:extLst>
            </p:cNvPr>
            <p:cNvSpPr>
              <a:spLocks noChangeShapeType="1"/>
            </p:cNvSpPr>
            <p:nvPr/>
          </p:nvSpPr>
          <p:spPr bwMode="auto">
            <a:xfrm flipV="1">
              <a:off x="-2175450" y="4595345"/>
              <a:ext cx="990600" cy="83418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3323" dirty="0">
                <a:ea typeface="黑体" panose="02010609060101010101" pitchFamily="49" charset="-122"/>
              </a:endParaRPr>
            </a:p>
          </p:txBody>
        </p:sp>
        <p:sp>
          <p:nvSpPr>
            <p:cNvPr id="15" name="Line 36">
              <a:extLst>
                <a:ext uri="{FF2B5EF4-FFF2-40B4-BE49-F238E27FC236}">
                  <a16:creationId xmlns:a16="http://schemas.microsoft.com/office/drawing/2014/main" id="{1168FBFD-8054-4B4D-BEB7-50ED7183A6EE}"/>
                </a:ext>
              </a:extLst>
            </p:cNvPr>
            <p:cNvSpPr>
              <a:spLocks noChangeShapeType="1"/>
            </p:cNvSpPr>
            <p:nvPr/>
          </p:nvSpPr>
          <p:spPr bwMode="auto">
            <a:xfrm flipH="1" flipV="1">
              <a:off x="-1642050" y="3507582"/>
              <a:ext cx="457200" cy="75364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3323" dirty="0">
                <a:ea typeface="黑体" panose="02010609060101010101" pitchFamily="49" charset="-122"/>
              </a:endParaRPr>
            </a:p>
          </p:txBody>
        </p:sp>
        <p:sp>
          <p:nvSpPr>
            <p:cNvPr id="17" name="Oval 11">
              <a:extLst>
                <a:ext uri="{FF2B5EF4-FFF2-40B4-BE49-F238E27FC236}">
                  <a16:creationId xmlns:a16="http://schemas.microsoft.com/office/drawing/2014/main" id="{3FBFCD23-F1A2-40B7-B6D9-6D3E2AFAB4A8}"/>
                </a:ext>
              </a:extLst>
            </p:cNvPr>
            <p:cNvSpPr>
              <a:spLocks noChangeArrowheads="1"/>
            </p:cNvSpPr>
            <p:nvPr/>
          </p:nvSpPr>
          <p:spPr bwMode="auto">
            <a:xfrm>
              <a:off x="-1261049" y="5409236"/>
              <a:ext cx="457200" cy="422031"/>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72000" anchor="ctr"/>
            <a:lstStyle/>
            <a:p>
              <a:r>
                <a:rPr lang="en-US" sz="2400" dirty="0">
                  <a:ea typeface="黑体" panose="02010609060101010101" pitchFamily="49" charset="-122"/>
                </a:rPr>
                <a:t>4</a:t>
              </a:r>
            </a:p>
          </p:txBody>
        </p:sp>
        <p:sp>
          <p:nvSpPr>
            <p:cNvPr id="18" name="Oval 11">
              <a:extLst>
                <a:ext uri="{FF2B5EF4-FFF2-40B4-BE49-F238E27FC236}">
                  <a16:creationId xmlns:a16="http://schemas.microsoft.com/office/drawing/2014/main" id="{CCA1C3AD-82A8-422C-9C23-AB61DBF05048}"/>
                </a:ext>
              </a:extLst>
            </p:cNvPr>
            <p:cNvSpPr>
              <a:spLocks noChangeArrowheads="1"/>
            </p:cNvSpPr>
            <p:nvPr/>
          </p:nvSpPr>
          <p:spPr bwMode="auto">
            <a:xfrm>
              <a:off x="-1908749" y="3087401"/>
              <a:ext cx="457200" cy="422031"/>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72000" anchor="ctr"/>
            <a:lstStyle/>
            <a:p>
              <a:r>
                <a:rPr lang="en-US" sz="2400" dirty="0">
                  <a:ea typeface="黑体" panose="02010609060101010101" pitchFamily="49" charset="-122"/>
                </a:rPr>
                <a:t>5</a:t>
              </a:r>
            </a:p>
          </p:txBody>
        </p:sp>
        <p:sp>
          <p:nvSpPr>
            <p:cNvPr id="19" name="Oval 11">
              <a:extLst>
                <a:ext uri="{FF2B5EF4-FFF2-40B4-BE49-F238E27FC236}">
                  <a16:creationId xmlns:a16="http://schemas.microsoft.com/office/drawing/2014/main" id="{20C6F248-7315-4BF4-9B57-AE701907734A}"/>
                </a:ext>
              </a:extLst>
            </p:cNvPr>
            <p:cNvSpPr>
              <a:spLocks noChangeArrowheads="1"/>
            </p:cNvSpPr>
            <p:nvPr/>
          </p:nvSpPr>
          <p:spPr bwMode="auto">
            <a:xfrm>
              <a:off x="-2601503" y="5370913"/>
              <a:ext cx="457200" cy="422031"/>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72000" anchor="ctr"/>
            <a:lstStyle/>
            <a:p>
              <a:r>
                <a:rPr lang="en-US" sz="2400" dirty="0">
                  <a:ea typeface="黑体" panose="02010609060101010101" pitchFamily="49" charset="-122"/>
                </a:rPr>
                <a:t>3</a:t>
              </a:r>
            </a:p>
          </p:txBody>
        </p:sp>
        <p:sp>
          <p:nvSpPr>
            <p:cNvPr id="20" name="Line 36">
              <a:extLst>
                <a:ext uri="{FF2B5EF4-FFF2-40B4-BE49-F238E27FC236}">
                  <a16:creationId xmlns:a16="http://schemas.microsoft.com/office/drawing/2014/main" id="{ADD5003C-DEBA-49C5-AE6B-4028B44AC335}"/>
                </a:ext>
              </a:extLst>
            </p:cNvPr>
            <p:cNvSpPr>
              <a:spLocks noChangeShapeType="1"/>
            </p:cNvSpPr>
            <p:nvPr/>
          </p:nvSpPr>
          <p:spPr bwMode="auto">
            <a:xfrm>
              <a:off x="-1462683" y="3309763"/>
              <a:ext cx="1272181" cy="1000521"/>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3323" dirty="0">
                <a:ea typeface="黑体" panose="02010609060101010101" pitchFamily="49" charset="-122"/>
              </a:endParaRPr>
            </a:p>
          </p:txBody>
        </p:sp>
      </p:grpSp>
      <p:sp>
        <p:nvSpPr>
          <p:cNvPr id="2" name="椭圆 1">
            <a:extLst>
              <a:ext uri="{FF2B5EF4-FFF2-40B4-BE49-F238E27FC236}">
                <a16:creationId xmlns:a16="http://schemas.microsoft.com/office/drawing/2014/main" id="{AB5E7398-1BEE-4237-BD57-812D5DC2189A}"/>
              </a:ext>
            </a:extLst>
          </p:cNvPr>
          <p:cNvSpPr/>
          <p:nvPr/>
        </p:nvSpPr>
        <p:spPr bwMode="auto">
          <a:xfrm>
            <a:off x="4572000" y="5276335"/>
            <a:ext cx="714150" cy="646320"/>
          </a:xfrm>
          <a:prstGeom prst="ellipse">
            <a:avLst/>
          </a:prstGeom>
          <a:noFill/>
          <a:ln w="317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dirty="0">
              <a:ln>
                <a:noFill/>
              </a:ln>
              <a:solidFill>
                <a:schemeClr val="tx1"/>
              </a:solidFill>
              <a:effectLst/>
              <a:latin typeface="Times New Roman" pitchFamily="18" charset="0"/>
            </a:endParaRPr>
          </a:p>
        </p:txBody>
      </p:sp>
      <p:sp>
        <p:nvSpPr>
          <p:cNvPr id="21" name="椭圆 20">
            <a:extLst>
              <a:ext uri="{FF2B5EF4-FFF2-40B4-BE49-F238E27FC236}">
                <a16:creationId xmlns:a16="http://schemas.microsoft.com/office/drawing/2014/main" id="{45F626A5-B2F6-49E4-ADA4-9C774BF6F50F}"/>
              </a:ext>
            </a:extLst>
          </p:cNvPr>
          <p:cNvSpPr/>
          <p:nvPr/>
        </p:nvSpPr>
        <p:spPr bwMode="auto">
          <a:xfrm>
            <a:off x="4602139" y="6143375"/>
            <a:ext cx="714150" cy="646320"/>
          </a:xfrm>
          <a:prstGeom prst="ellipse">
            <a:avLst/>
          </a:prstGeom>
          <a:noFill/>
          <a:ln w="317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dirty="0">
              <a:ln>
                <a:noFill/>
              </a:ln>
              <a:solidFill>
                <a:schemeClr val="tx1"/>
              </a:solidFill>
              <a:effectLst/>
              <a:latin typeface="Times New Roman" pitchFamily="18" charset="0"/>
            </a:endParaRPr>
          </a:p>
        </p:txBody>
      </p:sp>
      <p:sp>
        <p:nvSpPr>
          <p:cNvPr id="22" name="圆角矩形标注 66">
            <a:extLst>
              <a:ext uri="{FF2B5EF4-FFF2-40B4-BE49-F238E27FC236}">
                <a16:creationId xmlns:a16="http://schemas.microsoft.com/office/drawing/2014/main" id="{E8FE3055-262B-4465-B06A-890EDDE1EC02}"/>
              </a:ext>
            </a:extLst>
          </p:cNvPr>
          <p:cNvSpPr/>
          <p:nvPr/>
        </p:nvSpPr>
        <p:spPr bwMode="auto">
          <a:xfrm>
            <a:off x="6149318" y="6060243"/>
            <a:ext cx="1141169" cy="449578"/>
          </a:xfrm>
          <a:prstGeom prst="wedgeRoundRectCallout">
            <a:avLst>
              <a:gd name="adj1" fmla="val -123138"/>
              <a:gd name="adj2" fmla="val 19089"/>
              <a:gd name="adj3" fmla="val 16667"/>
            </a:avLst>
          </a:prstGeom>
          <a:solidFill>
            <a:srgbClr val="F8FF74"/>
          </a:solidFill>
          <a:ln w="9525" cap="flat" cmpd="sng" algn="ctr">
            <a:solidFill>
              <a:srgbClr val="FFC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zh-CN" altLang="en-US" sz="1800" dirty="0">
                <a:ea typeface="黑体" panose="02010609060101010101" pitchFamily="49" charset="-122"/>
                <a:cs typeface="Times New Roman" panose="02020603050405020304" pitchFamily="18" charset="0"/>
              </a:rPr>
              <a:t>信息中心</a:t>
            </a:r>
            <a:endParaRPr lang="zh-CN" altLang="en-US" sz="1800" dirty="0"/>
          </a:p>
        </p:txBody>
      </p:sp>
      <p:sp>
        <p:nvSpPr>
          <p:cNvPr id="23" name="Line 36">
            <a:extLst>
              <a:ext uri="{FF2B5EF4-FFF2-40B4-BE49-F238E27FC236}">
                <a16:creationId xmlns:a16="http://schemas.microsoft.com/office/drawing/2014/main" id="{D269E435-73EB-425E-AF92-D177B070CE12}"/>
              </a:ext>
            </a:extLst>
          </p:cNvPr>
          <p:cNvSpPr>
            <a:spLocks noChangeShapeType="1"/>
          </p:cNvSpPr>
          <p:nvPr/>
        </p:nvSpPr>
        <p:spPr bwMode="auto">
          <a:xfrm flipH="1">
            <a:off x="4034980" y="6507472"/>
            <a:ext cx="72712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3323" dirty="0">
              <a:ea typeface="黑体" panose="02010609060101010101" pitchFamily="49" charset="-122"/>
            </a:endParaRPr>
          </a:p>
        </p:txBody>
      </p:sp>
    </p:spTree>
    <p:extLst>
      <p:ext uri="{BB962C8B-B14F-4D97-AF65-F5344CB8AC3E}">
        <p14:creationId xmlns:p14="http://schemas.microsoft.com/office/powerpoint/2010/main" val="225434768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p:txBody>
          <a:bodyPr/>
          <a:lstStyle/>
          <a:p>
            <a:pPr>
              <a:lnSpc>
                <a:spcPct val="120000"/>
              </a:lnSpc>
              <a:defRPr/>
            </a:pPr>
            <a:r>
              <a:rPr lang="zh-CN" altLang="en-US" sz="3600" kern="1200" dirty="0">
                <a:latin typeface="黑体" panose="02010609060101010101" pitchFamily="49" charset="-122"/>
                <a:ea typeface="黑体" panose="02010609060101010101" pitchFamily="49" charset="-122"/>
                <a:cs typeface="+mn-cs"/>
              </a:rPr>
              <a:t>点割集的定义</a:t>
            </a:r>
          </a:p>
        </p:txBody>
      </p:sp>
      <mc:AlternateContent xmlns:mc="http://schemas.openxmlformats.org/markup-compatibility/2006" xmlns:a14="http://schemas.microsoft.com/office/drawing/2010/main">
        <mc:Choice Requires="a14">
          <p:sp>
            <p:nvSpPr>
              <p:cNvPr id="14339" name="Rectangle 3"/>
              <p:cNvSpPr>
                <a:spLocks noGrp="1" noChangeArrowheads="1"/>
              </p:cNvSpPr>
              <p:nvPr>
                <p:ph type="body" idx="1"/>
              </p:nvPr>
            </p:nvSpPr>
            <p:spPr>
              <a:xfrm>
                <a:off x="0" y="985838"/>
                <a:ext cx="9144000" cy="4921250"/>
              </a:xfrm>
            </p:spPr>
            <p:txBody>
              <a:bodyPr>
                <a:noAutofit/>
              </a:bodyPr>
              <a:lstStyle/>
              <a:p>
                <a:pPr algn="just" eaLnBrk="1" hangingPunct="1">
                  <a:lnSpc>
                    <a:spcPct val="120000"/>
                  </a:lnSpc>
                  <a:buClr>
                    <a:srgbClr val="0000FF"/>
                  </a:buClr>
                  <a:buSzPct val="80000"/>
                  <a:defRPr/>
                </a:pPr>
                <a:r>
                  <a:rPr lang="zh-CN" altLang="en-US" sz="2800" b="0" dirty="0">
                    <a:latin typeface="黑体" panose="02010609060101010101" pitchFamily="49" charset="-122"/>
                    <a:ea typeface="黑体" panose="02010609060101010101" pitchFamily="49" charset="-122"/>
                    <a:cs typeface="Times New Roman" panose="02020603050405020304" pitchFamily="18" charset="0"/>
                  </a:rPr>
                  <a:t>设无向图</a:t>
                </a:r>
                <a14:m>
                  <m:oMath xmlns:m="http://schemas.openxmlformats.org/officeDocument/2006/math">
                    <m:r>
                      <a:rPr lang="en-US" altLang="zh-CN" sz="2800" i="1" dirty="0">
                        <a:latin typeface="Cambria Math" panose="02040503050406030204" pitchFamily="18" charset="0"/>
                      </a:rPr>
                      <m:t>𝑮</m:t>
                    </m:r>
                    <m:r>
                      <a:rPr lang="en-US" altLang="zh-CN" sz="2800" b="0">
                        <a:latin typeface="Cambria Math" panose="02040503050406030204" pitchFamily="18" charset="0"/>
                      </a:rPr>
                      <m:t>=</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𝑽</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𝑬</m:t>
                    </m:r>
                    <m:r>
                      <a:rPr lang="en-US" altLang="zh-CN" sz="2800" i="1" smtClean="0">
                        <a:latin typeface="Cambria Math" panose="02040503050406030204" pitchFamily="18" charset="0"/>
                      </a:rPr>
                      <m:t>⟩</m:t>
                    </m:r>
                  </m:oMath>
                </a14:m>
                <a:r>
                  <a:rPr lang="zh-CN" altLang="en-US" sz="2800" b="0" dirty="0">
                    <a:latin typeface="黑体" panose="02010609060101010101" pitchFamily="49" charset="-122"/>
                    <a:ea typeface="黑体" panose="02010609060101010101" pitchFamily="49" charset="-122"/>
                    <a:cs typeface="Times New Roman" panose="02020603050405020304" pitchFamily="18" charset="0"/>
                  </a:rPr>
                  <a:t>为连通图</a:t>
                </a:r>
                <a:r>
                  <a:rPr lang="en-US" altLang="zh-CN" sz="2800" b="0" dirty="0">
                    <a:latin typeface="黑体" panose="02010609060101010101" pitchFamily="49" charset="-122"/>
                    <a:ea typeface="黑体" panose="02010609060101010101" pitchFamily="49" charset="-122"/>
                    <a:cs typeface="Times New Roman" panose="02020603050405020304" pitchFamily="18" charset="0"/>
                  </a:rPr>
                  <a:t>, </a:t>
                </a:r>
                <a:r>
                  <a:rPr lang="zh-CN" altLang="en-US" sz="2800" b="0" dirty="0">
                    <a:latin typeface="黑体" panose="02010609060101010101" pitchFamily="49" charset="-122"/>
                    <a:ea typeface="黑体" panose="02010609060101010101" pitchFamily="49" charset="-122"/>
                    <a:cs typeface="Times New Roman" panose="02020603050405020304" pitchFamily="18" charset="0"/>
                  </a:rPr>
                  <a:t>若有点集</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1" i="1" smtClean="0">
                            <a:latin typeface="Cambria Math" panose="02040503050406030204" pitchFamily="18" charset="0"/>
                          </a:rPr>
                          <m:t>𝑽</m:t>
                        </m:r>
                      </m:e>
                      <m:sub>
                        <m:r>
                          <a:rPr lang="en-US" altLang="zh-CN" sz="2800" b="1" i="1" smtClean="0">
                            <a:latin typeface="Cambria Math" panose="02040503050406030204" pitchFamily="18" charset="0"/>
                          </a:rPr>
                          <m:t>𝟏</m:t>
                        </m:r>
                      </m:sub>
                    </m:sSub>
                    <m:r>
                      <a:rPr lang="en-US" altLang="zh-CN" sz="2800"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𝑽</m:t>
                    </m:r>
                  </m:oMath>
                </a14:m>
                <a:r>
                  <a:rPr lang="en-US" altLang="zh-CN" sz="2800" b="0" dirty="0">
                    <a:latin typeface="黑体" panose="02010609060101010101" pitchFamily="49" charset="-122"/>
                    <a:ea typeface="黑体" panose="02010609060101010101" pitchFamily="49" charset="-122"/>
                    <a:cs typeface="Times New Roman" panose="02020603050405020304" pitchFamily="18" charset="0"/>
                  </a:rPr>
                  <a:t>,</a:t>
                </a:r>
                <a:r>
                  <a:rPr lang="en-US" altLang="zh-CN" sz="2800" b="0" i="1" dirty="0">
                    <a:latin typeface="黑体" panose="02010609060101010101" pitchFamily="49" charset="-122"/>
                    <a:ea typeface="黑体" panose="02010609060101010101" pitchFamily="49" charset="-122"/>
                    <a:cs typeface="Times New Roman" panose="02020603050405020304" pitchFamily="18" charset="0"/>
                  </a:rPr>
                  <a:t> </a:t>
                </a:r>
                <a:r>
                  <a:rPr lang="zh-CN" altLang="en-US" sz="2800" b="0" dirty="0">
                    <a:solidFill>
                      <a:srgbClr val="000066"/>
                    </a:solidFill>
                    <a:latin typeface="黑体" panose="02010609060101010101" pitchFamily="49" charset="-122"/>
                    <a:ea typeface="黑体" panose="02010609060101010101" pitchFamily="49" charset="-122"/>
                    <a:cs typeface="Times New Roman" panose="02020603050405020304" pitchFamily="18" charset="0"/>
                  </a:rPr>
                  <a:t>使</a:t>
                </a:r>
                <a:endParaRPr lang="en-US" altLang="zh-CN" sz="2800" b="0" dirty="0">
                  <a:solidFill>
                    <a:srgbClr val="000066"/>
                  </a:solidFill>
                  <a:latin typeface="黑体" panose="02010609060101010101" pitchFamily="49" charset="-122"/>
                  <a:ea typeface="黑体" panose="02010609060101010101" pitchFamily="49" charset="-122"/>
                  <a:cs typeface="Times New Roman" panose="02020603050405020304" pitchFamily="18" charset="0"/>
                </a:endParaRPr>
              </a:p>
              <a:p>
                <a:pPr lvl="1" algn="just">
                  <a:lnSpc>
                    <a:spcPct val="120000"/>
                  </a:lnSpc>
                  <a:buClr>
                    <a:srgbClr val="0000FF"/>
                  </a:buClr>
                  <a:buSzPct val="80000"/>
                  <a:buFont typeface="Wingdings" pitchFamily="2" charset="2"/>
                  <a:buChar char="ü"/>
                  <a:defRPr/>
                </a:pPr>
                <a:r>
                  <a:rPr lang="zh-CN" altLang="en-US" sz="2800" b="0" dirty="0">
                    <a:solidFill>
                      <a:schemeClr val="tx1"/>
                    </a:solidFill>
                    <a:latin typeface="黑体" panose="02010609060101010101" pitchFamily="49" charset="-122"/>
                    <a:ea typeface="黑体" panose="02010609060101010101" pitchFamily="49" charset="-122"/>
                    <a:cs typeface="Times New Roman" panose="02020603050405020304" pitchFamily="18" charset="0"/>
                  </a:rPr>
                  <a:t>图</a:t>
                </a:r>
                <a14:m>
                  <m:oMath xmlns:m="http://schemas.openxmlformats.org/officeDocument/2006/math">
                    <m:r>
                      <a:rPr lang="en-US" altLang="zh-CN" sz="2800" i="1" dirty="0">
                        <a:solidFill>
                          <a:schemeClr val="tx1"/>
                        </a:solidFill>
                        <a:latin typeface="Cambria Math" panose="02040503050406030204" pitchFamily="18" charset="0"/>
                      </a:rPr>
                      <m:t>𝑮</m:t>
                    </m:r>
                  </m:oMath>
                </a14:m>
                <a:r>
                  <a:rPr lang="zh-CN" altLang="en-US" sz="2800" b="0" dirty="0">
                    <a:solidFill>
                      <a:schemeClr val="tx1"/>
                    </a:solidFill>
                    <a:latin typeface="黑体" panose="02010609060101010101" pitchFamily="49" charset="-122"/>
                    <a:ea typeface="黑体" panose="02010609060101010101" pitchFamily="49" charset="-122"/>
                    <a:cs typeface="Times New Roman" panose="02020603050405020304" pitchFamily="18" charset="0"/>
                  </a:rPr>
                  <a:t>删除了</a:t>
                </a:r>
                <a14:m>
                  <m:oMath xmlns:m="http://schemas.openxmlformats.org/officeDocument/2006/math">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𝑽</m:t>
                        </m:r>
                      </m:e>
                      <m:sub>
                        <m:r>
                          <a:rPr lang="en-US" altLang="zh-CN" sz="2800" i="1">
                            <a:solidFill>
                              <a:schemeClr val="tx1"/>
                            </a:solidFill>
                            <a:latin typeface="Cambria Math" panose="02040503050406030204" pitchFamily="18" charset="0"/>
                          </a:rPr>
                          <m:t>𝟏</m:t>
                        </m:r>
                      </m:sub>
                    </m:sSub>
                  </m:oMath>
                </a14:m>
                <a:r>
                  <a:rPr lang="zh-CN" altLang="en-US" sz="2800" b="0" dirty="0">
                    <a:solidFill>
                      <a:schemeClr val="tx1"/>
                    </a:solidFill>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的所有结点后，所得的子图是</a:t>
                </a:r>
                <a:r>
                  <a:rPr lang="zh-CN" altLang="en-US" sz="2800" b="0" dirty="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不连通图</a:t>
                </a:r>
                <a:endParaRPr lang="en-US" altLang="zh-CN" sz="2800" b="0" dirty="0">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endParaRPr>
              </a:p>
              <a:p>
                <a:pPr lvl="1" algn="just">
                  <a:lnSpc>
                    <a:spcPct val="120000"/>
                  </a:lnSpc>
                  <a:buClr>
                    <a:srgbClr val="0000FF"/>
                  </a:buClr>
                  <a:buSzPct val="80000"/>
                  <a:buFont typeface="Wingdings" pitchFamily="2" charset="2"/>
                  <a:buChar char="ü"/>
                  <a:defRPr/>
                </a:pPr>
                <a:r>
                  <a:rPr lang="zh-CN" altLang="en-US" sz="2800" b="0" dirty="0">
                    <a:solidFill>
                      <a:schemeClr val="tx1"/>
                    </a:solidFill>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而删除了</a:t>
                </a:r>
                <a14:m>
                  <m:oMath xmlns:m="http://schemas.openxmlformats.org/officeDocument/2006/math">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𝑽</m:t>
                        </m:r>
                      </m:e>
                      <m:sub>
                        <m:r>
                          <a:rPr lang="en-US" altLang="zh-CN" sz="2800" i="1">
                            <a:solidFill>
                              <a:schemeClr val="tx1"/>
                            </a:solidFill>
                            <a:latin typeface="Cambria Math" panose="02040503050406030204" pitchFamily="18" charset="0"/>
                          </a:rPr>
                          <m:t>𝟏</m:t>
                        </m:r>
                      </m:sub>
                    </m:sSub>
                  </m:oMath>
                </a14:m>
                <a:r>
                  <a:rPr lang="zh-CN" altLang="en-US" sz="2800" b="0" dirty="0">
                    <a:solidFill>
                      <a:schemeClr val="tx1"/>
                    </a:solidFill>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的任意真子集后，所得到的子图仍是</a:t>
                </a:r>
                <a:r>
                  <a:rPr lang="zh-CN" altLang="en-US" sz="2800" b="0" dirty="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连通图</a:t>
                </a:r>
                <a:endParaRPr lang="en-US" altLang="zh-CN" sz="2800" b="0" dirty="0">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endParaRPr>
              </a:p>
              <a:p>
                <a:pPr marL="0" indent="0" algn="just" eaLnBrk="1" hangingPunct="1">
                  <a:lnSpc>
                    <a:spcPct val="120000"/>
                  </a:lnSpc>
                  <a:buClr>
                    <a:srgbClr val="0000FF"/>
                  </a:buClr>
                  <a:buSzPct val="80000"/>
                  <a:buNone/>
                  <a:defRPr/>
                </a:pPr>
                <a:r>
                  <a:rPr lang="zh-CN" altLang="en-US" sz="2800" b="0" dirty="0">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则称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𝑽</m:t>
                        </m:r>
                      </m:e>
                      <m:sub>
                        <m:r>
                          <a:rPr lang="en-US" altLang="zh-CN" sz="2800" i="1">
                            <a:latin typeface="Cambria Math" panose="02040503050406030204" pitchFamily="18" charset="0"/>
                          </a:rPr>
                          <m:t>𝟏</m:t>
                        </m:r>
                      </m:sub>
                    </m:sSub>
                  </m:oMath>
                </a14:m>
                <a:r>
                  <a:rPr lang="zh-CN" altLang="en-US" sz="2800" b="0" dirty="0">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是</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的一个点割集。</a:t>
                </a:r>
                <a:endParaRPr lang="en-US" altLang="zh-CN" sz="2800" b="0" dirty="0">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endParaRPr>
              </a:p>
            </p:txBody>
          </p:sp>
        </mc:Choice>
        <mc:Fallback xmlns="">
          <p:sp>
            <p:nvSpPr>
              <p:cNvPr id="14339" name="Rectangle 3"/>
              <p:cNvSpPr>
                <a:spLocks noGrp="1" noRot="1" noChangeAspect="1" noMove="1" noResize="1" noEditPoints="1" noAdjustHandles="1" noChangeArrowheads="1" noChangeShapeType="1" noTextEdit="1"/>
              </p:cNvSpPr>
              <p:nvPr>
                <p:ph type="body" idx="1"/>
              </p:nvPr>
            </p:nvSpPr>
            <p:spPr>
              <a:xfrm>
                <a:off x="0" y="985838"/>
                <a:ext cx="9144000" cy="4921250"/>
              </a:xfrm>
              <a:blipFill rotWithShape="0">
                <a:blip r:embed="rId3"/>
                <a:stretch>
                  <a:fillRect l="-1333" t="-991" r="-1333"/>
                </a:stretch>
              </a:blipFill>
            </p:spPr>
            <p:txBody>
              <a:bodyPr/>
              <a:lstStyle/>
              <a:p>
                <a:r>
                  <a:rPr lang="zh-CN" altLang="en-US">
                    <a:noFill/>
                  </a:rPr>
                  <a:t> </a:t>
                </a:r>
              </a:p>
            </p:txBody>
          </p:sp>
        </mc:Fallback>
      </mc:AlternateContent>
      <p:grpSp>
        <p:nvGrpSpPr>
          <p:cNvPr id="5" name="Group 21"/>
          <p:cNvGrpSpPr>
            <a:grpSpLocks/>
          </p:cNvGrpSpPr>
          <p:nvPr/>
        </p:nvGrpSpPr>
        <p:grpSpPr bwMode="auto">
          <a:xfrm>
            <a:off x="2777445" y="4615543"/>
            <a:ext cx="2741613" cy="533400"/>
            <a:chOff x="1585" y="3360"/>
            <a:chExt cx="1727" cy="336"/>
          </a:xfrm>
        </p:grpSpPr>
        <p:sp>
          <p:nvSpPr>
            <p:cNvPr id="6" name="Line 12"/>
            <p:cNvSpPr>
              <a:spLocks noChangeShapeType="1"/>
            </p:cNvSpPr>
            <p:nvPr/>
          </p:nvSpPr>
          <p:spPr bwMode="auto">
            <a:xfrm flipH="1">
              <a:off x="1585" y="3360"/>
              <a:ext cx="0" cy="336"/>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7" name="Line 13"/>
            <p:cNvSpPr>
              <a:spLocks noChangeShapeType="1"/>
            </p:cNvSpPr>
            <p:nvPr/>
          </p:nvSpPr>
          <p:spPr bwMode="auto">
            <a:xfrm>
              <a:off x="1585" y="3696"/>
              <a:ext cx="911"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8" name="Line 14"/>
            <p:cNvSpPr>
              <a:spLocks noChangeShapeType="1"/>
            </p:cNvSpPr>
            <p:nvPr/>
          </p:nvSpPr>
          <p:spPr bwMode="auto">
            <a:xfrm>
              <a:off x="1585" y="3360"/>
              <a:ext cx="1727"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0" name="Line 16"/>
            <p:cNvSpPr>
              <a:spLocks noChangeShapeType="1"/>
            </p:cNvSpPr>
            <p:nvPr/>
          </p:nvSpPr>
          <p:spPr bwMode="auto">
            <a:xfrm>
              <a:off x="2496" y="3696"/>
              <a:ext cx="384"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1" name="Line 17"/>
            <p:cNvSpPr>
              <a:spLocks noChangeShapeType="1"/>
            </p:cNvSpPr>
            <p:nvPr/>
          </p:nvSpPr>
          <p:spPr bwMode="auto">
            <a:xfrm>
              <a:off x="2880" y="3696"/>
              <a:ext cx="432"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2" name="Line 18"/>
            <p:cNvSpPr>
              <a:spLocks noChangeShapeType="1"/>
            </p:cNvSpPr>
            <p:nvPr/>
          </p:nvSpPr>
          <p:spPr bwMode="auto">
            <a:xfrm flipV="1">
              <a:off x="2880" y="3360"/>
              <a:ext cx="432" cy="336"/>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3" name="Line 19"/>
            <p:cNvSpPr>
              <a:spLocks noChangeShapeType="1"/>
            </p:cNvSpPr>
            <p:nvPr/>
          </p:nvSpPr>
          <p:spPr bwMode="auto">
            <a:xfrm>
              <a:off x="3312" y="3360"/>
              <a:ext cx="0" cy="336"/>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grpSp>
      <p:sp>
        <p:nvSpPr>
          <p:cNvPr id="18" name="Text Box 292"/>
          <p:cNvSpPr txBox="1">
            <a:spLocks noChangeArrowheads="1"/>
          </p:cNvSpPr>
          <p:nvPr/>
        </p:nvSpPr>
        <p:spPr bwMode="auto">
          <a:xfrm>
            <a:off x="3916423" y="4920343"/>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19" name="Text Box 292"/>
          <p:cNvSpPr txBox="1">
            <a:spLocks noChangeArrowheads="1"/>
          </p:cNvSpPr>
          <p:nvPr/>
        </p:nvSpPr>
        <p:spPr bwMode="auto">
          <a:xfrm>
            <a:off x="2458955" y="4479520"/>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Tree>
    <p:extLst>
      <p:ext uri="{BB962C8B-B14F-4D97-AF65-F5344CB8AC3E}">
        <p14:creationId xmlns:p14="http://schemas.microsoft.com/office/powerpoint/2010/main" val="41514427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p:txBody>
          <a:bodyPr/>
          <a:lstStyle/>
          <a:p>
            <a:pPr>
              <a:lnSpc>
                <a:spcPct val="120000"/>
              </a:lnSpc>
              <a:defRPr/>
            </a:pPr>
            <a:r>
              <a:rPr lang="zh-CN" altLang="en-US" sz="3600" kern="1200" dirty="0">
                <a:latin typeface="黑体" panose="02010609060101010101" pitchFamily="49" charset="-122"/>
                <a:ea typeface="黑体" panose="02010609060101010101" pitchFamily="49" charset="-122"/>
                <a:cs typeface="+mn-cs"/>
              </a:rPr>
              <a:t>点割集的定义</a:t>
            </a:r>
          </a:p>
        </p:txBody>
      </p:sp>
      <mc:AlternateContent xmlns:mc="http://schemas.openxmlformats.org/markup-compatibility/2006" xmlns:a14="http://schemas.microsoft.com/office/drawing/2010/main">
        <mc:Choice Requires="a14">
          <p:sp>
            <p:nvSpPr>
              <p:cNvPr id="14339" name="Rectangle 3"/>
              <p:cNvSpPr>
                <a:spLocks noGrp="1" noChangeArrowheads="1"/>
              </p:cNvSpPr>
              <p:nvPr>
                <p:ph type="body" idx="1"/>
              </p:nvPr>
            </p:nvSpPr>
            <p:spPr>
              <a:xfrm>
                <a:off x="0" y="985838"/>
                <a:ext cx="9144000" cy="4921250"/>
              </a:xfrm>
            </p:spPr>
            <p:txBody>
              <a:bodyPr>
                <a:noAutofit/>
              </a:bodyPr>
              <a:lstStyle/>
              <a:p>
                <a:pPr algn="just" eaLnBrk="1" hangingPunct="1">
                  <a:lnSpc>
                    <a:spcPct val="120000"/>
                  </a:lnSpc>
                  <a:buClr>
                    <a:srgbClr val="0000FF"/>
                  </a:buClr>
                  <a:buSzPct val="80000"/>
                  <a:defRPr/>
                </a:pPr>
                <a:r>
                  <a:rPr lang="zh-CN" altLang="en-US" sz="2800" b="0" dirty="0">
                    <a:latin typeface="黑体" panose="02010609060101010101" pitchFamily="49" charset="-122"/>
                    <a:ea typeface="黑体" panose="02010609060101010101" pitchFamily="49" charset="-122"/>
                    <a:cs typeface="Times New Roman" panose="02020603050405020304" pitchFamily="18" charset="0"/>
                  </a:rPr>
                  <a:t>形式表示为：</a:t>
                </a:r>
                <a:endParaRPr lang="en-US" altLang="zh-CN" sz="2800" b="0" dirty="0">
                  <a:latin typeface="黑体" panose="02010609060101010101" pitchFamily="49" charset="-122"/>
                  <a:ea typeface="黑体" panose="02010609060101010101" pitchFamily="49" charset="-122"/>
                  <a:cs typeface="Times New Roman" panose="02020603050405020304" pitchFamily="18" charset="0"/>
                </a:endParaRPr>
              </a:p>
              <a:p>
                <a:pPr marL="400050" lvl="1" indent="0" algn="just" eaLnBrk="1" hangingPunct="1">
                  <a:lnSpc>
                    <a:spcPct val="120000"/>
                  </a:lnSpc>
                  <a:buClr>
                    <a:srgbClr val="0000FF"/>
                  </a:buClr>
                  <a:buSzPct val="80000"/>
                  <a:buNone/>
                  <a:defRPr/>
                </a:pPr>
                <a:r>
                  <a:rPr lang="zh-CN" altLang="en-US" b="0" dirty="0">
                    <a:latin typeface="黑体" panose="02010609060101010101" pitchFamily="49" charset="-122"/>
                    <a:ea typeface="黑体" panose="02010609060101010101" pitchFamily="49" charset="-122"/>
                    <a:cs typeface="Times New Roman" panose="02020603050405020304" pitchFamily="18" charset="0"/>
                  </a:rPr>
                  <a:t>若分支数</a:t>
                </a:r>
                <a14:m>
                  <m:oMath xmlns:m="http://schemas.openxmlformats.org/officeDocument/2006/math">
                    <m:r>
                      <a:rPr lang="en-US" altLang="zh-CN" i="1">
                        <a:latin typeface="Cambria Math" panose="02040503050406030204" pitchFamily="18" charset="0"/>
                      </a:rPr>
                      <m:t>𝑾</m:t>
                    </m:r>
                    <m:d>
                      <m:dPr>
                        <m:ctrlPr>
                          <a:rPr lang="en-US" altLang="zh-CN" b="0" i="1" smtClean="0">
                            <a:latin typeface="Cambria Math" panose="02040503050406030204" pitchFamily="18" charset="0"/>
                            <a:sym typeface="Symbol" panose="05050102010706020507" pitchFamily="18" charset="2"/>
                          </a:rPr>
                        </m:ctrlPr>
                      </m:dPr>
                      <m:e>
                        <m:r>
                          <a:rPr lang="en-US" altLang="zh-CN" b="1" i="1" smtClean="0">
                            <a:latin typeface="Cambria Math" panose="02040503050406030204" pitchFamily="18" charset="0"/>
                            <a:sym typeface="Symbol" panose="05050102010706020507" pitchFamily="18" charset="2"/>
                          </a:rPr>
                          <m:t>𝑮</m:t>
                        </m:r>
                        <m:r>
                          <a:rPr lang="en-US" altLang="zh-CN" b="1" i="1" smtClean="0">
                            <a:latin typeface="Cambria Math" panose="02040503050406030204" pitchFamily="18" charset="0"/>
                            <a:sym typeface="Symbol" panose="05050102010706020507" pitchFamily="18" charset="2"/>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𝑽</m:t>
                            </m:r>
                          </m:e>
                          <m:sub>
                            <m:r>
                              <a:rPr lang="en-US" altLang="zh-CN" i="1">
                                <a:latin typeface="Cambria Math" panose="02040503050406030204" pitchFamily="18" charset="0"/>
                              </a:rPr>
                              <m:t>𝟏</m:t>
                            </m:r>
                          </m:sub>
                        </m:sSub>
                      </m:e>
                    </m:d>
                    <m:r>
                      <a:rPr lang="en-US" altLang="zh-CN" b="1" i="1" smtClean="0">
                        <a:latin typeface="Cambria Math" panose="02040503050406030204" pitchFamily="18" charset="0"/>
                      </a:rPr>
                      <m:t>&gt;</m:t>
                    </m:r>
                    <m:r>
                      <a:rPr lang="en-US" altLang="zh-CN" b="1" i="1" smtClean="0">
                        <a:latin typeface="Cambria Math" panose="02040503050406030204" pitchFamily="18" charset="0"/>
                      </a:rPr>
                      <m:t>𝑾</m:t>
                    </m:r>
                    <m:r>
                      <a:rPr lang="en-US" altLang="zh-CN" b="1" i="1" smtClean="0">
                        <a:latin typeface="Cambria Math" panose="02040503050406030204" pitchFamily="18" charset="0"/>
                      </a:rPr>
                      <m:t>(</m:t>
                    </m:r>
                    <m:r>
                      <a:rPr lang="en-US" altLang="zh-CN" b="1" i="1" smtClean="0">
                        <a:latin typeface="Cambria Math" panose="02040503050406030204" pitchFamily="18" charset="0"/>
                      </a:rPr>
                      <m:t>𝑮</m:t>
                    </m:r>
                    <m:r>
                      <a:rPr lang="en-US" altLang="zh-CN" b="1" i="1" smtClean="0">
                        <a:latin typeface="Cambria Math" panose="02040503050406030204" pitchFamily="18" charset="0"/>
                      </a:rPr>
                      <m:t>)</m:t>
                    </m:r>
                  </m:oMath>
                </a14:m>
                <a:r>
                  <a:rPr lang="en-US" altLang="zh-CN" b="0" dirty="0">
                    <a:solidFill>
                      <a:srgbClr val="000066"/>
                    </a:solidFill>
                    <a:latin typeface="黑体" panose="02010609060101010101" pitchFamily="49" charset="-122"/>
                    <a:ea typeface="黑体" panose="02010609060101010101" pitchFamily="49" charset="-122"/>
                    <a:cs typeface="Times New Roman" panose="02020603050405020304" pitchFamily="18" charset="0"/>
                  </a:rPr>
                  <a:t> </a:t>
                </a:r>
                <a:r>
                  <a:rPr lang="zh-CN" altLang="en-US" b="0" dirty="0">
                    <a:latin typeface="黑体" panose="02010609060101010101" pitchFamily="49" charset="-122"/>
                    <a:ea typeface="黑体" panose="02010609060101010101" pitchFamily="49" charset="-122"/>
                    <a:cs typeface="Times New Roman" panose="02020603050405020304" pitchFamily="18" charset="0"/>
                  </a:rPr>
                  <a:t>且</a:t>
                </a:r>
                <a14:m>
                  <m:oMath xmlns:m="http://schemas.openxmlformats.org/officeDocument/2006/math">
                    <m:sSub>
                      <m:sSubPr>
                        <m:ctrlPr>
                          <a:rPr lang="en-US" altLang="zh-CN" i="1">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𝑽</m:t>
                        </m:r>
                        <m:r>
                          <a:rPr lang="en-US" altLang="zh-CN" b="1"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𝑽</m:t>
                        </m:r>
                      </m:e>
                      <m:sub>
                        <m:r>
                          <a:rPr lang="en-US" altLang="zh-CN" i="1">
                            <a:latin typeface="Cambria Math" panose="02040503050406030204" pitchFamily="18" charset="0"/>
                          </a:rPr>
                          <m:t>𝟏</m:t>
                        </m:r>
                      </m:sub>
                    </m:sSub>
                  </m:oMath>
                </a14:m>
                <a:r>
                  <a:rPr lang="en-US" altLang="zh-CN" b="0" dirty="0">
                    <a:solidFill>
                      <a:srgbClr val="000066"/>
                    </a:solidFill>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a:t>
                </a:r>
                <a:r>
                  <a:rPr lang="en-US" altLang="zh-CN" dirty="0"/>
                  <a:t> </a:t>
                </a:r>
                <a14:m>
                  <m:oMath xmlns:m="http://schemas.openxmlformats.org/officeDocument/2006/math">
                    <m:r>
                      <a:rPr lang="en-US" altLang="zh-CN" i="1">
                        <a:latin typeface="Cambria Math" panose="02040503050406030204" pitchFamily="18" charset="0"/>
                      </a:rPr>
                      <m:t>𝑾</m:t>
                    </m:r>
                    <m:d>
                      <m:dPr>
                        <m:ctrlPr>
                          <a:rPr lang="en-US" altLang="zh-CN" b="0" i="1">
                            <a:latin typeface="Cambria Math" panose="02040503050406030204" pitchFamily="18" charset="0"/>
                            <a:sym typeface="Symbol" panose="05050102010706020507" pitchFamily="18" charset="2"/>
                          </a:rPr>
                        </m:ctrlPr>
                      </m:dPr>
                      <m:e>
                        <m:r>
                          <a:rPr lang="en-US" altLang="zh-CN" i="1">
                            <a:latin typeface="Cambria Math" panose="02040503050406030204" pitchFamily="18" charset="0"/>
                            <a:sym typeface="Symbol" panose="05050102010706020507" pitchFamily="18" charset="2"/>
                          </a:rPr>
                          <m:t>𝑮</m:t>
                        </m:r>
                        <m:r>
                          <a:rPr lang="en-US" altLang="zh-CN" i="1">
                            <a:latin typeface="Cambria Math" panose="02040503050406030204" pitchFamily="18" charset="0"/>
                            <a:sym typeface="Symbol" panose="05050102010706020507" pitchFamily="18" charset="2"/>
                          </a:rPr>
                          <m:t>−</m:t>
                        </m:r>
                        <m:r>
                          <a:rPr lang="en-US" altLang="zh-CN" b="1" i="1" smtClean="0">
                            <a:latin typeface="Cambria Math" panose="02040503050406030204" pitchFamily="18" charset="0"/>
                            <a:sym typeface="Symbol" panose="05050102010706020507" pitchFamily="18" charset="2"/>
                          </a:rPr>
                          <m:t>𝑽</m:t>
                        </m:r>
                        <m:r>
                          <a:rPr lang="en-US" altLang="zh-CN" b="1" i="1" smtClean="0">
                            <a:latin typeface="Cambria Math" panose="02040503050406030204" pitchFamily="18" charset="0"/>
                            <a:sym typeface="Symbol" panose="05050102010706020507" pitchFamily="18" charset="2"/>
                          </a:rPr>
                          <m:t>′</m:t>
                        </m:r>
                      </m:e>
                    </m:d>
                    <m:r>
                      <a:rPr lang="en-US" altLang="zh-CN" b="1" i="1" smtClean="0">
                        <a:latin typeface="Cambria Math" panose="02040503050406030204" pitchFamily="18" charset="0"/>
                      </a:rPr>
                      <m:t>=</m:t>
                    </m:r>
                    <m:r>
                      <a:rPr lang="en-US" altLang="zh-CN" i="1">
                        <a:latin typeface="Cambria Math" panose="02040503050406030204" pitchFamily="18" charset="0"/>
                      </a:rPr>
                      <m:t>𝑾</m:t>
                    </m:r>
                    <m:r>
                      <a:rPr lang="en-US" altLang="zh-CN" i="1">
                        <a:latin typeface="Cambria Math" panose="02040503050406030204" pitchFamily="18" charset="0"/>
                      </a:rPr>
                      <m:t>(</m:t>
                    </m:r>
                    <m:r>
                      <a:rPr lang="en-US" altLang="zh-CN" i="1">
                        <a:latin typeface="Cambria Math" panose="02040503050406030204" pitchFamily="18" charset="0"/>
                      </a:rPr>
                      <m:t>𝑮</m:t>
                    </m:r>
                    <m:r>
                      <a:rPr lang="en-US" altLang="zh-CN" i="1">
                        <a:latin typeface="Cambria Math" panose="02040503050406030204" pitchFamily="18" charset="0"/>
                      </a:rPr>
                      <m:t>)</m:t>
                    </m:r>
                  </m:oMath>
                </a14:m>
                <a:r>
                  <a:rPr lang="en-US" altLang="zh-CN" b="0" dirty="0">
                    <a:solidFill>
                      <a:srgbClr val="000066"/>
                    </a:solidFill>
                    <a:latin typeface="黑体" panose="02010609060101010101" pitchFamily="49" charset="-122"/>
                    <a:ea typeface="黑体" panose="02010609060101010101" pitchFamily="49" charset="-122"/>
                    <a:cs typeface="Times New Roman" panose="02020603050405020304" pitchFamily="18" charset="0"/>
                  </a:rPr>
                  <a:t>,</a:t>
                </a:r>
                <a:r>
                  <a:rPr lang="zh-CN" altLang="en-US" b="0" dirty="0">
                    <a:latin typeface="黑体" panose="02010609060101010101" pitchFamily="49" charset="-122"/>
                    <a:ea typeface="黑体" panose="02010609060101010101" pitchFamily="49" charset="-122"/>
                    <a:cs typeface="Times New Roman" panose="02020603050405020304" pitchFamily="18" charset="0"/>
                  </a:rPr>
                  <a:t>则称</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𝑽</m:t>
                        </m:r>
                      </m:e>
                      <m:sub>
                        <m:r>
                          <a:rPr lang="en-US" altLang="zh-CN" i="1">
                            <a:solidFill>
                              <a:schemeClr val="tx1"/>
                            </a:solidFill>
                            <a:latin typeface="Cambria Math" panose="02040503050406030204" pitchFamily="18" charset="0"/>
                          </a:rPr>
                          <m:t>𝟏</m:t>
                        </m:r>
                      </m:sub>
                    </m:sSub>
                  </m:oMath>
                </a14:m>
                <a:r>
                  <a:rPr lang="zh-CN" altLang="en-US" b="0" dirty="0">
                    <a:solidFill>
                      <a:schemeClr val="tx1"/>
                    </a:solidFill>
                    <a:latin typeface="黑体" panose="02010609060101010101" pitchFamily="49" charset="-122"/>
                    <a:ea typeface="黑体" panose="02010609060101010101" pitchFamily="49" charset="-122"/>
                    <a:cs typeface="Times New Roman" panose="02020603050405020304" pitchFamily="18" charset="0"/>
                  </a:rPr>
                  <a:t>为</a:t>
                </a:r>
                <a14:m>
                  <m:oMath xmlns:m="http://schemas.openxmlformats.org/officeDocument/2006/math">
                    <m:r>
                      <a:rPr lang="en-US" altLang="zh-CN" i="1">
                        <a:solidFill>
                          <a:schemeClr val="tx1"/>
                        </a:solidFill>
                        <a:latin typeface="Cambria Math" panose="02040503050406030204" pitchFamily="18" charset="0"/>
                        <a:sym typeface="Symbol" panose="05050102010706020507" pitchFamily="18" charset="2"/>
                      </a:rPr>
                      <m:t>𝑮</m:t>
                    </m:r>
                  </m:oMath>
                </a14:m>
                <a:r>
                  <a:rPr lang="zh-CN" altLang="en-US" b="0" dirty="0">
                    <a:solidFill>
                      <a:schemeClr val="tx1"/>
                    </a:solidFill>
                    <a:latin typeface="黑体" panose="02010609060101010101" pitchFamily="49" charset="-122"/>
                    <a:ea typeface="黑体" panose="02010609060101010101" pitchFamily="49" charset="-122"/>
                    <a:cs typeface="Times New Roman" panose="02020603050405020304" pitchFamily="18" charset="0"/>
                  </a:rPr>
                  <a:t>的点割集</a:t>
                </a:r>
                <a:r>
                  <a:rPr lang="zh-CN" altLang="en-US" b="0" dirty="0">
                    <a:latin typeface="黑体" panose="02010609060101010101" pitchFamily="49" charset="-122"/>
                    <a:ea typeface="黑体" panose="02010609060101010101" pitchFamily="49" charset="-122"/>
                    <a:cs typeface="Times New Roman" panose="02020603050405020304" pitchFamily="18" charset="0"/>
                  </a:rPr>
                  <a:t>。</a:t>
                </a:r>
                <a:endParaRPr lang="en-US" altLang="zh-CN" b="0" dirty="0">
                  <a:latin typeface="黑体" panose="02010609060101010101" pitchFamily="49" charset="-122"/>
                  <a:ea typeface="黑体" panose="02010609060101010101" pitchFamily="49" charset="-122"/>
                  <a:cs typeface="Times New Roman" panose="02020603050405020304" pitchFamily="18" charset="0"/>
                </a:endParaRPr>
              </a:p>
              <a:p>
                <a:pPr algn="just" eaLnBrk="1" hangingPunct="1">
                  <a:lnSpc>
                    <a:spcPct val="120000"/>
                  </a:lnSpc>
                  <a:buClr>
                    <a:srgbClr val="0000FF"/>
                  </a:buClr>
                  <a:buSzPct val="80000"/>
                  <a:defRPr/>
                </a:pPr>
                <a:r>
                  <a:rPr lang="zh-CN" altLang="en-US" sz="2800" b="0" dirty="0">
                    <a:latin typeface="黑体" panose="02010609060101010101" pitchFamily="49" charset="-122"/>
                    <a:ea typeface="黑体" panose="02010609060101010101" pitchFamily="49" charset="-122"/>
                    <a:cs typeface="Times New Roman" panose="02020603050405020304" pitchFamily="18" charset="0"/>
                  </a:rPr>
                  <a:t>若</a:t>
                </a:r>
                <a14:m>
                  <m:oMath xmlns:m="http://schemas.openxmlformats.org/officeDocument/2006/math">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1" i="1" smtClean="0">
                        <a:latin typeface="Cambria Math" panose="02040503050406030204" pitchFamily="18" charset="0"/>
                        <a:ea typeface="黑体" panose="02010609060101010101" pitchFamily="49" charset="-122"/>
                        <a:cs typeface="Times New Roman" panose="02020603050405020304" pitchFamily="18" charset="0"/>
                      </a:rPr>
                      <m:t>𝒗</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oMath>
                </a14:m>
                <a:r>
                  <a:rPr lang="en-US" altLang="zh-CN" sz="2800" b="0" dirty="0">
                    <a:latin typeface="黑体" panose="02010609060101010101" pitchFamily="49" charset="-122"/>
                    <a:ea typeface="黑体" panose="02010609060101010101" pitchFamily="49" charset="-122"/>
                    <a:cs typeface="Times New Roman" panose="02020603050405020304" pitchFamily="18" charset="0"/>
                  </a:rPr>
                  <a:t> </a:t>
                </a:r>
                <a:r>
                  <a:rPr lang="zh-CN" altLang="en-US" sz="2800" b="0" dirty="0">
                    <a:latin typeface="黑体" panose="02010609060101010101" pitchFamily="49" charset="-122"/>
                    <a:ea typeface="黑体" panose="02010609060101010101" pitchFamily="49" charset="-122"/>
                    <a:cs typeface="Times New Roman" panose="02020603050405020304" pitchFamily="18" charset="0"/>
                  </a:rPr>
                  <a:t>为点割集</a:t>
                </a:r>
                <a:r>
                  <a:rPr lang="en-US" altLang="zh-CN" sz="2800" b="0" dirty="0">
                    <a:latin typeface="黑体" panose="02010609060101010101" pitchFamily="49" charset="-122"/>
                    <a:ea typeface="黑体" panose="02010609060101010101" pitchFamily="49" charset="-122"/>
                    <a:cs typeface="Times New Roman" panose="02020603050405020304" pitchFamily="18" charset="0"/>
                  </a:rPr>
                  <a:t>, </a:t>
                </a:r>
                <a:r>
                  <a:rPr lang="zh-CN" altLang="en-US" sz="2800" b="0" dirty="0">
                    <a:latin typeface="黑体" panose="02010609060101010101" pitchFamily="49" charset="-122"/>
                    <a:ea typeface="黑体" panose="02010609060101010101" pitchFamily="49" charset="-122"/>
                    <a:cs typeface="Times New Roman" panose="02020603050405020304" pitchFamily="18" charset="0"/>
                  </a:rPr>
                  <a:t>则称</a:t>
                </a:r>
                <a14:m>
                  <m:oMath xmlns:m="http://schemas.openxmlformats.org/officeDocument/2006/math">
                    <m:r>
                      <a:rPr lang="en-US" altLang="zh-CN" sz="2800" b="1" i="1" smtClean="0">
                        <a:latin typeface="Cambria Math" panose="02040503050406030204" pitchFamily="18" charset="0"/>
                        <a:sym typeface="Symbol" panose="05050102010706020507" pitchFamily="18" charset="2"/>
                      </a:rPr>
                      <m:t>𝒗</m:t>
                    </m:r>
                    <m:r>
                      <a:rPr lang="en-US" altLang="zh-CN" sz="2800" i="1">
                        <a:latin typeface="Cambria Math" panose="02040503050406030204" pitchFamily="18" charset="0"/>
                        <a:sym typeface="Symbol" panose="05050102010706020507" pitchFamily="18" charset="2"/>
                      </a:rPr>
                      <m:t> </m:t>
                    </m:r>
                  </m:oMath>
                </a14:m>
                <a:r>
                  <a:rPr lang="zh-CN" altLang="en-US" sz="2800" b="0" dirty="0">
                    <a:latin typeface="黑体" panose="02010609060101010101" pitchFamily="49" charset="-122"/>
                    <a:ea typeface="黑体" panose="02010609060101010101" pitchFamily="49" charset="-122"/>
                    <a:cs typeface="Times New Roman" panose="02020603050405020304" pitchFamily="18" charset="0"/>
                  </a:rPr>
                  <a:t>为割点</a:t>
                </a:r>
                <a:r>
                  <a:rPr lang="en-US" altLang="zh-CN" sz="2800" b="0" dirty="0">
                    <a:latin typeface="黑体" panose="02010609060101010101" pitchFamily="49" charset="-122"/>
                    <a:ea typeface="黑体" panose="02010609060101010101" pitchFamily="49" charset="-122"/>
                    <a:cs typeface="Times New Roman" panose="02020603050405020304" pitchFamily="18" charset="0"/>
                  </a:rPr>
                  <a:t>.</a:t>
                </a:r>
              </a:p>
            </p:txBody>
          </p:sp>
        </mc:Choice>
        <mc:Fallback xmlns="">
          <p:sp>
            <p:nvSpPr>
              <p:cNvPr id="14339" name="Rectangle 3"/>
              <p:cNvSpPr>
                <a:spLocks noGrp="1" noRot="1" noChangeAspect="1" noMove="1" noResize="1" noEditPoints="1" noAdjustHandles="1" noChangeArrowheads="1" noChangeShapeType="1" noTextEdit="1"/>
              </p:cNvSpPr>
              <p:nvPr>
                <p:ph type="body" idx="1"/>
              </p:nvPr>
            </p:nvSpPr>
            <p:spPr>
              <a:xfrm>
                <a:off x="0" y="985838"/>
                <a:ext cx="9144000" cy="4921250"/>
              </a:xfrm>
              <a:blipFill rotWithShape="0">
                <a:blip r:embed="rId3"/>
                <a:stretch>
                  <a:fillRect l="-733" t="-991" r="-1000"/>
                </a:stretch>
              </a:blipFill>
            </p:spPr>
            <p:txBody>
              <a:bodyPr/>
              <a:lstStyle/>
              <a:p>
                <a:r>
                  <a:rPr lang="zh-CN" altLang="en-US">
                    <a:noFill/>
                  </a:rPr>
                  <a:t> </a:t>
                </a:r>
              </a:p>
            </p:txBody>
          </p:sp>
        </mc:Fallback>
      </mc:AlternateContent>
      <p:grpSp>
        <p:nvGrpSpPr>
          <p:cNvPr id="4" name="Group 21"/>
          <p:cNvGrpSpPr>
            <a:grpSpLocks/>
          </p:cNvGrpSpPr>
          <p:nvPr/>
        </p:nvGrpSpPr>
        <p:grpSpPr bwMode="auto">
          <a:xfrm>
            <a:off x="1937657" y="4615543"/>
            <a:ext cx="3657600" cy="533400"/>
            <a:chOff x="1056" y="3360"/>
            <a:chExt cx="2304" cy="336"/>
          </a:xfrm>
        </p:grpSpPr>
        <p:sp>
          <p:nvSpPr>
            <p:cNvPr id="5" name="Line 12"/>
            <p:cNvSpPr>
              <a:spLocks noChangeShapeType="1"/>
            </p:cNvSpPr>
            <p:nvPr/>
          </p:nvSpPr>
          <p:spPr bwMode="auto">
            <a:xfrm flipH="1">
              <a:off x="1056" y="3408"/>
              <a:ext cx="480" cy="24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6" name="Line 13"/>
            <p:cNvSpPr>
              <a:spLocks noChangeShapeType="1"/>
            </p:cNvSpPr>
            <p:nvPr/>
          </p:nvSpPr>
          <p:spPr bwMode="auto">
            <a:xfrm>
              <a:off x="1056" y="3648"/>
              <a:ext cx="1440" cy="48"/>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7" name="Line 14"/>
            <p:cNvSpPr>
              <a:spLocks noChangeShapeType="1"/>
            </p:cNvSpPr>
            <p:nvPr/>
          </p:nvSpPr>
          <p:spPr bwMode="auto">
            <a:xfrm>
              <a:off x="1536" y="3408"/>
              <a:ext cx="960" cy="288"/>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8" name="Line 16"/>
            <p:cNvSpPr>
              <a:spLocks noChangeShapeType="1"/>
            </p:cNvSpPr>
            <p:nvPr/>
          </p:nvSpPr>
          <p:spPr bwMode="auto">
            <a:xfrm>
              <a:off x="2496" y="3696"/>
              <a:ext cx="384"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9" name="Line 17"/>
            <p:cNvSpPr>
              <a:spLocks noChangeShapeType="1"/>
            </p:cNvSpPr>
            <p:nvPr/>
          </p:nvSpPr>
          <p:spPr bwMode="auto">
            <a:xfrm>
              <a:off x="2880" y="3696"/>
              <a:ext cx="480"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0" name="Line 18"/>
            <p:cNvSpPr>
              <a:spLocks noChangeShapeType="1"/>
            </p:cNvSpPr>
            <p:nvPr/>
          </p:nvSpPr>
          <p:spPr bwMode="auto">
            <a:xfrm flipV="1">
              <a:off x="2880" y="3360"/>
              <a:ext cx="432" cy="336"/>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1" name="Line 19"/>
            <p:cNvSpPr>
              <a:spLocks noChangeShapeType="1"/>
            </p:cNvSpPr>
            <p:nvPr/>
          </p:nvSpPr>
          <p:spPr bwMode="auto">
            <a:xfrm>
              <a:off x="3312" y="3360"/>
              <a:ext cx="48" cy="336"/>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grpSp>
      <p:sp>
        <p:nvSpPr>
          <p:cNvPr id="12" name="Text Box 292"/>
          <p:cNvSpPr txBox="1">
            <a:spLocks noChangeArrowheads="1"/>
          </p:cNvSpPr>
          <p:nvPr/>
        </p:nvSpPr>
        <p:spPr bwMode="auto">
          <a:xfrm>
            <a:off x="3916423" y="4920343"/>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Tree>
    <p:extLst>
      <p:ext uri="{BB962C8B-B14F-4D97-AF65-F5344CB8AC3E}">
        <p14:creationId xmlns:p14="http://schemas.microsoft.com/office/powerpoint/2010/main" val="413997057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3"/>
          <p:cNvSpPr>
            <a:spLocks noGrp="1" noChangeArrowheads="1"/>
          </p:cNvSpPr>
          <p:nvPr>
            <p:ph type="body" idx="1"/>
          </p:nvPr>
        </p:nvSpPr>
        <p:spPr>
          <a:xfrm>
            <a:off x="1119188" y="146911"/>
            <a:ext cx="3878262" cy="590550"/>
          </a:xfrm>
        </p:spPr>
        <p:txBody>
          <a:bodyPr wrap="none">
            <a:spAutoFit/>
          </a:bodyPr>
          <a:lstStyle/>
          <a:p>
            <a:pPr marL="0" indent="0">
              <a:lnSpc>
                <a:spcPct val="120000"/>
              </a:lnSpc>
              <a:spcBef>
                <a:spcPct val="0"/>
              </a:spcBef>
              <a:buFont typeface="Wingdings" panose="05000000000000000000" pitchFamily="2" charset="2"/>
              <a:buNone/>
            </a:pPr>
            <a:r>
              <a:rPr lang="zh-CN" altLang="en-US" sz="3600" dirty="0">
                <a:solidFill>
                  <a:srgbClr val="FF0000"/>
                </a:solidFill>
                <a:latin typeface="黑体" panose="02010609060101010101" pitchFamily="49" charset="-122"/>
                <a:ea typeface="黑体" panose="02010609060101010101" pitchFamily="49" charset="-122"/>
              </a:rPr>
              <a:t>例</a:t>
            </a:r>
            <a:r>
              <a:rPr lang="en-US" altLang="zh-CN" sz="3600" dirty="0">
                <a:solidFill>
                  <a:srgbClr val="FF0000"/>
                </a:solidFill>
                <a:latin typeface="黑体" panose="02010609060101010101" pitchFamily="49" charset="-122"/>
                <a:ea typeface="黑体" panose="02010609060101010101" pitchFamily="49" charset="-122"/>
              </a:rPr>
              <a:t>1</a:t>
            </a:r>
            <a:r>
              <a:rPr lang="zh-CN" altLang="en-US" sz="3600" dirty="0">
                <a:solidFill>
                  <a:srgbClr val="FF0000"/>
                </a:solidFill>
                <a:latin typeface="黑体" panose="02010609060101010101" pitchFamily="49" charset="-122"/>
                <a:ea typeface="黑体" panose="02010609060101010101" pitchFamily="49" charset="-122"/>
              </a:rPr>
              <a:t> 求下图的割点</a:t>
            </a:r>
          </a:p>
        </p:txBody>
      </p:sp>
      <p:pic>
        <p:nvPicPr>
          <p:cNvPr id="138243" name="Picture 4" descr="图7-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95363" y="1371600"/>
            <a:ext cx="2181225"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3317" name="AutoShape 5"/>
          <p:cNvSpPr>
            <a:spLocks noChangeArrowheads="1"/>
          </p:cNvSpPr>
          <p:nvPr/>
        </p:nvSpPr>
        <p:spPr bwMode="auto">
          <a:xfrm>
            <a:off x="3457575" y="2146300"/>
            <a:ext cx="1828800" cy="447675"/>
          </a:xfrm>
          <a:prstGeom prst="rightArrow">
            <a:avLst>
              <a:gd name="adj1" fmla="val 50000"/>
              <a:gd name="adj2" fmla="val 10196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3323" dirty="0">
              <a:ea typeface="黑体" panose="02010609060101010101" pitchFamily="49" charset="-122"/>
            </a:endParaRPr>
          </a:p>
        </p:txBody>
      </p:sp>
      <p:pic>
        <p:nvPicPr>
          <p:cNvPr id="653318" name="Picture 6" descr="图7-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38800" y="1301750"/>
            <a:ext cx="1617663"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53319" name="Text Box 7"/>
              <p:cNvSpPr txBox="1">
                <a:spLocks noChangeArrowheads="1"/>
              </p:cNvSpPr>
              <p:nvPr/>
            </p:nvSpPr>
            <p:spPr bwMode="auto">
              <a:xfrm>
                <a:off x="3513138" y="1706563"/>
                <a:ext cx="1672637" cy="490134"/>
              </a:xfrm>
              <a:prstGeom prst="rect">
                <a:avLst/>
              </a:prstGeom>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zh-CN" altLang="en-US" sz="2585" dirty="0">
                    <a:ea typeface="黑体" panose="02010609060101010101" pitchFamily="49" charset="-122"/>
                  </a:rPr>
                  <a:t>删除结点</a:t>
                </a:r>
                <a14:m>
                  <m:oMath xmlns:m="http://schemas.openxmlformats.org/officeDocument/2006/math">
                    <m:r>
                      <a:rPr lang="en-US" altLang="zh-CN" sz="2585" b="1" i="1" smtClean="0">
                        <a:latin typeface="Cambria Math" panose="02040503050406030204" pitchFamily="18" charset="0"/>
                      </a:rPr>
                      <m:t>𝒔</m:t>
                    </m:r>
                  </m:oMath>
                </a14:m>
                <a:endParaRPr lang="en-US" altLang="zh-CN" sz="2585" b="1" dirty="0">
                  <a:ea typeface="黑体" panose="02010609060101010101" pitchFamily="49" charset="-122"/>
                </a:endParaRPr>
              </a:p>
            </p:txBody>
          </p:sp>
        </mc:Choice>
        <mc:Fallback xmlns="">
          <p:sp>
            <p:nvSpPr>
              <p:cNvPr id="653319" name="Text Box 7"/>
              <p:cNvSpPr txBox="1">
                <a:spLocks noRot="1" noChangeAspect="1" noMove="1" noResize="1" noEditPoints="1" noAdjustHandles="1" noChangeArrowheads="1" noChangeShapeType="1" noTextEdit="1"/>
              </p:cNvSpPr>
              <p:nvPr/>
            </p:nvSpPr>
            <p:spPr bwMode="auto">
              <a:xfrm>
                <a:off x="3513138" y="1706563"/>
                <a:ext cx="1672637" cy="490134"/>
              </a:xfrm>
              <a:prstGeom prst="rect">
                <a:avLst/>
              </a:prstGeom>
              <a:blipFill rotWithShape="0">
                <a:blip r:embed="rId5"/>
                <a:stretch>
                  <a:fillRect l="-6545" t="-13750" b="-28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3320" name="Text Box 8"/>
              <p:cNvSpPr txBox="1">
                <a:spLocks noChangeArrowheads="1"/>
              </p:cNvSpPr>
              <p:nvPr/>
            </p:nvSpPr>
            <p:spPr bwMode="auto">
              <a:xfrm>
                <a:off x="982663" y="3622675"/>
                <a:ext cx="2274982" cy="490134"/>
              </a:xfrm>
              <a:prstGeom prst="rect">
                <a:avLst/>
              </a:prstGeom>
            </p:spPr>
            <p:txBody>
              <a:bodyPr wrap="none">
                <a:spAutoFit/>
              </a:bodyPr>
              <a:lstStyle>
                <a:defPPr>
                  <a:defRPr lang="en-US"/>
                </a:defPPr>
                <a:lvl1pPr eaLnBrk="1" hangingPunct="1">
                  <a:defRPr sz="2800" b="1">
                    <a:solidFill>
                      <a:schemeClr val="bg2">
                        <a:lumMod val="60000"/>
                        <a:lumOff val="40000"/>
                      </a:schemeClr>
                    </a:solidFill>
                    <a:ea typeface="宋体" panose="02010600030101010101" pitchFamily="2" charset="-122"/>
                  </a:defRPr>
                </a:lvl1pPr>
                <a:lvl2pPr marL="742950" indent="-285750" eaLnBrk="0" hangingPunct="0">
                  <a:defRPr>
                    <a:ea typeface="宋体" panose="02010600030101010101" pitchFamily="2" charset="-122"/>
                  </a:defRPr>
                </a:lvl2pPr>
                <a:lvl3pPr marL="1143000" indent="-228600" eaLnBrk="0" hangingPunct="0">
                  <a:defRPr>
                    <a:ea typeface="宋体" panose="02010600030101010101" pitchFamily="2" charset="-122"/>
                  </a:defRPr>
                </a:lvl3pPr>
                <a:lvl4pPr marL="1600200" indent="-228600" eaLnBrk="0" hangingPunct="0">
                  <a:defRPr>
                    <a:ea typeface="宋体" panose="02010600030101010101" pitchFamily="2" charset="-122"/>
                  </a:defRPr>
                </a:lvl4pPr>
                <a:lvl5pPr marL="2057400" indent="-228600" eaLnBrk="0" hangingPunct="0">
                  <a:defRPr>
                    <a:ea typeface="宋体" panose="02010600030101010101" pitchFamily="2" charset="-122"/>
                  </a:defRPr>
                </a:lvl5pPr>
                <a:lvl6pPr marL="2514600" indent="-228600" eaLnBrk="0" fontAlgn="base" hangingPunct="0">
                  <a:spcBef>
                    <a:spcPct val="0"/>
                  </a:spcBef>
                  <a:spcAft>
                    <a:spcPct val="0"/>
                  </a:spcAft>
                  <a:defRPr>
                    <a:ea typeface="宋体" panose="02010600030101010101" pitchFamily="2" charset="-122"/>
                  </a:defRPr>
                </a:lvl6pPr>
                <a:lvl7pPr marL="2971800" indent="-228600" eaLnBrk="0" fontAlgn="base" hangingPunct="0">
                  <a:spcBef>
                    <a:spcPct val="0"/>
                  </a:spcBef>
                  <a:spcAft>
                    <a:spcPct val="0"/>
                  </a:spcAft>
                  <a:defRPr>
                    <a:ea typeface="宋体" panose="02010600030101010101" pitchFamily="2" charset="-122"/>
                  </a:defRPr>
                </a:lvl7pPr>
                <a:lvl8pPr marL="3429000" indent="-228600" eaLnBrk="0" fontAlgn="base" hangingPunct="0">
                  <a:spcBef>
                    <a:spcPct val="0"/>
                  </a:spcBef>
                  <a:spcAft>
                    <a:spcPct val="0"/>
                  </a:spcAft>
                  <a:defRPr>
                    <a:ea typeface="宋体" panose="02010600030101010101" pitchFamily="2" charset="-122"/>
                  </a:defRPr>
                </a:lvl8pPr>
                <a:lvl9pPr marL="3886200" indent="-228600" eaLnBrk="0" fontAlgn="base" hangingPunct="0">
                  <a:spcBef>
                    <a:spcPct val="0"/>
                  </a:spcBef>
                  <a:spcAft>
                    <a:spcPct val="0"/>
                  </a:spcAft>
                  <a:defRPr>
                    <a:ea typeface="宋体" panose="02010600030101010101" pitchFamily="2" charset="-122"/>
                  </a:defRPr>
                </a:lvl9pPr>
              </a:lstStyle>
              <a:p>
                <a:pPr>
                  <a:defRPr/>
                </a:pPr>
                <a:r>
                  <a:rPr lang="zh-CN" altLang="en-US" sz="2585" dirty="0">
                    <a:solidFill>
                      <a:schemeClr val="tx1"/>
                    </a:solidFill>
                    <a:ea typeface="黑体" panose="02010609060101010101" pitchFamily="49" charset="-122"/>
                  </a:rPr>
                  <a:t>连通图，</a:t>
                </a:r>
                <a:r>
                  <a:rPr lang="en-US" altLang="zh-CN" sz="2400" dirty="0">
                    <a:ea typeface="黑体" panose="02010609060101010101" pitchFamily="49" charset="-122"/>
                  </a:rPr>
                  <a:t> </a:t>
                </a:r>
                <a14:m>
                  <m:oMath xmlns:m="http://schemas.openxmlformats.org/officeDocument/2006/math">
                    <m:r>
                      <a:rPr lang="en-US" altLang="zh-CN" sz="2585" i="1">
                        <a:solidFill>
                          <a:schemeClr val="tx1"/>
                        </a:solidFill>
                        <a:latin typeface="Cambria Math" panose="02040503050406030204" pitchFamily="18" charset="0"/>
                      </a:rPr>
                      <m:t>𝑾</m:t>
                    </m:r>
                  </m:oMath>
                </a14:m>
                <a:r>
                  <a:rPr lang="en-US" altLang="zh-CN" sz="2585" dirty="0">
                    <a:solidFill>
                      <a:schemeClr val="tx1"/>
                    </a:solidFill>
                    <a:ea typeface="黑体" panose="02010609060101010101" pitchFamily="49" charset="-122"/>
                  </a:rPr>
                  <a:t>=1</a:t>
                </a:r>
              </a:p>
            </p:txBody>
          </p:sp>
        </mc:Choice>
        <mc:Fallback xmlns="">
          <p:sp>
            <p:nvSpPr>
              <p:cNvPr id="653320" name="Text Box 8"/>
              <p:cNvSpPr txBox="1">
                <a:spLocks noRot="1" noChangeAspect="1" noMove="1" noResize="1" noEditPoints="1" noAdjustHandles="1" noChangeArrowheads="1" noChangeShapeType="1" noTextEdit="1"/>
              </p:cNvSpPr>
              <p:nvPr/>
            </p:nvSpPr>
            <p:spPr bwMode="auto">
              <a:xfrm>
                <a:off x="982663" y="3622675"/>
                <a:ext cx="2274982" cy="490134"/>
              </a:xfrm>
              <a:prstGeom prst="rect">
                <a:avLst/>
              </a:prstGeom>
              <a:blipFill rotWithShape="0">
                <a:blip r:embed="rId6"/>
                <a:stretch>
                  <a:fillRect l="-4826" t="-13580" r="-4021" b="-320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3321" name="Text Box 9"/>
              <p:cNvSpPr txBox="1">
                <a:spLocks noChangeArrowheads="1"/>
              </p:cNvSpPr>
              <p:nvPr/>
            </p:nvSpPr>
            <p:spPr bwMode="auto">
              <a:xfrm>
                <a:off x="5435600" y="3622675"/>
                <a:ext cx="2614818" cy="490134"/>
              </a:xfrm>
              <a:prstGeom prst="rect">
                <a:avLst/>
              </a:prstGeom>
            </p:spPr>
            <p:txBody>
              <a:bodyPr wrap="none">
                <a:spAutoFit/>
              </a:bodyPr>
              <a:lstStyle>
                <a:defPPr>
                  <a:defRPr lang="en-US"/>
                </a:defPPr>
                <a:lvl1pPr eaLnBrk="1" hangingPunct="1">
                  <a:defRPr sz="2800" b="1">
                    <a:solidFill>
                      <a:schemeClr val="bg2">
                        <a:lumMod val="60000"/>
                        <a:lumOff val="40000"/>
                      </a:schemeClr>
                    </a:solidFill>
                    <a:ea typeface="宋体" panose="02010600030101010101" pitchFamily="2" charset="-122"/>
                  </a:defRPr>
                </a:lvl1pPr>
                <a:lvl2pPr marL="742950" indent="-285750" eaLnBrk="0" hangingPunct="0">
                  <a:defRPr>
                    <a:ea typeface="宋体" panose="02010600030101010101" pitchFamily="2" charset="-122"/>
                  </a:defRPr>
                </a:lvl2pPr>
                <a:lvl3pPr marL="1143000" indent="-228600" eaLnBrk="0" hangingPunct="0">
                  <a:defRPr>
                    <a:ea typeface="宋体" panose="02010600030101010101" pitchFamily="2" charset="-122"/>
                  </a:defRPr>
                </a:lvl3pPr>
                <a:lvl4pPr marL="1600200" indent="-228600" eaLnBrk="0" hangingPunct="0">
                  <a:defRPr>
                    <a:ea typeface="宋体" panose="02010600030101010101" pitchFamily="2" charset="-122"/>
                  </a:defRPr>
                </a:lvl4pPr>
                <a:lvl5pPr marL="2057400" indent="-228600" eaLnBrk="0" hangingPunct="0">
                  <a:defRPr>
                    <a:ea typeface="宋体" panose="02010600030101010101" pitchFamily="2" charset="-122"/>
                  </a:defRPr>
                </a:lvl5pPr>
                <a:lvl6pPr marL="2514600" indent="-228600" eaLnBrk="0" fontAlgn="base" hangingPunct="0">
                  <a:spcBef>
                    <a:spcPct val="0"/>
                  </a:spcBef>
                  <a:spcAft>
                    <a:spcPct val="0"/>
                  </a:spcAft>
                  <a:defRPr>
                    <a:ea typeface="宋体" panose="02010600030101010101" pitchFamily="2" charset="-122"/>
                  </a:defRPr>
                </a:lvl6pPr>
                <a:lvl7pPr marL="2971800" indent="-228600" eaLnBrk="0" fontAlgn="base" hangingPunct="0">
                  <a:spcBef>
                    <a:spcPct val="0"/>
                  </a:spcBef>
                  <a:spcAft>
                    <a:spcPct val="0"/>
                  </a:spcAft>
                  <a:defRPr>
                    <a:ea typeface="宋体" panose="02010600030101010101" pitchFamily="2" charset="-122"/>
                  </a:defRPr>
                </a:lvl7pPr>
                <a:lvl8pPr marL="3429000" indent="-228600" eaLnBrk="0" fontAlgn="base" hangingPunct="0">
                  <a:spcBef>
                    <a:spcPct val="0"/>
                  </a:spcBef>
                  <a:spcAft>
                    <a:spcPct val="0"/>
                  </a:spcAft>
                  <a:defRPr>
                    <a:ea typeface="宋体" panose="02010600030101010101" pitchFamily="2" charset="-122"/>
                  </a:defRPr>
                </a:lvl8pPr>
                <a:lvl9pPr marL="3886200" indent="-228600" eaLnBrk="0" fontAlgn="base" hangingPunct="0">
                  <a:spcBef>
                    <a:spcPct val="0"/>
                  </a:spcBef>
                  <a:spcAft>
                    <a:spcPct val="0"/>
                  </a:spcAft>
                  <a:defRPr>
                    <a:ea typeface="宋体" panose="02010600030101010101" pitchFamily="2" charset="-122"/>
                  </a:defRPr>
                </a:lvl9pPr>
              </a:lstStyle>
              <a:p>
                <a:pPr>
                  <a:defRPr/>
                </a:pPr>
                <a:r>
                  <a:rPr lang="zh-CN" altLang="en-US" sz="2585" dirty="0">
                    <a:solidFill>
                      <a:schemeClr val="tx1"/>
                    </a:solidFill>
                    <a:ea typeface="黑体" panose="02010609060101010101" pitchFamily="49" charset="-122"/>
                  </a:rPr>
                  <a:t>非连通图，</a:t>
                </a:r>
                <a:r>
                  <a:rPr lang="en-US" altLang="zh-CN" sz="2585" dirty="0">
                    <a:solidFill>
                      <a:schemeClr val="tx1"/>
                    </a:solidFill>
                    <a:ea typeface="黑体" panose="02010609060101010101" pitchFamily="49" charset="-122"/>
                  </a:rPr>
                  <a:t> </a:t>
                </a:r>
                <a14:m>
                  <m:oMath xmlns:m="http://schemas.openxmlformats.org/officeDocument/2006/math">
                    <m:r>
                      <a:rPr lang="en-US" altLang="zh-CN" sz="2585" i="1">
                        <a:solidFill>
                          <a:schemeClr val="tx1"/>
                        </a:solidFill>
                        <a:latin typeface="Cambria Math" panose="02040503050406030204" pitchFamily="18" charset="0"/>
                      </a:rPr>
                      <m:t>𝑾</m:t>
                    </m:r>
                  </m:oMath>
                </a14:m>
                <a:r>
                  <a:rPr lang="en-US" altLang="zh-CN" sz="2585" dirty="0">
                    <a:solidFill>
                      <a:schemeClr val="tx1"/>
                    </a:solidFill>
                    <a:ea typeface="黑体" panose="02010609060101010101" pitchFamily="49" charset="-122"/>
                  </a:rPr>
                  <a:t>=2</a:t>
                </a:r>
              </a:p>
            </p:txBody>
          </p:sp>
        </mc:Choice>
        <mc:Fallback xmlns="">
          <p:sp>
            <p:nvSpPr>
              <p:cNvPr id="653321" name="Text Box 9"/>
              <p:cNvSpPr txBox="1">
                <a:spLocks noRot="1" noChangeAspect="1" noMove="1" noResize="1" noEditPoints="1" noAdjustHandles="1" noChangeArrowheads="1" noChangeShapeType="1" noTextEdit="1"/>
              </p:cNvSpPr>
              <p:nvPr/>
            </p:nvSpPr>
            <p:spPr bwMode="auto">
              <a:xfrm>
                <a:off x="5435600" y="3622675"/>
                <a:ext cx="2614818" cy="490134"/>
              </a:xfrm>
              <a:prstGeom prst="rect">
                <a:avLst/>
              </a:prstGeom>
              <a:blipFill rotWithShape="0">
                <a:blip r:embed="rId7"/>
                <a:stretch>
                  <a:fillRect l="-4196" t="-13580" r="-3263" b="-320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3322" name="Text Box 10"/>
              <p:cNvSpPr txBox="1">
                <a:spLocks noChangeArrowheads="1"/>
              </p:cNvSpPr>
              <p:nvPr/>
            </p:nvSpPr>
            <p:spPr bwMode="auto">
              <a:xfrm>
                <a:off x="982663" y="4354513"/>
                <a:ext cx="2345899" cy="490134"/>
              </a:xfrm>
              <a:prstGeom prst="rect">
                <a:avLst/>
              </a:prstGeom>
            </p:spPr>
            <p:txBody>
              <a:bodyPr wrap="none">
                <a:spAutoFit/>
              </a:bodyPr>
              <a:lstStyle>
                <a:defPPr>
                  <a:defRPr lang="en-US"/>
                </a:defPPr>
                <a:lvl1pPr eaLnBrk="1" hangingPunct="1">
                  <a:defRPr sz="2800" b="1">
                    <a:solidFill>
                      <a:schemeClr val="bg2">
                        <a:lumMod val="60000"/>
                        <a:lumOff val="40000"/>
                      </a:schemeClr>
                    </a:solidFill>
                    <a:ea typeface="宋体" panose="02010600030101010101" pitchFamily="2" charset="-122"/>
                  </a:defRPr>
                </a:lvl1pPr>
                <a:lvl2pPr marL="742950" indent="-285750" eaLnBrk="0" hangingPunct="0">
                  <a:defRPr>
                    <a:ea typeface="宋体" panose="02010600030101010101" pitchFamily="2" charset="-122"/>
                  </a:defRPr>
                </a:lvl2pPr>
                <a:lvl3pPr marL="1143000" indent="-228600" eaLnBrk="0" hangingPunct="0">
                  <a:defRPr>
                    <a:ea typeface="宋体" panose="02010600030101010101" pitchFamily="2" charset="-122"/>
                  </a:defRPr>
                </a:lvl3pPr>
                <a:lvl4pPr marL="1600200" indent="-228600" eaLnBrk="0" hangingPunct="0">
                  <a:defRPr>
                    <a:ea typeface="宋体" panose="02010600030101010101" pitchFamily="2" charset="-122"/>
                  </a:defRPr>
                </a:lvl4pPr>
                <a:lvl5pPr marL="2057400" indent="-228600" eaLnBrk="0" hangingPunct="0">
                  <a:defRPr>
                    <a:ea typeface="宋体" panose="02010600030101010101" pitchFamily="2" charset="-122"/>
                  </a:defRPr>
                </a:lvl5pPr>
                <a:lvl6pPr marL="2514600" indent="-228600" eaLnBrk="0" fontAlgn="base" hangingPunct="0">
                  <a:spcBef>
                    <a:spcPct val="0"/>
                  </a:spcBef>
                  <a:spcAft>
                    <a:spcPct val="0"/>
                  </a:spcAft>
                  <a:defRPr>
                    <a:ea typeface="宋体" panose="02010600030101010101" pitchFamily="2" charset="-122"/>
                  </a:defRPr>
                </a:lvl6pPr>
                <a:lvl7pPr marL="2971800" indent="-228600" eaLnBrk="0" fontAlgn="base" hangingPunct="0">
                  <a:spcBef>
                    <a:spcPct val="0"/>
                  </a:spcBef>
                  <a:spcAft>
                    <a:spcPct val="0"/>
                  </a:spcAft>
                  <a:defRPr>
                    <a:ea typeface="宋体" panose="02010600030101010101" pitchFamily="2" charset="-122"/>
                  </a:defRPr>
                </a:lvl7pPr>
                <a:lvl8pPr marL="3429000" indent="-228600" eaLnBrk="0" fontAlgn="base" hangingPunct="0">
                  <a:spcBef>
                    <a:spcPct val="0"/>
                  </a:spcBef>
                  <a:spcAft>
                    <a:spcPct val="0"/>
                  </a:spcAft>
                  <a:defRPr>
                    <a:ea typeface="宋体" panose="02010600030101010101" pitchFamily="2" charset="-122"/>
                  </a:defRPr>
                </a:lvl8pPr>
                <a:lvl9pPr marL="3886200" indent="-228600" eaLnBrk="0" fontAlgn="base" hangingPunct="0">
                  <a:spcBef>
                    <a:spcPct val="0"/>
                  </a:spcBef>
                  <a:spcAft>
                    <a:spcPct val="0"/>
                  </a:spcAft>
                  <a:defRPr>
                    <a:ea typeface="宋体" panose="02010600030101010101" pitchFamily="2" charset="-122"/>
                  </a:defRPr>
                </a:lvl9pPr>
              </a:lstStyle>
              <a:p>
                <a:pPr>
                  <a:defRPr/>
                </a:pPr>
                <a:r>
                  <a:rPr lang="zh-CN" altLang="en-US" sz="2585" dirty="0">
                    <a:solidFill>
                      <a:schemeClr val="tx1"/>
                    </a:solidFill>
                    <a:ea typeface="黑体" panose="02010609060101010101" pitchFamily="49" charset="-122"/>
                  </a:rPr>
                  <a:t>因此</a:t>
                </a:r>
                <a14:m>
                  <m:oMath xmlns:m="http://schemas.openxmlformats.org/officeDocument/2006/math">
                    <m:r>
                      <a:rPr lang="en-US" altLang="zh-CN" sz="2585" b="1" i="1">
                        <a:solidFill>
                          <a:schemeClr val="tx1"/>
                        </a:solidFill>
                        <a:latin typeface="Cambria Math" panose="02040503050406030204" pitchFamily="18" charset="0"/>
                      </a:rPr>
                      <m:t>𝒔</m:t>
                    </m:r>
                  </m:oMath>
                </a14:m>
                <a:r>
                  <a:rPr lang="zh-CN" altLang="en-US" sz="2585" dirty="0">
                    <a:solidFill>
                      <a:schemeClr val="tx1"/>
                    </a:solidFill>
                    <a:ea typeface="黑体" panose="02010609060101010101" pitchFamily="49" charset="-122"/>
                  </a:rPr>
                  <a:t>是割点。</a:t>
                </a:r>
              </a:p>
            </p:txBody>
          </p:sp>
        </mc:Choice>
        <mc:Fallback xmlns="">
          <p:sp>
            <p:nvSpPr>
              <p:cNvPr id="653322" name="Text Box 10"/>
              <p:cNvSpPr txBox="1">
                <a:spLocks noRot="1" noChangeAspect="1" noMove="1" noResize="1" noEditPoints="1" noAdjustHandles="1" noChangeArrowheads="1" noChangeShapeType="1" noTextEdit="1"/>
              </p:cNvSpPr>
              <p:nvPr/>
            </p:nvSpPr>
            <p:spPr bwMode="auto">
              <a:xfrm>
                <a:off x="982663" y="4354513"/>
                <a:ext cx="2345899" cy="490134"/>
              </a:xfrm>
              <a:prstGeom prst="rect">
                <a:avLst/>
              </a:prstGeom>
              <a:blipFill rotWithShape="0">
                <a:blip r:embed="rId8"/>
                <a:stretch>
                  <a:fillRect l="-4675" t="-13580" r="-3896" b="-283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5867533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3319"/>
                                        </p:tgtEl>
                                        <p:attrNameLst>
                                          <p:attrName>style.visibility</p:attrName>
                                        </p:attrNameLst>
                                      </p:cBhvr>
                                      <p:to>
                                        <p:strVal val="visible"/>
                                      </p:to>
                                    </p:set>
                                    <p:animEffect transition="in" filter="wipe(left)">
                                      <p:cBhvr>
                                        <p:cTn id="7" dur="500"/>
                                        <p:tgtEl>
                                          <p:spTgt spid="65331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53317"/>
                                        </p:tgtEl>
                                        <p:attrNameLst>
                                          <p:attrName>style.visibility</p:attrName>
                                        </p:attrNameLst>
                                      </p:cBhvr>
                                      <p:to>
                                        <p:strVal val="visible"/>
                                      </p:to>
                                    </p:set>
                                    <p:animEffect transition="in" filter="wipe(left)">
                                      <p:cBhvr>
                                        <p:cTn id="10" dur="500"/>
                                        <p:tgtEl>
                                          <p:spTgt spid="6533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5331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332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5332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3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17" grpId="0" animBg="1"/>
      <p:bldP spid="653319" grpId="0"/>
      <p:bldP spid="653320" grpId="0"/>
      <p:bldP spid="653321" grpId="0"/>
      <p:bldP spid="6533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4" descr="14-7"/>
          <p:cNvPicPr>
            <a:picLocks noChangeAspect="1" noChangeArrowheads="1"/>
          </p:cNvPicPr>
          <p:nvPr/>
        </p:nvPicPr>
        <p:blipFill>
          <a:blip r:embed="rId3">
            <a:extLst>
              <a:ext uri="{28A0092B-C50C-407E-A947-70E740481C1C}">
                <a14:useLocalDpi xmlns:a14="http://schemas.microsoft.com/office/drawing/2010/main" val="0"/>
              </a:ext>
            </a:extLst>
          </a:blip>
          <a:srcRect b="35701"/>
          <a:stretch>
            <a:fillRect/>
          </a:stretch>
        </p:blipFill>
        <p:spPr bwMode="auto">
          <a:xfrm>
            <a:off x="1247775" y="2100263"/>
            <a:ext cx="5180013"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1" name="Rectangle 8"/>
          <p:cNvSpPr>
            <a:spLocks noGrp="1" noChangeArrowheads="1"/>
          </p:cNvSpPr>
          <p:nvPr>
            <p:ph type="body" idx="1"/>
          </p:nvPr>
        </p:nvSpPr>
        <p:spPr>
          <a:xfrm>
            <a:off x="1035050" y="132757"/>
            <a:ext cx="8378825" cy="531812"/>
          </a:xfrm>
        </p:spPr>
        <p:txBody>
          <a:bodyPr/>
          <a:lstStyle/>
          <a:p>
            <a:pPr marL="0" indent="0">
              <a:lnSpc>
                <a:spcPct val="120000"/>
              </a:lnSpc>
              <a:spcBef>
                <a:spcPct val="0"/>
              </a:spcBef>
              <a:buNone/>
            </a:pPr>
            <a:r>
              <a:rPr lang="zh-CN" altLang="en-US" sz="3600" dirty="0">
                <a:solidFill>
                  <a:srgbClr val="FF0000"/>
                </a:solidFill>
              </a:rPr>
              <a:t>例</a:t>
            </a:r>
            <a:r>
              <a:rPr lang="en-US" altLang="zh-CN" sz="3600" dirty="0">
                <a:solidFill>
                  <a:srgbClr val="FF0000"/>
                </a:solidFill>
              </a:rPr>
              <a:t>2  </a:t>
            </a:r>
            <a:r>
              <a:rPr lang="zh-CN" altLang="en-US" sz="3600" dirty="0">
                <a:solidFill>
                  <a:srgbClr val="FF0000"/>
                </a:solidFill>
              </a:rPr>
              <a:t>在下图中，找出点割集和割点。</a:t>
            </a:r>
          </a:p>
        </p:txBody>
      </p:sp>
      <mc:AlternateContent xmlns:mc="http://schemas.openxmlformats.org/markup-compatibility/2006" xmlns:a14="http://schemas.microsoft.com/office/drawing/2010/main">
        <mc:Choice Requires="a14">
          <p:sp>
            <p:nvSpPr>
              <p:cNvPr id="654346" name="Rectangle 10"/>
              <p:cNvSpPr>
                <a:spLocks noChangeArrowheads="1"/>
              </p:cNvSpPr>
              <p:nvPr/>
            </p:nvSpPr>
            <p:spPr bwMode="auto">
              <a:xfrm>
                <a:off x="755650" y="4757738"/>
                <a:ext cx="7843838" cy="15287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30000"/>
                  </a:spcBef>
                  <a:buClr>
                    <a:schemeClr val="folHlink"/>
                  </a:buClr>
                  <a:buSzPct val="75000"/>
                  <a:buFont typeface="Wingdings" panose="05000000000000000000" pitchFamily="2" charset="2"/>
                  <a:buNone/>
                  <a:defRPr/>
                </a:pPr>
                <a:r>
                  <a:rPr lang="zh-CN" altLang="en-US" sz="2800" dirty="0">
                    <a:latin typeface="Times New Roman" panose="02020603050405020304" pitchFamily="18" charset="0"/>
                    <a:ea typeface="黑体" panose="02010609060101010101" pitchFamily="49" charset="-122"/>
                  </a:rPr>
                  <a:t>点割集：</a:t>
                </a:r>
                <a14:m>
                  <m:oMath xmlns:m="http://schemas.openxmlformats.org/officeDocument/2006/math">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m:t>
                        </m:r>
                        <m:r>
                          <a:rPr lang="en-US" altLang="zh-CN" sz="2800" b="1" i="1">
                            <a:latin typeface="Cambria Math" panose="02040503050406030204" pitchFamily="18" charset="0"/>
                          </a:rPr>
                          <m:t>𝒗</m:t>
                        </m:r>
                      </m:e>
                      <m:sub>
                        <m:r>
                          <a:rPr lang="en-US" altLang="zh-CN" sz="2800" b="1" i="1">
                            <a:latin typeface="Cambria Math" panose="02040503050406030204" pitchFamily="18" charset="0"/>
                          </a:rPr>
                          <m:t>𝟏</m:t>
                        </m:r>
                      </m:sub>
                    </m:sSub>
                    <m:r>
                      <a:rPr lang="en-US" altLang="zh-CN" sz="2800" b="1" i="1">
                        <a:latin typeface="Cambria Math" panose="02040503050406030204" pitchFamily="18" charset="0"/>
                      </a:rPr>
                      <m:t>,</m:t>
                    </m:r>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b="1" i="1" smtClean="0">
                            <a:latin typeface="Cambria Math" panose="02040503050406030204" pitchFamily="18" charset="0"/>
                          </a:rPr>
                          <m:t>𝟒</m:t>
                        </m:r>
                      </m:sub>
                    </m:sSub>
                    <m:r>
                      <a:rPr lang="en-US" altLang="zh-CN" sz="2800" b="1" i="1" smtClean="0">
                        <a:latin typeface="Cambria Math" panose="02040503050406030204" pitchFamily="18" charset="0"/>
                      </a:rPr>
                      <m:t>}</m:t>
                    </m:r>
                    <m:r>
                      <a:rPr lang="en-US" altLang="zh-CN" sz="2800" b="1" i="1">
                        <a:latin typeface="Cambria Math" panose="02040503050406030204" pitchFamily="18" charset="0"/>
                      </a:rPr>
                      <m:t>,{</m:t>
                    </m:r>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b="1" i="1">
                            <a:latin typeface="Cambria Math" panose="02040503050406030204" pitchFamily="18" charset="0"/>
                          </a:rPr>
                          <m:t>𝟓</m:t>
                        </m:r>
                      </m:sub>
                    </m:sSub>
                    <m:r>
                      <a:rPr lang="en-US" altLang="zh-CN" sz="2800" b="1" i="1">
                        <a:latin typeface="Cambria Math" panose="02040503050406030204" pitchFamily="18" charset="0"/>
                      </a:rPr>
                      <m:t>},</m:t>
                    </m:r>
                    <m:d>
                      <m:dPr>
                        <m:begChr m:val="{"/>
                        <m:endChr m:val="}"/>
                        <m:ctrlPr>
                          <a:rPr lang="en-US" altLang="zh-CN" sz="2800" b="1" i="1" smtClean="0">
                            <a:latin typeface="Cambria Math" panose="02040503050406030204" pitchFamily="18" charset="0"/>
                          </a:rPr>
                        </m:ctrlPr>
                      </m:dPr>
                      <m:e>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b="1" i="1" smtClean="0">
                                <a:latin typeface="Cambria Math" panose="02040503050406030204" pitchFamily="18" charset="0"/>
                              </a:rPr>
                              <m:t>𝟔</m:t>
                            </m:r>
                          </m:sub>
                        </m:sSub>
                      </m:e>
                    </m:d>
                  </m:oMath>
                </a14:m>
                <a:endParaRPr lang="zh-CN" altLang="en-US" sz="2800" dirty="0">
                  <a:latin typeface="Times New Roman" panose="02020603050405020304" pitchFamily="18" charset="0"/>
                  <a:ea typeface="黑体" panose="02010609060101010101" pitchFamily="49" charset="-122"/>
                </a:endParaRPr>
              </a:p>
              <a:p>
                <a:pPr eaLnBrk="1" hangingPunct="1">
                  <a:spcBef>
                    <a:spcPct val="30000"/>
                  </a:spcBef>
                  <a:buClr>
                    <a:schemeClr val="folHlink"/>
                  </a:buClr>
                  <a:buSzPct val="75000"/>
                  <a:buFont typeface="Wingdings" panose="05000000000000000000" pitchFamily="2" charset="2"/>
                  <a:buNone/>
                  <a:defRPr/>
                </a:pPr>
                <a:r>
                  <a:rPr lang="zh-CN" altLang="en-US" sz="2585" dirty="0">
                    <a:latin typeface="Times New Roman" panose="02020603050405020304" pitchFamily="18" charset="0"/>
                    <a:ea typeface="黑体" panose="02010609060101010101" pitchFamily="49" charset="-122"/>
                  </a:rPr>
                  <a:t>割点：</a:t>
                </a:r>
                <a14:m>
                  <m:oMath xmlns:m="http://schemas.openxmlformats.org/officeDocument/2006/math">
                    <m:sSub>
                      <m:sSubPr>
                        <m:ctrlPr>
                          <a:rPr lang="en-US" altLang="zh-CN" sz="2800" b="1" i="1">
                            <a:latin typeface="Cambria Math" panose="02040503050406030204" pitchFamily="18" charset="0"/>
                          </a:rPr>
                        </m:ctrlPr>
                      </m:sSubPr>
                      <m:e>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b="1" i="1">
                                <a:latin typeface="Cambria Math" panose="02040503050406030204" pitchFamily="18" charset="0"/>
                              </a:rPr>
                              <m:t>𝟓</m:t>
                            </m:r>
                          </m:sub>
                        </m:sSub>
                        <m:r>
                          <a:rPr lang="en-US" altLang="zh-CN" sz="2800" b="1" i="1" smtClean="0">
                            <a:latin typeface="Cambria Math" panose="02040503050406030204" pitchFamily="18" charset="0"/>
                          </a:rPr>
                          <m:t>,</m:t>
                        </m:r>
                        <m:r>
                          <a:rPr lang="en-US" altLang="zh-CN" sz="2800" b="1" i="1">
                            <a:latin typeface="Cambria Math" panose="02040503050406030204" pitchFamily="18" charset="0"/>
                          </a:rPr>
                          <m:t>𝒗</m:t>
                        </m:r>
                      </m:e>
                      <m:sub>
                        <m:r>
                          <a:rPr lang="en-US" altLang="zh-CN" sz="2800" b="1" i="1">
                            <a:latin typeface="Cambria Math" panose="02040503050406030204" pitchFamily="18" charset="0"/>
                          </a:rPr>
                          <m:t>𝟔</m:t>
                        </m:r>
                      </m:sub>
                    </m:sSub>
                  </m:oMath>
                </a14:m>
                <a:endParaRPr lang="en-US" altLang="zh-CN" sz="2585" b="1" i="1" dirty="0">
                  <a:latin typeface="Times New Roman" panose="02020603050405020304" pitchFamily="18" charset="0"/>
                  <a:ea typeface="黑体" panose="02010609060101010101" pitchFamily="49" charset="-122"/>
                </a:endParaRPr>
              </a:p>
              <a:p>
                <a:pPr eaLnBrk="1" hangingPunct="1">
                  <a:spcBef>
                    <a:spcPct val="30000"/>
                  </a:spcBef>
                  <a:buClr>
                    <a:schemeClr val="folHlink"/>
                  </a:buClr>
                  <a:buSzPct val="75000"/>
                  <a:buFont typeface="Wingdings" panose="05000000000000000000" pitchFamily="2" charset="2"/>
                  <a:buNone/>
                  <a:defRPr/>
                </a:pPr>
                <a14:m>
                  <m:oMath xmlns:m="http://schemas.openxmlformats.org/officeDocument/2006/math">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b="1" i="1" smtClean="0">
                            <a:latin typeface="Cambria Math" panose="02040503050406030204" pitchFamily="18" charset="0"/>
                          </a:rPr>
                          <m:t>𝟐</m:t>
                        </m:r>
                      </m:sub>
                    </m:sSub>
                  </m:oMath>
                </a14:m>
                <a:r>
                  <a:rPr lang="zh-CN" altLang="en-US" sz="2585" b="1" dirty="0">
                    <a:latin typeface="Times New Roman" panose="02020603050405020304" pitchFamily="18" charset="0"/>
                    <a:ea typeface="黑体" panose="02010609060101010101" pitchFamily="49" charset="-122"/>
                  </a:rPr>
                  <a:t>、</a:t>
                </a:r>
                <a14:m>
                  <m:oMath xmlns:m="http://schemas.openxmlformats.org/officeDocument/2006/math">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b="1" i="1" smtClean="0">
                            <a:latin typeface="Cambria Math" panose="02040503050406030204" pitchFamily="18" charset="0"/>
                          </a:rPr>
                          <m:t>𝟑</m:t>
                        </m:r>
                      </m:sub>
                    </m:sSub>
                  </m:oMath>
                </a14:m>
                <a:r>
                  <a:rPr lang="zh-CN" altLang="en-US" sz="2585" dirty="0">
                    <a:latin typeface="Times New Roman" panose="02020603050405020304" pitchFamily="18" charset="0"/>
                    <a:ea typeface="黑体" panose="02010609060101010101" pitchFamily="49" charset="-122"/>
                  </a:rPr>
                  <a:t>与</a:t>
                </a:r>
                <a14:m>
                  <m:oMath xmlns:m="http://schemas.openxmlformats.org/officeDocument/2006/math">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b="1" i="1" smtClean="0">
                            <a:latin typeface="Cambria Math" panose="02040503050406030204" pitchFamily="18" charset="0"/>
                          </a:rPr>
                          <m:t>𝟕</m:t>
                        </m:r>
                      </m:sub>
                    </m:sSub>
                  </m:oMath>
                </a14:m>
                <a:r>
                  <a:rPr lang="zh-CN" altLang="en-US" sz="2585" dirty="0">
                    <a:latin typeface="Times New Roman" panose="02020603050405020304" pitchFamily="18" charset="0"/>
                    <a:ea typeface="黑体" panose="02010609060101010101" pitchFamily="49" charset="-122"/>
                  </a:rPr>
                  <a:t>不在任何点割集中。</a:t>
                </a:r>
              </a:p>
            </p:txBody>
          </p:sp>
        </mc:Choice>
        <mc:Fallback xmlns="">
          <p:sp>
            <p:nvSpPr>
              <p:cNvPr id="654346" name="Rectangle 10"/>
              <p:cNvSpPr>
                <a:spLocks noRot="1" noChangeAspect="1" noMove="1" noResize="1" noEditPoints="1" noAdjustHandles="1" noChangeArrowheads="1" noChangeShapeType="1" noTextEdit="1"/>
              </p:cNvSpPr>
              <p:nvPr/>
            </p:nvSpPr>
            <p:spPr bwMode="auto">
              <a:xfrm>
                <a:off x="755650" y="4757738"/>
                <a:ext cx="7843838" cy="1528762"/>
              </a:xfrm>
              <a:prstGeom prst="rect">
                <a:avLst/>
              </a:prstGeom>
              <a:blipFill rotWithShape="0">
                <a:blip r:embed="rId4"/>
                <a:stretch>
                  <a:fillRect l="-1632" t="-5179" b="-147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 name="Text Box 292"/>
          <p:cNvSpPr txBox="1">
            <a:spLocks noChangeArrowheads="1"/>
          </p:cNvSpPr>
          <p:nvPr/>
        </p:nvSpPr>
        <p:spPr bwMode="auto">
          <a:xfrm>
            <a:off x="3837781" y="3166179"/>
            <a:ext cx="557605" cy="379591"/>
          </a:xfrm>
          <a:prstGeom prst="rect">
            <a:avLst/>
          </a:prstGeom>
          <a:noFill/>
          <a:ln w="28575">
            <a:solidFill>
              <a:srgbClr val="00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6" name="Text Box 292"/>
          <p:cNvSpPr txBox="1">
            <a:spLocks noChangeArrowheads="1"/>
          </p:cNvSpPr>
          <p:nvPr/>
        </p:nvSpPr>
        <p:spPr bwMode="auto">
          <a:xfrm>
            <a:off x="5061336" y="2038419"/>
            <a:ext cx="557605" cy="379591"/>
          </a:xfrm>
          <a:prstGeom prst="rect">
            <a:avLst/>
          </a:prstGeom>
          <a:noFill/>
          <a:ln w="28575">
            <a:solidFill>
              <a:srgbClr val="3333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7" name="Text Box 292"/>
          <p:cNvSpPr txBox="1">
            <a:spLocks noChangeArrowheads="1"/>
          </p:cNvSpPr>
          <p:nvPr/>
        </p:nvSpPr>
        <p:spPr bwMode="auto">
          <a:xfrm>
            <a:off x="2729616" y="4293941"/>
            <a:ext cx="769053"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8" name="Text Box 292"/>
          <p:cNvSpPr txBox="1">
            <a:spLocks noChangeArrowheads="1"/>
          </p:cNvSpPr>
          <p:nvPr/>
        </p:nvSpPr>
        <p:spPr bwMode="auto">
          <a:xfrm>
            <a:off x="2840651" y="2038419"/>
            <a:ext cx="546984"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Tree>
    <p:extLst>
      <p:ext uri="{BB962C8B-B14F-4D97-AF65-F5344CB8AC3E}">
        <p14:creationId xmlns:p14="http://schemas.microsoft.com/office/powerpoint/2010/main" val="245065408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4346">
                                            <p:txEl>
                                              <p:pRg st="0" end="0"/>
                                            </p:txEl>
                                          </p:spTgt>
                                        </p:tgtEl>
                                        <p:attrNameLst>
                                          <p:attrName>style.visibility</p:attrName>
                                        </p:attrNameLst>
                                      </p:cBhvr>
                                      <p:to>
                                        <p:strVal val="visible"/>
                                      </p:to>
                                    </p:set>
                                    <p:animEffect transition="in" filter="wipe(left)">
                                      <p:cBhvr>
                                        <p:cTn id="7" dur="500"/>
                                        <p:tgtEl>
                                          <p:spTgt spid="6543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4346">
                                            <p:txEl>
                                              <p:pRg st="1" end="1"/>
                                            </p:txEl>
                                          </p:spTgt>
                                        </p:tgtEl>
                                        <p:attrNameLst>
                                          <p:attrName>style.visibility</p:attrName>
                                        </p:attrNameLst>
                                      </p:cBhvr>
                                      <p:to>
                                        <p:strVal val="visible"/>
                                      </p:to>
                                    </p:set>
                                    <p:animEffect transition="in" filter="wipe(left)">
                                      <p:cBhvr>
                                        <p:cTn id="12" dur="500"/>
                                        <p:tgtEl>
                                          <p:spTgt spid="6543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4346">
                                            <p:txEl>
                                              <p:pRg st="2" end="2"/>
                                            </p:txEl>
                                          </p:spTgt>
                                        </p:tgtEl>
                                        <p:attrNameLst>
                                          <p:attrName>style.visibility</p:attrName>
                                        </p:attrNameLst>
                                      </p:cBhvr>
                                      <p:to>
                                        <p:strVal val="visible"/>
                                      </p:to>
                                    </p:set>
                                    <p:animEffect transition="in" filter="wipe(left)">
                                      <p:cBhvr>
                                        <p:cTn id="17" dur="500"/>
                                        <p:tgtEl>
                                          <p:spTgt spid="654346">
                                            <p:txEl>
                                              <p:pRg st="2" end="2"/>
                                            </p:txEl>
                                          </p:spTgt>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4346" grpId="0" uiExpand="1" build="p"/>
      <p:bldP spid="5" grpId="0" animBg="1"/>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p:txBody>
          <a:bodyPr/>
          <a:lstStyle/>
          <a:p>
            <a:pPr>
              <a:lnSpc>
                <a:spcPct val="120000"/>
              </a:lnSpc>
              <a:defRPr/>
            </a:pPr>
            <a:r>
              <a:rPr lang="zh-CN" altLang="en-US" sz="3600" kern="1200" dirty="0">
                <a:latin typeface="黑体" panose="02010609060101010101" pitchFamily="49" charset="-122"/>
                <a:ea typeface="黑体" panose="02010609060101010101" pitchFamily="49" charset="-122"/>
                <a:cs typeface="+mn-cs"/>
              </a:rPr>
              <a:t>边割集的定义</a:t>
            </a:r>
          </a:p>
        </p:txBody>
      </p:sp>
      <mc:AlternateContent xmlns:mc="http://schemas.openxmlformats.org/markup-compatibility/2006" xmlns:a14="http://schemas.microsoft.com/office/drawing/2010/main">
        <mc:Choice Requires="a14">
          <p:sp>
            <p:nvSpPr>
              <p:cNvPr id="14339" name="Rectangle 3"/>
              <p:cNvSpPr>
                <a:spLocks noGrp="1" noChangeArrowheads="1"/>
              </p:cNvSpPr>
              <p:nvPr>
                <p:ph type="body" idx="1"/>
              </p:nvPr>
            </p:nvSpPr>
            <p:spPr>
              <a:xfrm>
                <a:off x="0" y="985838"/>
                <a:ext cx="9144000" cy="4921250"/>
              </a:xfrm>
            </p:spPr>
            <p:txBody>
              <a:bodyPr>
                <a:noAutofit/>
              </a:bodyPr>
              <a:lstStyle/>
              <a:p>
                <a:pPr algn="just" eaLnBrk="1" hangingPunct="1">
                  <a:lnSpc>
                    <a:spcPct val="120000"/>
                  </a:lnSpc>
                  <a:buClr>
                    <a:srgbClr val="0000FF"/>
                  </a:buClr>
                  <a:buSzPct val="80000"/>
                  <a:buFont typeface="Wingdings" panose="05000000000000000000" pitchFamily="2" charset="2"/>
                  <a:buChar char=""/>
                  <a:defRPr/>
                </a:pPr>
                <a:r>
                  <a:rPr lang="zh-CN" altLang="zh-CN" sz="2800" kern="1200" dirty="0">
                    <a:solidFill>
                      <a:srgbClr val="0070C0"/>
                    </a:solidFill>
                    <a:latin typeface="Times New Roman" panose="02020603050405020304" pitchFamily="18" charset="0"/>
                    <a:cs typeface="Times New Roman" panose="02020603050405020304" pitchFamily="18" charset="0"/>
                  </a:rPr>
                  <a:t>定义</a:t>
                </a:r>
                <a:r>
                  <a:rPr lang="en-US" altLang="zh-CN" sz="2800" kern="1200" dirty="0">
                    <a:solidFill>
                      <a:srgbClr val="0070C0"/>
                    </a:solidFill>
                    <a:latin typeface="Times New Roman" panose="02020603050405020304" pitchFamily="18" charset="0"/>
                    <a:cs typeface="Times New Roman" panose="02020603050405020304" pitchFamily="18" charset="0"/>
                  </a:rPr>
                  <a:t>10.7.1 </a:t>
                </a:r>
                <a:r>
                  <a:rPr lang="zh-CN" altLang="en-US" sz="2800" b="0" dirty="0">
                    <a:solidFill>
                      <a:schemeClr val="tx1"/>
                    </a:solidFill>
                    <a:cs typeface="Times New Roman" panose="02020603050405020304" pitchFamily="18" charset="0"/>
                    <a:sym typeface="Symbol" panose="05050102010706020507" pitchFamily="18" charset="2"/>
                  </a:rPr>
                  <a:t>设</a:t>
                </a:r>
                <a14:m>
                  <m:oMath xmlns:m="http://schemas.openxmlformats.org/officeDocument/2006/math">
                    <m:r>
                      <a:rPr lang="en-US" altLang="zh-CN" sz="2800" i="1">
                        <a:solidFill>
                          <a:schemeClr val="tx1"/>
                        </a:solidFill>
                        <a:latin typeface="Cambria Math" panose="02040503050406030204" pitchFamily="18" charset="0"/>
                      </a:rPr>
                      <m:t>𝑮</m:t>
                    </m:r>
                    <m:r>
                      <a:rPr lang="en-US" altLang="zh-CN" sz="2800" i="1">
                        <a:solidFill>
                          <a:schemeClr val="tx1"/>
                        </a:solidFill>
                        <a:latin typeface="Cambria Math" panose="02040503050406030204" pitchFamily="18" charset="0"/>
                      </a:rPr>
                      <m:t>=⟨</m:t>
                    </m:r>
                    <m:r>
                      <a:rPr lang="en-US" altLang="zh-CN" sz="2800" i="1" smtClean="0">
                        <a:solidFill>
                          <a:schemeClr val="tx1"/>
                        </a:solidFill>
                        <a:latin typeface="Cambria Math" panose="02040503050406030204" pitchFamily="18" charset="0"/>
                      </a:rPr>
                      <m:t>𝑽</m:t>
                    </m:r>
                    <m:r>
                      <a:rPr lang="en-US" altLang="zh-CN" sz="2800" i="1" smtClean="0">
                        <a:solidFill>
                          <a:schemeClr val="tx1"/>
                        </a:solidFill>
                        <a:latin typeface="Cambria Math" panose="02040503050406030204" pitchFamily="18" charset="0"/>
                      </a:rPr>
                      <m:t>,</m:t>
                    </m:r>
                    <m:r>
                      <a:rPr lang="en-US" altLang="zh-CN" sz="2800" i="1" smtClean="0">
                        <a:solidFill>
                          <a:schemeClr val="tx1"/>
                        </a:solidFill>
                        <a:latin typeface="Cambria Math" panose="02040503050406030204" pitchFamily="18" charset="0"/>
                      </a:rPr>
                      <m:t>𝑬</m:t>
                    </m:r>
                    <m:r>
                      <a:rPr lang="en-US" altLang="zh-CN" sz="2800" i="1" smtClean="0">
                        <a:solidFill>
                          <a:schemeClr val="tx1"/>
                        </a:solidFill>
                        <a:latin typeface="Cambria Math" panose="02040503050406030204" pitchFamily="18" charset="0"/>
                      </a:rPr>
                      <m:t>⟩</m:t>
                    </m:r>
                  </m:oMath>
                </a14:m>
                <a:r>
                  <a:rPr lang="zh-CN" altLang="en-US" sz="2800" b="0" dirty="0">
                    <a:solidFill>
                      <a:schemeClr val="tx1"/>
                    </a:solidFill>
                    <a:cs typeface="Times New Roman" panose="02020603050405020304" pitchFamily="18" charset="0"/>
                    <a:sym typeface="Symbol" panose="05050102010706020507" pitchFamily="18" charset="2"/>
                  </a:rPr>
                  <a:t>是连通无向图，对于任意</a:t>
                </a:r>
                <a14:m>
                  <m:oMath xmlns:m="http://schemas.openxmlformats.org/officeDocument/2006/math">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𝑬</m:t>
                        </m:r>
                      </m:e>
                      <m:sup>
                        <m:r>
                          <a:rPr lang="en-US" altLang="zh-CN" sz="2800" i="1">
                            <a:latin typeface="Cambria Math" panose="02040503050406030204" pitchFamily="18" charset="0"/>
                          </a:rPr>
                          <m:t>′</m:t>
                        </m:r>
                      </m:sup>
                    </m:sSup>
                    <m:r>
                      <a:rPr lang="en-US" altLang="zh-CN" sz="2800" i="1">
                        <a:latin typeface="Cambria Math" panose="02040503050406030204" pitchFamily="18" charset="0"/>
                        <a:ea typeface="Cambria Math" panose="02040503050406030204" pitchFamily="18" charset="0"/>
                      </a:rPr>
                      <m:t>⊆</m:t>
                    </m:r>
                    <m:sSup>
                      <m:sSupPr>
                        <m:ctrlPr>
                          <a:rPr lang="en-US" altLang="zh-CN" sz="2800" b="1" i="1" smtClean="0">
                            <a:latin typeface="Cambria Math" panose="02040503050406030204" pitchFamily="18" charset="0"/>
                          </a:rPr>
                        </m:ctrlPr>
                      </m:sSupPr>
                      <m:e>
                        <m:r>
                          <a:rPr lang="en-US" altLang="zh-CN" sz="2800" i="1">
                            <a:latin typeface="Cambria Math" panose="02040503050406030204" pitchFamily="18" charset="0"/>
                          </a:rPr>
                          <m:t>𝑬</m:t>
                        </m:r>
                      </m:e>
                      <m:sup>
                        <m:r>
                          <a:rPr lang="en-US" altLang="zh-CN" sz="2800" b="1" i="1" smtClean="0">
                            <a:latin typeface="Cambria Math" panose="02040503050406030204" pitchFamily="18" charset="0"/>
                          </a:rPr>
                          <m:t>′</m:t>
                        </m:r>
                        <m:r>
                          <a:rPr lang="en-US" altLang="zh-CN" sz="2800" i="1">
                            <a:latin typeface="Cambria Math" panose="02040503050406030204" pitchFamily="18" charset="0"/>
                          </a:rPr>
                          <m:t>′</m:t>
                        </m:r>
                      </m:sup>
                    </m:sSup>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𝑬</m:t>
                    </m:r>
                  </m:oMath>
                </a14:m>
                <a:r>
                  <a:rPr lang="en-US" altLang="zh-CN" sz="2800" b="0" dirty="0">
                    <a:solidFill>
                      <a:schemeClr val="tx1"/>
                    </a:solidFill>
                    <a:cs typeface="Times New Roman" panose="02020603050405020304" pitchFamily="18" charset="0"/>
                    <a:sym typeface="Symbol" panose="05050102010706020507" pitchFamily="18" charset="2"/>
                  </a:rPr>
                  <a:t>,</a:t>
                </a:r>
                <a:r>
                  <a:rPr lang="zh-CN" altLang="en-US" sz="2800" b="0" dirty="0">
                    <a:solidFill>
                      <a:schemeClr val="tx1"/>
                    </a:solidFill>
                    <a:cs typeface="Times New Roman" panose="02020603050405020304" pitchFamily="18" charset="0"/>
                    <a:sym typeface="Symbol" panose="05050102010706020507" pitchFamily="18" charset="2"/>
                  </a:rPr>
                  <a:t>图</a:t>
                </a:r>
                <a14:m>
                  <m:oMath xmlns:m="http://schemas.openxmlformats.org/officeDocument/2006/math">
                    <m:r>
                      <a:rPr lang="en-US" altLang="zh-CN" sz="2800" i="1">
                        <a:solidFill>
                          <a:schemeClr val="tx1"/>
                        </a:solidFill>
                        <a:latin typeface="Cambria Math" panose="02040503050406030204" pitchFamily="18" charset="0"/>
                      </a:rPr>
                      <m:t>𝑮</m:t>
                    </m:r>
                    <m:r>
                      <a:rPr lang="en-US" altLang="zh-CN" sz="2800" b="1"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m:t>
                    </m:r>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𝑽</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𝑬</m:t>
                    </m:r>
                    <m:r>
                      <a:rPr lang="en-US" altLang="zh-CN" sz="2800" b="1" i="1" smtClean="0">
                        <a:solidFill>
                          <a:schemeClr val="tx1"/>
                        </a:solidFill>
                        <a:latin typeface="Cambria Math" panose="02040503050406030204" pitchFamily="18" charset="0"/>
                      </a:rPr>
                      <m:t>′</m:t>
                    </m:r>
                    <m:r>
                      <a:rPr lang="en-US" altLang="zh-CN" sz="2800" i="1" smtClean="0">
                        <a:solidFill>
                          <a:schemeClr val="tx1"/>
                        </a:solidFill>
                        <a:latin typeface="Cambria Math" panose="02040503050406030204" pitchFamily="18" charset="0"/>
                      </a:rPr>
                      <m:t>⟩</m:t>
                    </m:r>
                  </m:oMath>
                </a14:m>
                <a:r>
                  <a:rPr lang="zh-CN" altLang="en-US" sz="2800" b="0" dirty="0">
                    <a:solidFill>
                      <a:schemeClr val="tx1"/>
                    </a:solidFill>
                    <a:cs typeface="Times New Roman" panose="02020603050405020304" pitchFamily="18" charset="0"/>
                    <a:sym typeface="Symbol" panose="05050102010706020507" pitchFamily="18" charset="2"/>
                  </a:rPr>
                  <a:t>和</a:t>
                </a:r>
                <a14:m>
                  <m:oMath xmlns:m="http://schemas.openxmlformats.org/officeDocument/2006/math">
                    <m:r>
                      <a:rPr lang="en-US" altLang="zh-CN" sz="2800" i="1">
                        <a:solidFill>
                          <a:schemeClr val="tx1"/>
                        </a:solidFill>
                        <a:latin typeface="Cambria Math" panose="02040503050406030204" pitchFamily="18" charset="0"/>
                      </a:rPr>
                      <m:t>𝑮</m:t>
                    </m:r>
                    <m:r>
                      <a:rPr lang="en-US" altLang="zh-CN" sz="2800" b="1"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m:t>
                    </m:r>
                    <m:r>
                      <a:rPr lang="en-US" altLang="zh-CN" sz="2800"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𝑽</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𝑬</m:t>
                    </m:r>
                    <m:r>
                      <a:rPr lang="en-US" altLang="zh-CN" sz="2800" i="1">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m:t>
                    </m:r>
                    <m:r>
                      <a:rPr lang="en-US" altLang="zh-CN" sz="2800" i="1" smtClean="0">
                        <a:solidFill>
                          <a:schemeClr val="tx1"/>
                        </a:solidFill>
                        <a:latin typeface="Cambria Math" panose="02040503050406030204" pitchFamily="18" charset="0"/>
                      </a:rPr>
                      <m:t>⟩</m:t>
                    </m:r>
                  </m:oMath>
                </a14:m>
                <a:r>
                  <a:rPr lang="zh-CN" altLang="en-US" sz="2800" b="0" dirty="0">
                    <a:solidFill>
                      <a:schemeClr val="tx1"/>
                    </a:solidFill>
                    <a:cs typeface="Times New Roman" panose="02020603050405020304" pitchFamily="18" charset="0"/>
                    <a:sym typeface="Symbol" panose="05050102010706020507" pitchFamily="18" charset="2"/>
                  </a:rPr>
                  <a:t>都是</a:t>
                </a:r>
                <a14:m>
                  <m:oMath xmlns:m="http://schemas.openxmlformats.org/officeDocument/2006/math">
                    <m:r>
                      <a:rPr lang="en-US" altLang="zh-CN" sz="2800" i="1">
                        <a:latin typeface="Cambria Math" panose="02040503050406030204" pitchFamily="18" charset="0"/>
                      </a:rPr>
                      <m:t>𝑮</m:t>
                    </m:r>
                    <m:r>
                      <a:rPr lang="zh-CN" altLang="en-US" sz="2800" i="1" smtClean="0">
                        <a:latin typeface="Cambria Math" panose="02040503050406030204" pitchFamily="18" charset="0"/>
                      </a:rPr>
                      <m:t>的</m:t>
                    </m:r>
                  </m:oMath>
                </a14:m>
                <a:r>
                  <a:rPr lang="zh-CN" altLang="en-US" sz="2800" b="0" dirty="0">
                    <a:solidFill>
                      <a:schemeClr val="tx1"/>
                    </a:solidFill>
                    <a:cs typeface="Times New Roman" panose="02020603050405020304" pitchFamily="18" charset="0"/>
                    <a:sym typeface="Symbol" panose="05050102010706020507" pitchFamily="18" charset="2"/>
                  </a:rPr>
                  <a:t>子图</a:t>
                </a:r>
                <a:r>
                  <a:rPr lang="en-US" altLang="zh-CN" sz="2800" b="0" dirty="0">
                    <a:solidFill>
                      <a:schemeClr val="tx1"/>
                    </a:solidFill>
                    <a:cs typeface="Times New Roman" panose="02020603050405020304" pitchFamily="18" charset="0"/>
                    <a:sym typeface="Symbol" panose="05050102010706020507" pitchFamily="18" charset="2"/>
                  </a:rPr>
                  <a:t>,</a:t>
                </a:r>
                <a:r>
                  <a:rPr lang="en-US" altLang="zh-CN" sz="2800" dirty="0">
                    <a:solidFill>
                      <a:schemeClr val="tx1"/>
                    </a:solidFill>
                  </a:rPr>
                  <a:t> (1)</a:t>
                </a:r>
                <a14:m>
                  <m:oMath xmlns:m="http://schemas.openxmlformats.org/officeDocument/2006/math">
                    <m:r>
                      <a:rPr lang="en-US" altLang="zh-CN" sz="2800" i="1">
                        <a:solidFill>
                          <a:schemeClr val="tx1"/>
                        </a:solidFill>
                        <a:latin typeface="Cambria Math" panose="02040503050406030204" pitchFamily="18" charset="0"/>
                      </a:rPr>
                      <m:t>𝑮</m:t>
                    </m:r>
                    <m:r>
                      <a:rPr lang="en-US" altLang="zh-CN" sz="2800" i="1">
                        <a:solidFill>
                          <a:schemeClr val="tx1"/>
                        </a:solidFill>
                        <a:latin typeface="Cambria Math" panose="02040503050406030204" pitchFamily="18" charset="0"/>
                      </a:rPr>
                      <m:t>′</m:t>
                    </m:r>
                  </m:oMath>
                </a14:m>
                <a:r>
                  <a:rPr lang="zh-CN" altLang="en-US" sz="2800" b="0" dirty="0">
                    <a:solidFill>
                      <a:schemeClr val="tx1"/>
                    </a:solidFill>
                    <a:cs typeface="Times New Roman" panose="02020603050405020304" pitchFamily="18" charset="0"/>
                    <a:sym typeface="Symbol" panose="05050102010706020507" pitchFamily="18" charset="2"/>
                  </a:rPr>
                  <a:t>是不连通图，</a:t>
                </a:r>
                <a:r>
                  <a:rPr lang="en-US" altLang="zh-CN" sz="2800" b="0" dirty="0">
                    <a:solidFill>
                      <a:schemeClr val="tx1"/>
                    </a:solidFill>
                    <a:cs typeface="Times New Roman" panose="02020603050405020304" pitchFamily="18" charset="0"/>
                    <a:sym typeface="Symbol" panose="05050102010706020507" pitchFamily="18" charset="2"/>
                  </a:rPr>
                  <a:t>(2)</a:t>
                </a:r>
                <a:r>
                  <a:rPr lang="zh-CN" altLang="en-US" sz="2800" b="0" dirty="0">
                    <a:solidFill>
                      <a:srgbClr val="C00000"/>
                    </a:solidFill>
                    <a:cs typeface="Times New Roman" panose="02020603050405020304" pitchFamily="18" charset="0"/>
                    <a:sym typeface="Symbol" panose="05050102010706020507" pitchFamily="18" charset="2"/>
                  </a:rPr>
                  <a:t>对于任意</a:t>
                </a:r>
                <a14:m>
                  <m:oMath xmlns:m="http://schemas.openxmlformats.org/officeDocument/2006/math">
                    <m:r>
                      <a:rPr lang="en-US" altLang="zh-CN" sz="2800" i="1">
                        <a:solidFill>
                          <a:srgbClr val="C00000"/>
                        </a:solidFill>
                        <a:latin typeface="Cambria Math" panose="02040503050406030204" pitchFamily="18" charset="0"/>
                      </a:rPr>
                      <m:t>𝑬</m:t>
                    </m:r>
                    <m:r>
                      <a:rPr lang="en-US" altLang="zh-CN" sz="2800" b="1" i="1" smtClean="0">
                        <a:solidFill>
                          <a:srgbClr val="C00000"/>
                        </a:solidFill>
                        <a:latin typeface="Cambria Math" panose="02040503050406030204" pitchFamily="18" charset="0"/>
                      </a:rPr>
                      <m:t>′</m:t>
                    </m:r>
                    <m:r>
                      <a:rPr lang="en-US" altLang="zh-CN" sz="2800" i="1">
                        <a:solidFill>
                          <a:srgbClr val="C00000"/>
                        </a:solidFill>
                        <a:latin typeface="Cambria Math" panose="02040503050406030204" pitchFamily="18" charset="0"/>
                      </a:rPr>
                      <m:t>′</m:t>
                    </m:r>
                  </m:oMath>
                </a14:m>
                <a:r>
                  <a:rPr lang="zh-CN" altLang="en-US" sz="2800" b="0" dirty="0">
                    <a:solidFill>
                      <a:srgbClr val="C00000"/>
                    </a:solidFill>
                    <a:cs typeface="Times New Roman" panose="02020603050405020304" pitchFamily="18" charset="0"/>
                    <a:sym typeface="Symbol" panose="05050102010706020507" pitchFamily="18" charset="2"/>
                  </a:rPr>
                  <a:t>满足</a:t>
                </a:r>
                <a14:m>
                  <m:oMath xmlns:m="http://schemas.openxmlformats.org/officeDocument/2006/math">
                    <m:sSup>
                      <m:sSupPr>
                        <m:ctrlPr>
                          <a:rPr lang="en-US" altLang="zh-CN" sz="2800" i="1">
                            <a:solidFill>
                              <a:srgbClr val="C00000"/>
                            </a:solidFill>
                            <a:latin typeface="Cambria Math" panose="02040503050406030204" pitchFamily="18" charset="0"/>
                          </a:rPr>
                        </m:ctrlPr>
                      </m:sSupPr>
                      <m:e>
                        <m:r>
                          <a:rPr lang="en-US" altLang="zh-CN" sz="2800" i="1">
                            <a:solidFill>
                              <a:srgbClr val="C00000"/>
                            </a:solidFill>
                            <a:latin typeface="Cambria Math" panose="02040503050406030204" pitchFamily="18" charset="0"/>
                          </a:rPr>
                          <m:t>𝑬</m:t>
                        </m:r>
                      </m:e>
                      <m:sup>
                        <m:r>
                          <a:rPr lang="en-US" altLang="zh-CN" sz="2800" i="1">
                            <a:solidFill>
                              <a:srgbClr val="C00000"/>
                            </a:solidFill>
                            <a:latin typeface="Cambria Math" panose="02040503050406030204" pitchFamily="18" charset="0"/>
                          </a:rPr>
                          <m:t>′</m:t>
                        </m:r>
                      </m:sup>
                    </m:sSup>
                    <m:r>
                      <a:rPr lang="en-US" altLang="zh-CN" sz="2800" i="1">
                        <a:solidFill>
                          <a:srgbClr val="C00000"/>
                        </a:solidFill>
                        <a:latin typeface="Cambria Math" panose="02040503050406030204" pitchFamily="18" charset="0"/>
                      </a:rPr>
                      <m:t>⊂</m:t>
                    </m:r>
                    <m:r>
                      <a:rPr lang="en-US" altLang="zh-CN" sz="2800" i="1">
                        <a:solidFill>
                          <a:srgbClr val="C00000"/>
                        </a:solidFill>
                        <a:latin typeface="Cambria Math" panose="02040503050406030204" pitchFamily="18" charset="0"/>
                      </a:rPr>
                      <m:t>𝑬</m:t>
                    </m:r>
                    <m:r>
                      <a:rPr lang="en-US" altLang="zh-CN" sz="2800" i="1">
                        <a:solidFill>
                          <a:srgbClr val="C00000"/>
                        </a:solidFill>
                        <a:latin typeface="Cambria Math" panose="02040503050406030204" pitchFamily="18" charset="0"/>
                      </a:rPr>
                      <m:t>′′ </m:t>
                    </m:r>
                  </m:oMath>
                </a14:m>
                <a:r>
                  <a:rPr lang="zh-CN" altLang="en-US" sz="2800" b="0" dirty="0">
                    <a:solidFill>
                      <a:srgbClr val="C00000"/>
                    </a:solidFill>
                    <a:cs typeface="Times New Roman" panose="02020603050405020304" pitchFamily="18" charset="0"/>
                    <a:sym typeface="Symbol" panose="05050102010706020507" pitchFamily="18" charset="2"/>
                  </a:rPr>
                  <a:t>，</a:t>
                </a:r>
                <a14:m>
                  <m:oMath xmlns:m="http://schemas.openxmlformats.org/officeDocument/2006/math">
                    <m:r>
                      <a:rPr lang="en-US" altLang="zh-CN" sz="2800" i="1">
                        <a:solidFill>
                          <a:srgbClr val="C00000"/>
                        </a:solidFill>
                        <a:latin typeface="Cambria Math" panose="02040503050406030204" pitchFamily="18" charset="0"/>
                      </a:rPr>
                      <m:t>𝑮</m:t>
                    </m:r>
                    <m:r>
                      <a:rPr lang="en-US" altLang="zh-CN" sz="2800" i="1">
                        <a:solidFill>
                          <a:srgbClr val="C00000"/>
                        </a:solidFill>
                        <a:latin typeface="Cambria Math" panose="02040503050406030204" pitchFamily="18" charset="0"/>
                      </a:rPr>
                      <m:t>′′</m:t>
                    </m:r>
                  </m:oMath>
                </a14:m>
                <a:r>
                  <a:rPr lang="zh-CN" altLang="en-US" sz="2800" b="0" dirty="0">
                    <a:solidFill>
                      <a:srgbClr val="C00000"/>
                    </a:solidFill>
                    <a:cs typeface="Times New Roman" panose="02020603050405020304" pitchFamily="18" charset="0"/>
                    <a:sym typeface="Symbol" panose="05050102010706020507" pitchFamily="18" charset="2"/>
                  </a:rPr>
                  <a:t>仍是连通图</a:t>
                </a:r>
                <a:r>
                  <a:rPr lang="zh-CN" altLang="en-US" sz="2800" b="0" dirty="0">
                    <a:solidFill>
                      <a:schemeClr val="tx1"/>
                    </a:solidFill>
                    <a:cs typeface="Times New Roman" panose="02020603050405020304" pitchFamily="18" charset="0"/>
                    <a:sym typeface="Symbol" panose="05050102010706020507" pitchFamily="18" charset="2"/>
                  </a:rPr>
                  <a:t>，则称边集合</a:t>
                </a:r>
                <a14:m>
                  <m:oMath xmlns:m="http://schemas.openxmlformats.org/officeDocument/2006/math">
                    <m:r>
                      <a:rPr lang="en-US" altLang="zh-CN" sz="2800" i="1">
                        <a:solidFill>
                          <a:schemeClr val="tx1"/>
                        </a:solidFill>
                        <a:latin typeface="Cambria Math" panose="02040503050406030204" pitchFamily="18" charset="0"/>
                      </a:rPr>
                      <m:t>𝑬</m:t>
                    </m:r>
                    <m:r>
                      <a:rPr lang="en-US" altLang="zh-CN" sz="2800" i="1">
                        <a:solidFill>
                          <a:schemeClr val="tx1"/>
                        </a:solidFill>
                        <a:latin typeface="Cambria Math" panose="02040503050406030204" pitchFamily="18" charset="0"/>
                      </a:rPr>
                      <m:t>′</m:t>
                    </m:r>
                  </m:oMath>
                </a14:m>
                <a:r>
                  <a:rPr lang="zh-CN" altLang="en-US" sz="2800" b="0" dirty="0">
                    <a:solidFill>
                      <a:schemeClr val="tx1"/>
                    </a:solidFill>
                    <a:cs typeface="Times New Roman" panose="02020603050405020304" pitchFamily="18" charset="0"/>
                    <a:sym typeface="Symbol" panose="05050102010706020507" pitchFamily="18" charset="2"/>
                  </a:rPr>
                  <a:t>为图</a:t>
                </a:r>
                <a14:m>
                  <m:oMath xmlns:m="http://schemas.openxmlformats.org/officeDocument/2006/math">
                    <m:r>
                      <a:rPr lang="en-US" altLang="zh-CN" sz="2800" i="1">
                        <a:solidFill>
                          <a:schemeClr val="tx1"/>
                        </a:solidFill>
                        <a:latin typeface="Cambria Math" panose="02040503050406030204" pitchFamily="18" charset="0"/>
                      </a:rPr>
                      <m:t>𝑮</m:t>
                    </m:r>
                  </m:oMath>
                </a14:m>
                <a:r>
                  <a:rPr lang="zh-CN" altLang="en-US" sz="2800" b="0" dirty="0">
                    <a:solidFill>
                      <a:schemeClr val="tx1"/>
                    </a:solidFill>
                    <a:cs typeface="Times New Roman" panose="02020603050405020304" pitchFamily="18" charset="0"/>
                    <a:sym typeface="Symbol" panose="05050102010706020507" pitchFamily="18" charset="2"/>
                  </a:rPr>
                  <a:t>的一个割集。</a:t>
                </a:r>
              </a:p>
              <a:p>
                <a:pPr algn="just" eaLnBrk="1" hangingPunct="1">
                  <a:lnSpc>
                    <a:spcPct val="120000"/>
                  </a:lnSpc>
                  <a:buClr>
                    <a:srgbClr val="0000FF"/>
                  </a:buClr>
                  <a:buSzPct val="80000"/>
                  <a:buFont typeface="Wingdings" panose="05000000000000000000" pitchFamily="2" charset="2"/>
                  <a:buChar char=""/>
                  <a:defRPr/>
                </a:pPr>
                <a:r>
                  <a:rPr lang="zh-CN" altLang="en-US" sz="2800" kern="1200" dirty="0">
                    <a:solidFill>
                      <a:srgbClr val="0070C0"/>
                    </a:solidFill>
                    <a:latin typeface="Times New Roman" panose="02020603050405020304" pitchFamily="18" charset="0"/>
                    <a:cs typeface="Times New Roman" panose="02020603050405020304" pitchFamily="18" charset="0"/>
                  </a:rPr>
                  <a:t>定理</a:t>
                </a:r>
                <a:r>
                  <a:rPr lang="en-US" altLang="zh-CN" sz="2800" kern="1200" dirty="0">
                    <a:solidFill>
                      <a:srgbClr val="0070C0"/>
                    </a:solidFill>
                    <a:latin typeface="Times New Roman" panose="02020603050405020304" pitchFamily="18" charset="0"/>
                    <a:cs typeface="Times New Roman" panose="02020603050405020304" pitchFamily="18" charset="0"/>
                  </a:rPr>
                  <a:t>10.7.1 </a:t>
                </a:r>
                <a:r>
                  <a:rPr lang="zh-CN" altLang="en-US" sz="2800" b="0" dirty="0">
                    <a:solidFill>
                      <a:schemeClr val="tx1"/>
                    </a:solidFill>
                    <a:cs typeface="Times New Roman" panose="02020603050405020304" pitchFamily="18" charset="0"/>
                    <a:sym typeface="Symbol" panose="05050102010706020507" pitchFamily="18" charset="2"/>
                  </a:rPr>
                  <a:t>对于一个给定的连通无向图</a:t>
                </a:r>
                <a14:m>
                  <m:oMath xmlns:m="http://schemas.openxmlformats.org/officeDocument/2006/math">
                    <m:r>
                      <a:rPr lang="en-US" altLang="zh-CN" sz="2800" i="1">
                        <a:solidFill>
                          <a:schemeClr val="tx1"/>
                        </a:solidFill>
                        <a:latin typeface="Cambria Math" panose="02040503050406030204" pitchFamily="18" charset="0"/>
                      </a:rPr>
                      <m:t>𝑮</m:t>
                    </m:r>
                    <m:r>
                      <a:rPr lang="en-US" altLang="zh-CN" sz="2800" i="1">
                        <a:solidFill>
                          <a:schemeClr val="tx1"/>
                        </a:solidFill>
                        <a:latin typeface="Cambria Math" panose="02040503050406030204" pitchFamily="18" charset="0"/>
                      </a:rPr>
                      <m:t> </m:t>
                    </m:r>
                  </m:oMath>
                </a14:m>
                <a:r>
                  <a:rPr lang="zh-CN" altLang="en-US" sz="2800" b="0" dirty="0">
                    <a:solidFill>
                      <a:schemeClr val="tx1"/>
                    </a:solidFill>
                    <a:cs typeface="Times New Roman" panose="02020603050405020304" pitchFamily="18" charset="0"/>
                    <a:sym typeface="Symbol" panose="05050102010706020507" pitchFamily="18" charset="2"/>
                  </a:rPr>
                  <a:t>，把</a:t>
                </a:r>
                <a14:m>
                  <m:oMath xmlns:m="http://schemas.openxmlformats.org/officeDocument/2006/math">
                    <m:r>
                      <a:rPr lang="en-US" altLang="zh-CN" sz="2800" i="1">
                        <a:solidFill>
                          <a:schemeClr val="tx1"/>
                        </a:solidFill>
                        <a:latin typeface="Cambria Math" panose="02040503050406030204" pitchFamily="18" charset="0"/>
                      </a:rPr>
                      <m:t>𝑮</m:t>
                    </m:r>
                  </m:oMath>
                </a14:m>
                <a:r>
                  <a:rPr lang="zh-CN" altLang="en-US" sz="2800" b="0" dirty="0">
                    <a:solidFill>
                      <a:schemeClr val="tx1"/>
                    </a:solidFill>
                    <a:cs typeface="Times New Roman" panose="02020603050405020304" pitchFamily="18" charset="0"/>
                    <a:sym typeface="Symbol" panose="05050102010706020507" pitchFamily="18" charset="2"/>
                  </a:rPr>
                  <a:t>的节点划分成两个不相交的子集，使每一子集的导出子图是连通的，则将这两个子集中的节点连接起来的边的集合是图</a:t>
                </a:r>
                <a14:m>
                  <m:oMath xmlns:m="http://schemas.openxmlformats.org/officeDocument/2006/math">
                    <m:r>
                      <a:rPr lang="en-US" altLang="zh-CN" sz="2800" i="1">
                        <a:solidFill>
                          <a:schemeClr val="tx1"/>
                        </a:solidFill>
                        <a:latin typeface="Cambria Math" panose="02040503050406030204" pitchFamily="18" charset="0"/>
                      </a:rPr>
                      <m:t>𝑮</m:t>
                    </m:r>
                  </m:oMath>
                </a14:m>
                <a:r>
                  <a:rPr lang="zh-CN" altLang="en-US" sz="2800" b="0" dirty="0">
                    <a:solidFill>
                      <a:schemeClr val="tx1"/>
                    </a:solidFill>
                    <a:cs typeface="Times New Roman" panose="02020603050405020304" pitchFamily="18" charset="0"/>
                    <a:sym typeface="Symbol" panose="05050102010706020507" pitchFamily="18" charset="2"/>
                  </a:rPr>
                  <a:t>的一个割集。</a:t>
                </a:r>
              </a:p>
            </p:txBody>
          </p:sp>
        </mc:Choice>
        <mc:Fallback xmlns="">
          <p:sp>
            <p:nvSpPr>
              <p:cNvPr id="14339" name="Rectangle 3"/>
              <p:cNvSpPr>
                <a:spLocks noGrp="1" noRot="1" noChangeAspect="1" noMove="1" noResize="1" noEditPoints="1" noAdjustHandles="1" noChangeArrowheads="1" noChangeShapeType="1" noTextEdit="1"/>
              </p:cNvSpPr>
              <p:nvPr>
                <p:ph type="body" idx="1"/>
              </p:nvPr>
            </p:nvSpPr>
            <p:spPr>
              <a:xfrm>
                <a:off x="0" y="985838"/>
                <a:ext cx="9144000" cy="4921250"/>
              </a:xfrm>
              <a:blipFill>
                <a:blip r:embed="rId3"/>
                <a:stretch>
                  <a:fillRect l="-733" t="-991" r="-1333"/>
                </a:stretch>
              </a:blipFill>
            </p:spPr>
            <p:txBody>
              <a:bodyPr/>
              <a:lstStyle/>
              <a:p>
                <a:r>
                  <a:rPr lang="zh-CN" altLang="en-US">
                    <a:noFill/>
                  </a:rPr>
                  <a:t> </a:t>
                </a:r>
              </a:p>
            </p:txBody>
          </p:sp>
        </mc:Fallback>
      </mc:AlternateContent>
      <p:grpSp>
        <p:nvGrpSpPr>
          <p:cNvPr id="12" name="Group 21"/>
          <p:cNvGrpSpPr>
            <a:grpSpLocks/>
          </p:cNvGrpSpPr>
          <p:nvPr/>
        </p:nvGrpSpPr>
        <p:grpSpPr bwMode="auto">
          <a:xfrm>
            <a:off x="2699929" y="5716588"/>
            <a:ext cx="2895600" cy="457200"/>
            <a:chOff x="1536" y="3408"/>
            <a:chExt cx="1824" cy="288"/>
          </a:xfrm>
        </p:grpSpPr>
        <p:sp>
          <p:nvSpPr>
            <p:cNvPr id="13" name="Line 12"/>
            <p:cNvSpPr>
              <a:spLocks noChangeShapeType="1"/>
            </p:cNvSpPr>
            <p:nvPr/>
          </p:nvSpPr>
          <p:spPr bwMode="auto">
            <a:xfrm flipH="1">
              <a:off x="1536" y="3408"/>
              <a:ext cx="0" cy="288"/>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22" name="Line 13"/>
            <p:cNvSpPr>
              <a:spLocks noChangeShapeType="1"/>
            </p:cNvSpPr>
            <p:nvPr/>
          </p:nvSpPr>
          <p:spPr bwMode="auto">
            <a:xfrm>
              <a:off x="1536" y="3696"/>
              <a:ext cx="960"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23" name="Line 14"/>
            <p:cNvSpPr>
              <a:spLocks noChangeShapeType="1"/>
            </p:cNvSpPr>
            <p:nvPr/>
          </p:nvSpPr>
          <p:spPr bwMode="auto">
            <a:xfrm flipV="1">
              <a:off x="1536" y="3408"/>
              <a:ext cx="1824" cy="0"/>
            </a:xfrm>
            <a:prstGeom prst="line">
              <a:avLst/>
            </a:prstGeom>
            <a:noFill/>
            <a:ln w="28575">
              <a:solidFill>
                <a:srgbClr val="FF0000"/>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24" name="Line 16"/>
            <p:cNvSpPr>
              <a:spLocks noChangeShapeType="1"/>
            </p:cNvSpPr>
            <p:nvPr/>
          </p:nvSpPr>
          <p:spPr bwMode="auto">
            <a:xfrm>
              <a:off x="2496" y="3696"/>
              <a:ext cx="384" cy="0"/>
            </a:xfrm>
            <a:prstGeom prst="line">
              <a:avLst/>
            </a:prstGeom>
            <a:noFill/>
            <a:ln w="28575">
              <a:solidFill>
                <a:srgbClr val="FF0000"/>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25" name="Line 17"/>
            <p:cNvSpPr>
              <a:spLocks noChangeShapeType="1"/>
            </p:cNvSpPr>
            <p:nvPr/>
          </p:nvSpPr>
          <p:spPr bwMode="auto">
            <a:xfrm>
              <a:off x="2880" y="3696"/>
              <a:ext cx="480"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26" name="Line 18"/>
            <p:cNvSpPr>
              <a:spLocks noChangeShapeType="1"/>
            </p:cNvSpPr>
            <p:nvPr/>
          </p:nvSpPr>
          <p:spPr bwMode="auto">
            <a:xfrm flipV="1">
              <a:off x="2880" y="3408"/>
              <a:ext cx="480" cy="288"/>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27" name="Line 19"/>
            <p:cNvSpPr>
              <a:spLocks noChangeShapeType="1"/>
            </p:cNvSpPr>
            <p:nvPr/>
          </p:nvSpPr>
          <p:spPr bwMode="auto">
            <a:xfrm>
              <a:off x="3360" y="3408"/>
              <a:ext cx="0" cy="288"/>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grpSp>
    </p:spTree>
    <p:extLst>
      <p:ext uri="{BB962C8B-B14F-4D97-AF65-F5344CB8AC3E}">
        <p14:creationId xmlns:p14="http://schemas.microsoft.com/office/powerpoint/2010/main" val="194501663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9089" name="Rectangle 1"/>
              <p:cNvSpPr>
                <a:spLocks noChangeArrowheads="1"/>
              </p:cNvSpPr>
              <p:nvPr/>
            </p:nvSpPr>
            <p:spPr bwMode="auto">
              <a:xfrm>
                <a:off x="164759" y="1283066"/>
                <a:ext cx="8918281" cy="13849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rIns="337625" anchor="ctr">
                <a:spAutoFit/>
              </a:bodyPr>
              <a:lstStyle/>
              <a:p>
                <a:pPr algn="just">
                  <a:lnSpc>
                    <a:spcPct val="150000"/>
                  </a:lnSpc>
                  <a:defRPr/>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若</a:t>
                </a:r>
                <a14:m>
                  <m:oMath xmlns:m="http://schemas.openxmlformats.org/officeDocument/2006/math">
                    <m:r>
                      <a:rPr lang="en-US" altLang="zh-CN" sz="2800" i="1" dirty="0">
                        <a:latin typeface="Cambria Math" panose="02040503050406030204" pitchFamily="18" charset="0"/>
                      </a:rPr>
                      <m:t>𝑮</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的边割集</a:t>
                </a:r>
                <a14:m>
                  <m:oMath xmlns:m="http://schemas.openxmlformats.org/officeDocument/2006/math">
                    <m:r>
                      <a:rPr lang="en-US" altLang="zh-CN" sz="2800" b="1" i="1" dirty="0">
                        <a:latin typeface="Cambria Math" panose="02040503050406030204" pitchFamily="18" charset="0"/>
                      </a:rPr>
                      <m:t>𝑻</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𝒆</m:t>
                    </m:r>
                    <m:r>
                      <a:rPr lang="en-US" altLang="zh-CN" sz="2800" b="1" i="1" dirty="0" smtClean="0">
                        <a:latin typeface="Cambria Math" panose="02040503050406030204" pitchFamily="18" charset="0"/>
                      </a:rPr>
                      <m:t>}</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，称</a:t>
                </a:r>
                <a14:m>
                  <m:oMath xmlns:m="http://schemas.openxmlformats.org/officeDocument/2006/math">
                    <m:r>
                      <a:rPr lang="en-US" altLang="zh-CN" sz="2800" b="1" i="1" dirty="0">
                        <a:latin typeface="Cambria Math" panose="02040503050406030204" pitchFamily="18" charset="0"/>
                      </a:rPr>
                      <m:t>𝒆</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是</a:t>
                </a:r>
                <a14:m>
                  <m:oMath xmlns:m="http://schemas.openxmlformats.org/officeDocument/2006/math">
                    <m:r>
                      <a:rPr lang="en-US" altLang="zh-CN" sz="2800" i="1" dirty="0">
                        <a:latin typeface="Cambria Math" panose="02040503050406030204" pitchFamily="18" charset="0"/>
                      </a:rPr>
                      <m:t>𝑮</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a:t>
                </a:r>
                <a:r>
                  <a:rPr lang="zh-CN" altLang="en-US" sz="28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割边</a:t>
                </a:r>
                <a:r>
                  <a:rPr lang="zh-CN" altLang="en-US" sz="2800" dirty="0">
                    <a:latin typeface="黑体" panose="02010609060101010101" pitchFamily="49" charset="-122"/>
                    <a:ea typeface="黑体" panose="02010609060101010101" pitchFamily="49" charset="-122"/>
                    <a:cs typeface="Times New Roman" panose="02020603050405020304" pitchFamily="18" charset="0"/>
                  </a:rPr>
                  <a:t>或</a:t>
                </a:r>
                <a:r>
                  <a:rPr lang="zh-CN" altLang="en-US" sz="28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桥（</a:t>
                </a:r>
                <a:r>
                  <a:rPr lang="en-US" altLang="zh-CN" sz="2800" dirty="0">
                    <a:solidFill>
                      <a:srgbClr val="0000FF"/>
                    </a:solidFill>
                    <a:ea typeface="黑体" panose="02010609060101010101" pitchFamily="49" charset="-122"/>
                    <a:cs typeface="Times New Roman" panose="02020603050405020304" pitchFamily="18" charset="0"/>
                  </a:rPr>
                  <a:t>Cut edge</a:t>
                </a:r>
                <a:r>
                  <a:rPr lang="zh-CN" altLang="en-US" sz="2800" dirty="0">
                    <a:solidFill>
                      <a:srgbClr val="0000FF"/>
                    </a:solidFill>
                    <a:ea typeface="黑体" panose="02010609060101010101" pitchFamily="49" charset="-122"/>
                    <a:cs typeface="Times New Roman" panose="02020603050405020304" pitchFamily="18" charset="0"/>
                  </a:rPr>
                  <a:t>，Bridge</a:t>
                </a:r>
                <a:r>
                  <a:rPr lang="zh-CN" altLang="en-US" sz="28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p>
            </p:txBody>
          </p:sp>
        </mc:Choice>
        <mc:Fallback xmlns="">
          <p:sp>
            <p:nvSpPr>
              <p:cNvPr id="89089" name="Rectangle 1">
                <a:extLst>
                  <a:ext uri="{FF2B5EF4-FFF2-40B4-BE49-F238E27FC236}"/>
                </a:extLst>
              </p:cNvPr>
              <p:cNvSpPr>
                <a:spLocks noRot="1" noChangeAspect="1" noMove="1" noResize="1" noEditPoints="1" noAdjustHandles="1" noChangeArrowheads="1" noChangeShapeType="1" noTextEdit="1"/>
              </p:cNvSpPr>
              <p:nvPr/>
            </p:nvSpPr>
            <p:spPr bwMode="auto">
              <a:xfrm>
                <a:off x="164759" y="1283066"/>
                <a:ext cx="8918281" cy="1384995"/>
              </a:xfrm>
              <a:prstGeom prst="rect">
                <a:avLst/>
              </a:prstGeom>
              <a:blipFill rotWithShape="0">
                <a:blip r:embed="rId2"/>
                <a:stretch>
                  <a:fillRect l="-1367" b="-657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3363" name="文本框 2"/>
          <p:cNvSpPr txBox="1">
            <a:spLocks noChangeArrowheads="1"/>
          </p:cNvSpPr>
          <p:nvPr/>
        </p:nvSpPr>
        <p:spPr bwMode="auto">
          <a:xfrm>
            <a:off x="962025" y="144463"/>
            <a:ext cx="1570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25000"/>
              </a:spcBef>
              <a:spcAft>
                <a:spcPct val="20000"/>
              </a:spcAft>
              <a:buClr>
                <a:srgbClr val="336699"/>
              </a:buClr>
              <a:buFont typeface="Wingdings" panose="05000000000000000000" pitchFamily="2" charset="2"/>
              <a:buChar char="§"/>
              <a:defRPr sz="2600" b="1">
                <a:solidFill>
                  <a:schemeClr val="tx1"/>
                </a:solidFill>
                <a:latin typeface="华文仿宋" panose="02010600040101010101" pitchFamily="2" charset="-122"/>
                <a:ea typeface="华文仿宋" panose="02010600040101010101" pitchFamily="2" charset="-122"/>
              </a:defRPr>
            </a:lvl1pPr>
            <a:lvl2pPr marL="742950" indent="-285750">
              <a:lnSpc>
                <a:spcPct val="90000"/>
              </a:lnSpc>
              <a:spcBef>
                <a:spcPct val="25000"/>
              </a:spcBef>
              <a:buClr>
                <a:srgbClr val="336699"/>
              </a:buClr>
              <a:buChar char="•"/>
              <a:defRPr sz="2400" b="1">
                <a:solidFill>
                  <a:schemeClr val="tx1"/>
                </a:solidFill>
                <a:latin typeface="华文仿宋" panose="02010600040101010101" pitchFamily="2" charset="-122"/>
                <a:ea typeface="华文仿宋" panose="02010600040101010101" pitchFamily="2" charset="-122"/>
              </a:defRPr>
            </a:lvl2pPr>
            <a:lvl3pPr marL="1143000" indent="-228600">
              <a:lnSpc>
                <a:spcPct val="90000"/>
              </a:lnSpc>
              <a:spcBef>
                <a:spcPct val="25000"/>
              </a:spcBef>
              <a:buClr>
                <a:srgbClr val="336699"/>
              </a:buClr>
              <a:buChar char="–"/>
              <a:defRPr sz="2000" b="1">
                <a:solidFill>
                  <a:schemeClr val="tx1"/>
                </a:solidFill>
                <a:latin typeface="华文仿宋" panose="02010600040101010101" pitchFamily="2" charset="-122"/>
                <a:ea typeface="华文仿宋" panose="02010600040101010101" pitchFamily="2" charset="-122"/>
              </a:defRPr>
            </a:lvl3pPr>
            <a:lvl4pPr marL="1600200" indent="-228600">
              <a:lnSpc>
                <a:spcPct val="90000"/>
              </a:lnSpc>
              <a:spcBef>
                <a:spcPct val="25000"/>
              </a:spcBef>
              <a:buClr>
                <a:srgbClr val="336699"/>
              </a:buClr>
              <a:buChar char="»"/>
              <a:defRPr b="1">
                <a:solidFill>
                  <a:schemeClr val="tx1"/>
                </a:solidFill>
                <a:latin typeface="华文仿宋" panose="02010600040101010101" pitchFamily="2" charset="-122"/>
                <a:ea typeface="华文仿宋" panose="02010600040101010101" pitchFamily="2" charset="-122"/>
              </a:defRPr>
            </a:lvl4pPr>
            <a:lvl5pPr marL="2057400" indent="-228600">
              <a:lnSpc>
                <a:spcPct val="90000"/>
              </a:lnSpc>
              <a:spcBef>
                <a:spcPct val="25000"/>
              </a:spcBef>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5pPr>
            <a:lvl6pPr marL="25146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6pPr>
            <a:lvl7pPr marL="29718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7pPr>
            <a:lvl8pPr marL="34290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8pPr>
            <a:lvl9pPr marL="38862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9pPr>
          </a:lstStyle>
          <a:p>
            <a:pPr>
              <a:lnSpc>
                <a:spcPct val="100000"/>
              </a:lnSpc>
              <a:spcBef>
                <a:spcPct val="0"/>
              </a:spcBef>
              <a:spcAft>
                <a:spcPct val="0"/>
              </a:spcAft>
              <a:buClrTx/>
              <a:buFontTx/>
              <a:buNone/>
            </a:pPr>
            <a:r>
              <a:rPr lang="zh-CN" altLang="en-US" sz="3600">
                <a:solidFill>
                  <a:srgbClr val="FF0000"/>
                </a:solidFill>
                <a:latin typeface="黑体" panose="02010609060101010101" pitchFamily="49" charset="-122"/>
                <a:ea typeface="黑体" panose="02010609060101010101" pitchFamily="49" charset="-122"/>
              </a:rPr>
              <a:t>边割集</a:t>
            </a:r>
          </a:p>
        </p:txBody>
      </p:sp>
      <p:grpSp>
        <p:nvGrpSpPr>
          <p:cNvPr id="12" name="Group 21"/>
          <p:cNvGrpSpPr>
            <a:grpSpLocks/>
          </p:cNvGrpSpPr>
          <p:nvPr/>
        </p:nvGrpSpPr>
        <p:grpSpPr bwMode="auto">
          <a:xfrm>
            <a:off x="2656386" y="3617822"/>
            <a:ext cx="2895600" cy="457200"/>
            <a:chOff x="1536" y="3408"/>
            <a:chExt cx="1824" cy="288"/>
          </a:xfrm>
        </p:grpSpPr>
        <p:sp>
          <p:nvSpPr>
            <p:cNvPr id="13" name="Line 12"/>
            <p:cNvSpPr>
              <a:spLocks noChangeShapeType="1"/>
            </p:cNvSpPr>
            <p:nvPr/>
          </p:nvSpPr>
          <p:spPr bwMode="auto">
            <a:xfrm flipH="1">
              <a:off x="1536" y="3408"/>
              <a:ext cx="0" cy="288"/>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4" name="Line 13"/>
            <p:cNvSpPr>
              <a:spLocks noChangeShapeType="1"/>
            </p:cNvSpPr>
            <p:nvPr/>
          </p:nvSpPr>
          <p:spPr bwMode="auto">
            <a:xfrm>
              <a:off x="1536" y="3696"/>
              <a:ext cx="960"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5" name="Line 14"/>
            <p:cNvSpPr>
              <a:spLocks noChangeShapeType="1"/>
            </p:cNvSpPr>
            <p:nvPr/>
          </p:nvSpPr>
          <p:spPr bwMode="auto">
            <a:xfrm>
              <a:off x="1536" y="3408"/>
              <a:ext cx="984" cy="288"/>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6" name="Line 16"/>
            <p:cNvSpPr>
              <a:spLocks noChangeShapeType="1"/>
            </p:cNvSpPr>
            <p:nvPr/>
          </p:nvSpPr>
          <p:spPr bwMode="auto">
            <a:xfrm>
              <a:off x="2520" y="3696"/>
              <a:ext cx="360" cy="0"/>
            </a:xfrm>
            <a:prstGeom prst="line">
              <a:avLst/>
            </a:prstGeom>
            <a:noFill/>
            <a:ln w="28575">
              <a:solidFill>
                <a:srgbClr val="FF0000"/>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7" name="Line 17"/>
            <p:cNvSpPr>
              <a:spLocks noChangeShapeType="1"/>
            </p:cNvSpPr>
            <p:nvPr/>
          </p:nvSpPr>
          <p:spPr bwMode="auto">
            <a:xfrm>
              <a:off x="2880" y="3696"/>
              <a:ext cx="480" cy="0"/>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8" name="Line 18"/>
            <p:cNvSpPr>
              <a:spLocks noChangeShapeType="1"/>
            </p:cNvSpPr>
            <p:nvPr/>
          </p:nvSpPr>
          <p:spPr bwMode="auto">
            <a:xfrm flipV="1">
              <a:off x="2880" y="3408"/>
              <a:ext cx="480" cy="288"/>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sp>
          <p:nvSpPr>
            <p:cNvPr id="19" name="Line 19"/>
            <p:cNvSpPr>
              <a:spLocks noChangeShapeType="1"/>
            </p:cNvSpPr>
            <p:nvPr/>
          </p:nvSpPr>
          <p:spPr bwMode="auto">
            <a:xfrm>
              <a:off x="3360" y="3408"/>
              <a:ext cx="0" cy="288"/>
            </a:xfrm>
            <a:prstGeom prst="line">
              <a:avLst/>
            </a:prstGeom>
            <a:noFill/>
            <a:ln w="28575">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zh-CN" altLang="en-US" dirty="0">
                <a:ea typeface="黑体" panose="02010609060101010101" pitchFamily="49" charset="-122"/>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3186" name="Rectangle 1"/>
              <p:cNvSpPr/>
              <p:nvPr/>
            </p:nvSpPr>
            <p:spPr>
              <a:xfrm>
                <a:off x="0" y="1006529"/>
                <a:ext cx="9083675" cy="3501921"/>
              </a:xfrm>
              <a:prstGeom prst="rect">
                <a:avLst/>
              </a:prstGeom>
              <a:noFill/>
              <a:ln w="9525">
                <a:noFill/>
                <a:miter/>
              </a:ln>
            </p:spPr>
            <p:txBody>
              <a:bodyPr rIns="337625" anchor="ctr">
                <a:spAutoFit/>
              </a:bodyPr>
              <a:lstStyle>
                <a:lvl1pPr indent="355600">
                  <a:defRPr>
                    <a:solidFill>
                      <a:schemeClr val="tx1"/>
                    </a:solidFill>
                    <a:latin typeface="Calibri" panose="020F0502020204030204" pitchFamily="34" charset="0"/>
                    <a:ea typeface="微软雅黑" panose="020B0503020204020204" pitchFamily="34" charset="-122"/>
                  </a:defRPr>
                </a:lvl1pPr>
                <a:lvl2pPr>
                  <a:defRPr>
                    <a:solidFill>
                      <a:schemeClr val="tx1"/>
                    </a:solidFill>
                    <a:latin typeface="Calibri" panose="020F0502020204030204" pitchFamily="34" charset="0"/>
                    <a:ea typeface="微软雅黑" panose="020B0503020204020204" pitchFamily="34" charset="-122"/>
                  </a:defRPr>
                </a:lvl2pPr>
                <a:lvl3pPr>
                  <a:defRPr>
                    <a:solidFill>
                      <a:schemeClr val="tx1"/>
                    </a:solidFill>
                    <a:latin typeface="Calibri" panose="020F0502020204030204" pitchFamily="34" charset="0"/>
                    <a:ea typeface="微软雅黑" panose="020B0503020204020204" pitchFamily="34" charset="-122"/>
                  </a:defRPr>
                </a:lvl3pPr>
                <a:lvl4pPr>
                  <a:defRPr>
                    <a:solidFill>
                      <a:schemeClr val="tx1"/>
                    </a:solidFill>
                    <a:latin typeface="Calibri" panose="020F0502020204030204" pitchFamily="34" charset="0"/>
                    <a:ea typeface="微软雅黑" panose="020B0503020204020204" pitchFamily="34" charset="-122"/>
                  </a:defRPr>
                </a:lvl4pPr>
                <a:lvl5pPr>
                  <a:defRPr>
                    <a:solidFill>
                      <a:schemeClr val="tx1"/>
                    </a:solidFill>
                    <a:latin typeface="Calibri" panose="020F050202020403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indent="0" algn="just">
                  <a:lnSpc>
                    <a:spcPct val="150000"/>
                  </a:lnSpc>
                  <a:defRPr/>
                </a:pPr>
                <a:r>
                  <a:rPr lang="zh-CN" altLang="en-US" sz="2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dirty="0">
                    <a:solidFill>
                      <a:srgbClr val="C00000"/>
                    </a:solidFill>
                    <a:latin typeface="黑体" panose="02010609060101010101" pitchFamily="49" charset="-122"/>
                    <a:ea typeface="黑体" panose="02010609060101010101" pitchFamily="49" charset="-122"/>
                  </a:rPr>
                  <a:t> </a:t>
                </a:r>
                <a:r>
                  <a:rPr lang="zh-CN" altLang="en-US" sz="2800" dirty="0">
                    <a:solidFill>
                      <a:srgbClr val="000000"/>
                    </a:solidFill>
                    <a:latin typeface="黑体" panose="02010609060101010101" pitchFamily="49" charset="-122"/>
                    <a:ea typeface="黑体" panose="02010609060101010101" pitchFamily="49" charset="-122"/>
                  </a:rPr>
                  <a:t>在图</a:t>
                </a:r>
                <a:r>
                  <a:rPr lang="en-US" altLang="zh-CN" sz="2800" dirty="0">
                    <a:solidFill>
                      <a:srgbClr val="000000"/>
                    </a:solidFill>
                    <a:latin typeface="黑体" panose="02010609060101010101" pitchFamily="49" charset="-122"/>
                    <a:ea typeface="黑体" panose="02010609060101010101" pitchFamily="49" charset="-122"/>
                  </a:rPr>
                  <a:t>10-11</a:t>
                </a:r>
                <a:r>
                  <a:rPr lang="zh-CN" altLang="en-US" sz="2800" dirty="0">
                    <a:solidFill>
                      <a:srgbClr val="000000"/>
                    </a:solidFill>
                    <a:latin typeface="黑体" panose="02010609060101010101" pitchFamily="49" charset="-122"/>
                    <a:ea typeface="黑体" panose="02010609060101010101" pitchFamily="49" charset="-122"/>
                  </a:rPr>
                  <a:t>中，指出割点（集）和割边（集）</a:t>
                </a:r>
                <a14:m>
                  <m:oMath xmlns:m="http://schemas.openxmlformats.org/officeDocument/2006/math">
                    <m:sSub>
                      <m:sSubPr>
                        <m:ctrlPr>
                          <a:rPr lang="en-US" altLang="zh-CN" sz="2800" i="1">
                            <a:latin typeface="Cambria Math" panose="02040503050406030204" pitchFamily="18" charset="0"/>
                          </a:rPr>
                        </m:ctrlPr>
                      </m:sSubPr>
                      <m:e>
                        <m:r>
                          <a:rPr lang="en-US" altLang="zh-CN" sz="2800" b="1" i="1" smtClean="0">
                            <a:latin typeface="Cambria Math" panose="02040503050406030204" pitchFamily="18" charset="0"/>
                          </a:rPr>
                          <m:t>𝒗</m:t>
                        </m:r>
                      </m:e>
                      <m:sub>
                        <m:r>
                          <a:rPr lang="en-US" altLang="zh-CN" sz="2800" b="0" i="1" smtClean="0">
                            <a:latin typeface="Cambria Math" panose="02040503050406030204" pitchFamily="18" charset="0"/>
                          </a:rPr>
                          <m:t>3</m:t>
                        </m:r>
                      </m:sub>
                    </m:sSub>
                  </m:oMath>
                </a14:m>
                <a:r>
                  <a:rPr lang="zh-CN" altLang="en-US" sz="2800" dirty="0">
                    <a:solidFill>
                      <a:srgbClr val="000000"/>
                    </a:solidFill>
                    <a:latin typeface="黑体" panose="02010609060101010101" pitchFamily="49" charset="-122"/>
                    <a:ea typeface="黑体" panose="02010609060101010101" pitchFamily="49" charset="-122"/>
                  </a:rPr>
                  <a:t>是割点；</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m:t>
                        </m:r>
                        <m:r>
                          <a:rPr lang="en-US" altLang="zh-CN" sz="2800" b="1" i="1">
                            <a:latin typeface="Cambria Math" panose="02040503050406030204" pitchFamily="18" charset="0"/>
                          </a:rPr>
                          <m:t>𝒗</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i="1">
                            <a:latin typeface="Cambria Math" panose="02040503050406030204" pitchFamily="18" charset="0"/>
                          </a:rPr>
                          <m:t>3</m:t>
                        </m:r>
                      </m:sub>
                    </m:sSub>
                    <m:r>
                      <a:rPr lang="en-US" altLang="zh-CN" sz="2800" b="0" i="1" smtClean="0">
                        <a:latin typeface="Cambria Math" panose="02040503050406030204" pitchFamily="18" charset="0"/>
                      </a:rPr>
                      <m:t>],[</m:t>
                    </m:r>
                    <m:sSub>
                      <m:sSubPr>
                        <m:ctrlPr>
                          <a:rPr lang="en-US" altLang="zh-CN" sz="2800" i="1" smtClean="0">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i="1">
                            <a:latin typeface="Cambria Math" panose="02040503050406030204" pitchFamily="18" charset="0"/>
                          </a:rPr>
                          <m:t>3</m:t>
                        </m:r>
                      </m:sub>
                    </m:sSub>
                    <m:r>
                      <a:rPr lang="en-US" altLang="zh-CN" sz="2800" i="1">
                        <a:latin typeface="Cambria Math" panose="02040503050406030204" pitchFamily="18" charset="0"/>
                      </a:rPr>
                      <m:t>]</m:t>
                    </m:r>
                    <m:r>
                      <a:rPr lang="en-US" altLang="zh-CN" sz="2800" b="0" i="0" smtClean="0">
                        <a:latin typeface="Cambria Math" panose="02040503050406030204" pitchFamily="18" charset="0"/>
                      </a:rPr>
                      <m:t>}</m:t>
                    </m:r>
                  </m:oMath>
                </a14:m>
                <a:r>
                  <a:rPr lang="en-US" altLang="zh-CN" sz="2800" dirty="0">
                    <a:solidFill>
                      <a:srgbClr val="000000"/>
                    </a:solidFill>
                    <a:latin typeface="黑体" panose="02010609060101010101" pitchFamily="49" charset="-122"/>
                    <a:ea typeface="黑体" panose="02010609060101010101" pitchFamily="49" charset="-122"/>
                  </a:rPr>
                  <a:t> </a:t>
                </a:r>
                <a:r>
                  <a:rPr lang="zh-CN" altLang="en-US" sz="2800" dirty="0">
                    <a:solidFill>
                      <a:srgbClr val="000000"/>
                    </a:solidFill>
                    <a:latin typeface="黑体" panose="02010609060101010101" pitchFamily="49" charset="-122"/>
                    <a:ea typeface="黑体" panose="02010609060101010101" pitchFamily="49" charset="-122"/>
                  </a:rPr>
                  <a:t>是边割集，但没有割边。</a:t>
                </a:r>
              </a:p>
              <a:p>
                <a:pPr algn="just">
                  <a:lnSpc>
                    <a:spcPct val="150000"/>
                  </a:lnSpc>
                  <a:defRPr/>
                </a:pPr>
                <a:endParaRPr lang="zh-CN" altLang="en-US" sz="2954" dirty="0">
                  <a:solidFill>
                    <a:srgbClr val="000000"/>
                  </a:solidFill>
                  <a:latin typeface="黑体" panose="02010609060101010101" pitchFamily="49" charset="-122"/>
                  <a:ea typeface="黑体" panose="02010609060101010101" pitchFamily="49" charset="-122"/>
                </a:endParaRPr>
              </a:p>
              <a:p>
                <a:pPr algn="just">
                  <a:lnSpc>
                    <a:spcPct val="150000"/>
                  </a:lnSpc>
                  <a:defRPr/>
                </a:pPr>
                <a:endParaRPr lang="zh-CN" altLang="en-US" sz="2954" dirty="0">
                  <a:solidFill>
                    <a:srgbClr val="000000"/>
                  </a:solidFill>
                  <a:latin typeface="黑体" panose="02010609060101010101" pitchFamily="49" charset="-122"/>
                  <a:ea typeface="黑体" panose="02010609060101010101" pitchFamily="49" charset="-122"/>
                </a:endParaRPr>
              </a:p>
              <a:p>
                <a:pPr algn="just">
                  <a:lnSpc>
                    <a:spcPct val="150000"/>
                  </a:lnSpc>
                  <a:defRPr/>
                </a:pPr>
                <a:endParaRPr lang="zh-CN" altLang="en-US" sz="2954" dirty="0">
                  <a:solidFill>
                    <a:srgbClr val="000000"/>
                  </a:solidFill>
                  <a:latin typeface="黑体" panose="02010609060101010101" pitchFamily="49" charset="-122"/>
                  <a:ea typeface="黑体" panose="02010609060101010101" pitchFamily="49" charset="-122"/>
                </a:endParaRPr>
              </a:p>
            </p:txBody>
          </p:sp>
        </mc:Choice>
        <mc:Fallback xmlns="">
          <p:sp>
            <p:nvSpPr>
              <p:cNvPr id="93186" name="Rectangle 1">
                <a:extLst>
                  <a:ext uri="{FF2B5EF4-FFF2-40B4-BE49-F238E27FC236}"/>
                </a:extLst>
              </p:cNvPr>
              <p:cNvSpPr>
                <a:spLocks noRot="1" noChangeAspect="1" noMove="1" noResize="1" noEditPoints="1" noAdjustHandles="1" noChangeArrowheads="1" noChangeShapeType="1" noTextEdit="1"/>
              </p:cNvSpPr>
              <p:nvPr/>
            </p:nvSpPr>
            <p:spPr>
              <a:xfrm>
                <a:off x="0" y="1006529"/>
                <a:ext cx="9083675" cy="3501921"/>
              </a:xfrm>
              <a:prstGeom prst="rect">
                <a:avLst/>
              </a:prstGeom>
              <a:blipFill rotWithShape="0">
                <a:blip r:embed="rId2"/>
                <a:stretch>
                  <a:fillRect l="-1342"/>
                </a:stretch>
              </a:blipFill>
              <a:ln w="9525">
                <a:noFill/>
                <a:miter/>
              </a:ln>
            </p:spPr>
            <p:txBody>
              <a:bodyPr/>
              <a:lstStyle/>
              <a:p>
                <a:r>
                  <a:rPr lang="zh-CN" altLang="en-US">
                    <a:noFill/>
                  </a:rPr>
                  <a:t> </a:t>
                </a:r>
              </a:p>
            </p:txBody>
          </p:sp>
        </mc:Fallback>
      </mc:AlternateContent>
      <p:pic>
        <p:nvPicPr>
          <p:cNvPr id="144387" name="Picture 3" descr="图片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213" y="3559175"/>
            <a:ext cx="2136775" cy="209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92"/>
          <p:cNvSpPr txBox="1">
            <a:spLocks noChangeArrowheads="1"/>
          </p:cNvSpPr>
          <p:nvPr/>
        </p:nvSpPr>
        <p:spPr bwMode="auto">
          <a:xfrm>
            <a:off x="3707471" y="4598288"/>
            <a:ext cx="285409"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6" name="Text Box 292"/>
          <p:cNvSpPr txBox="1">
            <a:spLocks noChangeArrowheads="1"/>
          </p:cNvSpPr>
          <p:nvPr/>
        </p:nvSpPr>
        <p:spPr bwMode="auto">
          <a:xfrm>
            <a:off x="3707471" y="3836288"/>
            <a:ext cx="285409"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p:txBody>
          <a:bodyPr/>
          <a:lstStyle/>
          <a:p>
            <a:pPr>
              <a:lnSpc>
                <a:spcPct val="120000"/>
              </a:lnSpc>
              <a:defRPr/>
            </a:pPr>
            <a:r>
              <a:rPr lang="zh-CN" altLang="en-US" sz="3600" kern="1200" dirty="0">
                <a:latin typeface="黑体" panose="02010609060101010101" pitchFamily="49" charset="-122"/>
                <a:ea typeface="黑体" panose="02010609060101010101" pitchFamily="49" charset="-122"/>
                <a:cs typeface="+mn-cs"/>
              </a:rPr>
              <a:t>割集的定义</a:t>
            </a:r>
          </a:p>
        </p:txBody>
      </p:sp>
      <mc:AlternateContent xmlns:mc="http://schemas.openxmlformats.org/markup-compatibility/2006" xmlns:a14="http://schemas.microsoft.com/office/drawing/2010/main">
        <mc:Choice Requires="a14">
          <p:sp>
            <p:nvSpPr>
              <p:cNvPr id="14339" name="Rectangle 3"/>
              <p:cNvSpPr>
                <a:spLocks noGrp="1" noChangeArrowheads="1"/>
              </p:cNvSpPr>
              <p:nvPr>
                <p:ph type="body" idx="1"/>
              </p:nvPr>
            </p:nvSpPr>
            <p:spPr>
              <a:xfrm>
                <a:off x="0" y="985838"/>
                <a:ext cx="9144000" cy="4921250"/>
              </a:xfrm>
            </p:spPr>
            <p:txBody>
              <a:bodyPr>
                <a:noAutofit/>
              </a:bodyPr>
              <a:lstStyle/>
              <a:p>
                <a:pPr algn="just" eaLnBrk="1" hangingPunct="1">
                  <a:lnSpc>
                    <a:spcPct val="110000"/>
                  </a:lnSpc>
                  <a:buClr>
                    <a:srgbClr val="0000FF"/>
                  </a:buClr>
                  <a:buSzPct val="100000"/>
                  <a:defRPr/>
                </a:pPr>
                <a:r>
                  <a:rPr lang="zh-CN" altLang="zh-CN" sz="2800" kern="1200" dirty="0">
                    <a:solidFill>
                      <a:srgbClr val="0070C0"/>
                    </a:solidFill>
                    <a:latin typeface="Times New Roman" panose="02020603050405020304" pitchFamily="18" charset="0"/>
                    <a:cs typeface="Times New Roman" panose="02020603050405020304" pitchFamily="18" charset="0"/>
                  </a:rPr>
                  <a:t>定义</a:t>
                </a:r>
                <a:r>
                  <a:rPr lang="en-US" altLang="zh-CN" sz="2800" kern="1200" dirty="0">
                    <a:solidFill>
                      <a:srgbClr val="0070C0"/>
                    </a:solidFill>
                    <a:latin typeface="Times New Roman" panose="02020603050405020304" pitchFamily="18" charset="0"/>
                    <a:cs typeface="Times New Roman" panose="02020603050405020304" pitchFamily="18" charset="0"/>
                  </a:rPr>
                  <a:t>10.7.2 </a:t>
                </a:r>
                <a:r>
                  <a:rPr lang="zh-CN" altLang="en-US" sz="2800" b="0" dirty="0">
                    <a:solidFill>
                      <a:schemeClr val="tx1"/>
                    </a:solidFill>
                    <a:cs typeface="Times New Roman" panose="02020603050405020304" pitchFamily="18" charset="0"/>
                    <a:sym typeface="Symbol" panose="05050102010706020507" pitchFamily="18" charset="2"/>
                  </a:rPr>
                  <a:t>一条闭合链</a:t>
                </a:r>
                <a14:m>
                  <m:oMath xmlns:m="http://schemas.openxmlformats.org/officeDocument/2006/math">
                    <m:r>
                      <a:rPr lang="en-US" altLang="zh-CN" sz="2800" i="1">
                        <a:solidFill>
                          <a:schemeClr val="tx1"/>
                        </a:solidFill>
                        <a:latin typeface="Cambria Math" panose="02040503050406030204" pitchFamily="18" charset="0"/>
                      </a:rPr>
                      <m:t>𝑮</m:t>
                    </m:r>
                    <m:r>
                      <a:rPr lang="en-US" altLang="zh-CN" sz="2800" i="1">
                        <a:solidFill>
                          <a:schemeClr val="tx1"/>
                        </a:solidFill>
                        <a:latin typeface="Cambria Math" panose="02040503050406030204" pitchFamily="18" charset="0"/>
                      </a:rPr>
                      <m:t> </m:t>
                    </m:r>
                    <m:r>
                      <a:rPr lang="en-US" altLang="zh-CN" sz="2800" b="1" i="1" smtClean="0">
                        <a:solidFill>
                          <a:schemeClr val="tx1"/>
                        </a:solidFill>
                        <a:latin typeface="Cambria Math" panose="02040503050406030204" pitchFamily="18" charset="0"/>
                      </a:rPr>
                      <m:t>(</m:t>
                    </m:r>
                    <m:sSub>
                      <m:sSubPr>
                        <m:ctrlPr>
                          <a:rPr lang="en-US" altLang="zh-CN" sz="2800" b="1" i="1" smtClean="0">
                            <a:solidFill>
                              <a:schemeClr val="tx1"/>
                            </a:solidFill>
                            <a:latin typeface="Cambria Math" panose="02040503050406030204" pitchFamily="18" charset="0"/>
                          </a:rPr>
                        </m:ctrlPr>
                      </m:sSubPr>
                      <m:e>
                        <m:r>
                          <a:rPr lang="en-US" altLang="zh-CN" sz="2800" b="1" i="1" smtClean="0">
                            <a:solidFill>
                              <a:schemeClr val="tx1"/>
                            </a:solidFill>
                            <a:latin typeface="Cambria Math" panose="02040503050406030204" pitchFamily="18" charset="0"/>
                          </a:rPr>
                          <m:t>𝒖</m:t>
                        </m:r>
                      </m:e>
                      <m:sub>
                        <m:r>
                          <a:rPr lang="en-US" altLang="zh-CN" sz="2800" b="1" i="1" smtClean="0">
                            <a:solidFill>
                              <a:schemeClr val="tx1"/>
                            </a:solidFill>
                            <a:latin typeface="Cambria Math" panose="02040503050406030204" pitchFamily="18" charset="0"/>
                          </a:rPr>
                          <m:t>𝟏</m:t>
                        </m:r>
                      </m:sub>
                    </m:sSub>
                    <m:r>
                      <a:rPr lang="en-US" altLang="zh-CN" sz="2800" b="1" i="1" smtClean="0">
                        <a:solidFill>
                          <a:schemeClr val="tx1"/>
                        </a:solidFill>
                        <a:latin typeface="Cambria Math" panose="02040503050406030204" pitchFamily="18" charset="0"/>
                      </a:rPr>
                      <m:t>,</m:t>
                    </m:r>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𝒖</m:t>
                        </m:r>
                      </m:e>
                      <m:sub>
                        <m:r>
                          <a:rPr lang="en-US" altLang="zh-CN" sz="2800" b="1" i="1" smtClean="0">
                            <a:solidFill>
                              <a:schemeClr val="tx1"/>
                            </a:solidFill>
                            <a:latin typeface="Cambria Math" panose="02040503050406030204" pitchFamily="18" charset="0"/>
                          </a:rPr>
                          <m:t>𝟐</m:t>
                        </m:r>
                      </m:sub>
                    </m:sSub>
                    <m:r>
                      <a:rPr lang="en-US" altLang="zh-CN" sz="2800" b="1" i="1" smtClean="0">
                        <a:solidFill>
                          <a:schemeClr val="tx1"/>
                        </a:solidFill>
                        <a:latin typeface="Cambria Math" panose="02040503050406030204" pitchFamily="18" charset="0"/>
                      </a:rPr>
                      <m:t>,…,</m:t>
                    </m:r>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𝒖</m:t>
                        </m:r>
                      </m:e>
                      <m:sub>
                        <m:r>
                          <a:rPr lang="en-US" altLang="zh-CN" sz="2800" b="1" i="1" smtClean="0">
                            <a:solidFill>
                              <a:schemeClr val="tx1"/>
                            </a:solidFill>
                            <a:latin typeface="Cambria Math" panose="02040503050406030204" pitchFamily="18" charset="0"/>
                          </a:rPr>
                          <m:t>𝒏</m:t>
                        </m:r>
                      </m:sub>
                    </m:sSub>
                    <m:r>
                      <a:rPr lang="en-US" altLang="zh-CN" sz="2800" b="1" i="1" smtClean="0">
                        <a:solidFill>
                          <a:schemeClr val="tx1"/>
                        </a:solidFill>
                        <a:latin typeface="Cambria Math" panose="02040503050406030204" pitchFamily="18" charset="0"/>
                      </a:rPr>
                      <m:t>,</m:t>
                    </m:r>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𝒖</m:t>
                        </m:r>
                      </m:e>
                      <m:sub>
                        <m:r>
                          <a:rPr lang="en-US" altLang="zh-CN" sz="2800" i="1">
                            <a:solidFill>
                              <a:schemeClr val="tx1"/>
                            </a:solidFill>
                            <a:latin typeface="Cambria Math" panose="02040503050406030204" pitchFamily="18" charset="0"/>
                          </a:rPr>
                          <m:t>𝟏</m:t>
                        </m:r>
                      </m:sub>
                    </m:sSub>
                    <m:r>
                      <a:rPr lang="en-US" altLang="zh-CN" sz="2800" b="1" i="1" smtClean="0">
                        <a:solidFill>
                          <a:schemeClr val="tx1"/>
                        </a:solidFill>
                        <a:latin typeface="Cambria Math" panose="02040503050406030204" pitchFamily="18" charset="0"/>
                      </a:rPr>
                      <m:t>)</m:t>
                    </m:r>
                  </m:oMath>
                </a14:m>
                <a:r>
                  <a:rPr lang="zh-CN" altLang="en-US" sz="2800" b="0" dirty="0">
                    <a:solidFill>
                      <a:schemeClr val="tx1"/>
                    </a:solidFill>
                    <a:cs typeface="Times New Roman" panose="02020603050405020304" pitchFamily="18" charset="0"/>
                    <a:sym typeface="Symbol" panose="05050102010706020507" pitchFamily="18" charset="2"/>
                  </a:rPr>
                  <a:t>中的各节点</a:t>
                </a:r>
                <a14:m>
                  <m:oMath xmlns:m="http://schemas.openxmlformats.org/officeDocument/2006/math">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𝒖</m:t>
                        </m:r>
                      </m:e>
                      <m:sub>
                        <m:r>
                          <a:rPr lang="en-US" altLang="zh-CN" sz="2800" i="1">
                            <a:solidFill>
                              <a:schemeClr val="tx1"/>
                            </a:solidFill>
                            <a:latin typeface="Cambria Math" panose="02040503050406030204" pitchFamily="18" charset="0"/>
                          </a:rPr>
                          <m:t>𝟏</m:t>
                        </m:r>
                      </m:sub>
                    </m:sSub>
                    <m:r>
                      <a:rPr lang="en-US" altLang="zh-CN" sz="2800" i="1">
                        <a:solidFill>
                          <a:schemeClr val="tx1"/>
                        </a:solidFill>
                        <a:latin typeface="Cambria Math" panose="02040503050406030204" pitchFamily="18" charset="0"/>
                      </a:rPr>
                      <m:t>,</m:t>
                    </m:r>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𝒖</m:t>
                        </m:r>
                      </m:e>
                      <m:sub>
                        <m:r>
                          <a:rPr lang="en-US" altLang="zh-CN" sz="2800" i="1">
                            <a:solidFill>
                              <a:schemeClr val="tx1"/>
                            </a:solidFill>
                            <a:latin typeface="Cambria Math" panose="02040503050406030204" pitchFamily="18" charset="0"/>
                          </a:rPr>
                          <m:t>𝟐</m:t>
                        </m:r>
                      </m:sub>
                    </m:sSub>
                    <m:r>
                      <a:rPr lang="en-US" altLang="zh-CN" sz="2800" i="1">
                        <a:solidFill>
                          <a:schemeClr val="tx1"/>
                        </a:solidFill>
                        <a:latin typeface="Cambria Math" panose="02040503050406030204" pitchFamily="18" charset="0"/>
                      </a:rPr>
                      <m:t>,…,</m:t>
                    </m:r>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𝒖</m:t>
                        </m:r>
                      </m:e>
                      <m:sub>
                        <m:r>
                          <a:rPr lang="en-US" altLang="zh-CN" sz="2800" i="1">
                            <a:solidFill>
                              <a:schemeClr val="tx1"/>
                            </a:solidFill>
                            <a:latin typeface="Cambria Math" panose="02040503050406030204" pitchFamily="18" charset="0"/>
                          </a:rPr>
                          <m:t>𝒏</m:t>
                        </m:r>
                      </m:sub>
                    </m:sSub>
                  </m:oMath>
                </a14:m>
                <a:r>
                  <a:rPr lang="zh-CN" altLang="en-US" sz="2800" b="0" dirty="0">
                    <a:solidFill>
                      <a:schemeClr val="tx1"/>
                    </a:solidFill>
                    <a:cs typeface="Times New Roman" panose="02020603050405020304" pitchFamily="18" charset="0"/>
                    <a:sym typeface="Symbol" panose="05050102010706020507" pitchFamily="18" charset="2"/>
                  </a:rPr>
                  <a:t>均不同，并且所有的边也不同，则称这样一个闭合链为一个圈。</a:t>
                </a:r>
              </a:p>
              <a:p>
                <a:pPr algn="just" eaLnBrk="1" hangingPunct="1">
                  <a:lnSpc>
                    <a:spcPct val="110000"/>
                  </a:lnSpc>
                  <a:buClr>
                    <a:srgbClr val="0000FF"/>
                  </a:buClr>
                  <a:buSzPct val="100000"/>
                  <a:defRPr/>
                </a:pPr>
                <a:r>
                  <a:rPr lang="zh-CN" altLang="zh-CN" sz="2800" kern="1200" dirty="0">
                    <a:solidFill>
                      <a:srgbClr val="0070C0"/>
                    </a:solidFill>
                    <a:latin typeface="Times New Roman" panose="02020603050405020304" pitchFamily="18" charset="0"/>
                    <a:cs typeface="Times New Roman" panose="02020603050405020304" pitchFamily="18" charset="0"/>
                  </a:rPr>
                  <a:t>定义</a:t>
                </a:r>
                <a:r>
                  <a:rPr lang="en-US" altLang="zh-CN" sz="2800" kern="1200" dirty="0">
                    <a:solidFill>
                      <a:srgbClr val="0070C0"/>
                    </a:solidFill>
                    <a:latin typeface="Times New Roman" panose="02020603050405020304" pitchFamily="18" charset="0"/>
                    <a:cs typeface="Times New Roman" panose="02020603050405020304" pitchFamily="18" charset="0"/>
                  </a:rPr>
                  <a:t>10.7.3 </a:t>
                </a:r>
                <a:r>
                  <a:rPr lang="zh-CN" altLang="en-US" sz="2800" b="0" dirty="0">
                    <a:solidFill>
                      <a:schemeClr val="tx1"/>
                    </a:solidFill>
                    <a:cs typeface="Times New Roman" panose="02020603050405020304" pitchFamily="18" charset="0"/>
                    <a:sym typeface="Symbol" panose="05050102010706020507" pitchFamily="18" charset="2"/>
                  </a:rPr>
                  <a:t>一条链（或圈）的长度是它所含边的数目，链链</a:t>
                </a:r>
                <a14:m>
                  <m:oMath xmlns:m="http://schemas.openxmlformats.org/officeDocument/2006/math">
                    <m:r>
                      <a:rPr lang="en-US" altLang="zh-CN" sz="2800" b="1" i="1" smtClean="0">
                        <a:solidFill>
                          <a:schemeClr val="tx1"/>
                        </a:solidFill>
                        <a:latin typeface="Cambria Math" panose="02040503050406030204" pitchFamily="18" charset="0"/>
                      </a:rPr>
                      <m:t>𝑷</m:t>
                    </m:r>
                  </m:oMath>
                </a14:m>
                <a:r>
                  <a:rPr lang="zh-CN" altLang="en-US" sz="2800" b="0" dirty="0">
                    <a:solidFill>
                      <a:schemeClr val="tx1"/>
                    </a:solidFill>
                    <a:cs typeface="Times New Roman" panose="02020603050405020304" pitchFamily="18" charset="0"/>
                    <a:sym typeface="Symbol" panose="05050102010706020507" pitchFamily="18" charset="2"/>
                  </a:rPr>
                  <a:t>的长度记为</a:t>
                </a:r>
                <a14:m>
                  <m:oMath xmlns:m="http://schemas.openxmlformats.org/officeDocument/2006/math">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𝑷</m:t>
                    </m:r>
                    <m:r>
                      <a:rPr lang="en-US" altLang="zh-CN" sz="2800" b="1"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 </m:t>
                    </m:r>
                  </m:oMath>
                </a14:m>
                <a:r>
                  <a:rPr lang="zh-CN" altLang="en-US" sz="2800" b="0" dirty="0">
                    <a:cs typeface="Times New Roman" panose="02020603050405020304" pitchFamily="18" charset="0"/>
                    <a:sym typeface="Symbol" panose="05050102010706020507" pitchFamily="18" charset="2"/>
                  </a:rPr>
                  <a:t>。</a:t>
                </a:r>
              </a:p>
              <a:p>
                <a:pPr algn="just" eaLnBrk="1" hangingPunct="1">
                  <a:lnSpc>
                    <a:spcPct val="110000"/>
                  </a:lnSpc>
                  <a:buClr>
                    <a:srgbClr val="0000FF"/>
                  </a:buClr>
                  <a:buSzPct val="100000"/>
                  <a:defRPr/>
                </a:pPr>
                <a:r>
                  <a:rPr lang="zh-CN" altLang="zh-CN" sz="2800" kern="1200" dirty="0">
                    <a:solidFill>
                      <a:srgbClr val="0070C0"/>
                    </a:solidFill>
                    <a:latin typeface="Times New Roman" panose="02020603050405020304" pitchFamily="18" charset="0"/>
                    <a:cs typeface="Times New Roman" panose="02020603050405020304" pitchFamily="18" charset="0"/>
                  </a:rPr>
                  <a:t>定义</a:t>
                </a:r>
                <a:r>
                  <a:rPr lang="en-US" altLang="zh-CN" sz="2800" kern="1200" dirty="0">
                    <a:solidFill>
                      <a:srgbClr val="0070C0"/>
                    </a:solidFill>
                    <a:latin typeface="Times New Roman" panose="02020603050405020304" pitchFamily="18" charset="0"/>
                    <a:cs typeface="Times New Roman" panose="02020603050405020304" pitchFamily="18" charset="0"/>
                  </a:rPr>
                  <a:t>10.7.4 </a:t>
                </a:r>
                <a:r>
                  <a:rPr lang="zh-CN" altLang="en-US" sz="2800" b="0" dirty="0">
                    <a:solidFill>
                      <a:schemeClr val="tx1"/>
                    </a:solidFill>
                    <a:cs typeface="Times New Roman" panose="02020603050405020304" pitchFamily="18" charset="0"/>
                    <a:sym typeface="Symbol" panose="05050102010706020507" pitchFamily="18" charset="2"/>
                  </a:rPr>
                  <a:t>设</a:t>
                </a:r>
                <a14:m>
                  <m:oMath xmlns:m="http://schemas.openxmlformats.org/officeDocument/2006/math">
                    <m:r>
                      <a:rPr lang="en-US" altLang="zh-CN" sz="2800" b="1" i="1" smtClean="0">
                        <a:solidFill>
                          <a:schemeClr val="tx1"/>
                        </a:solidFill>
                        <a:latin typeface="Cambria Math" panose="02040503050406030204" pitchFamily="18" charset="0"/>
                      </a:rPr>
                      <m:t>𝒖</m:t>
                    </m:r>
                  </m:oMath>
                </a14:m>
                <a:r>
                  <a:rPr lang="zh-CN" altLang="en-US" sz="2800" b="0" dirty="0">
                    <a:solidFill>
                      <a:schemeClr val="tx1"/>
                    </a:solidFill>
                    <a:cs typeface="Times New Roman" panose="02020603050405020304" pitchFamily="18" charset="0"/>
                    <a:sym typeface="Symbol" panose="05050102010706020507" pitchFamily="18" charset="2"/>
                  </a:rPr>
                  <a:t>和</a:t>
                </a:r>
                <a14:m>
                  <m:oMath xmlns:m="http://schemas.openxmlformats.org/officeDocument/2006/math">
                    <m:r>
                      <a:rPr lang="en-US" altLang="zh-CN" sz="2800" b="1" i="1" smtClean="0">
                        <a:solidFill>
                          <a:schemeClr val="tx1"/>
                        </a:solidFill>
                        <a:latin typeface="Cambria Math" panose="02040503050406030204" pitchFamily="18" charset="0"/>
                      </a:rPr>
                      <m:t>𝒗</m:t>
                    </m:r>
                  </m:oMath>
                </a14:m>
                <a:r>
                  <a:rPr lang="zh-CN" altLang="en-US" sz="2800" b="0" dirty="0">
                    <a:solidFill>
                      <a:schemeClr val="tx1"/>
                    </a:solidFill>
                    <a:cs typeface="Times New Roman" panose="02020603050405020304" pitchFamily="18" charset="0"/>
                    <a:sym typeface="Symbol" panose="05050102010706020507" pitchFamily="18" charset="2"/>
                  </a:rPr>
                  <a:t>是无向图</a:t>
                </a:r>
                <a14:m>
                  <m:oMath xmlns:m="http://schemas.openxmlformats.org/officeDocument/2006/math">
                    <m:r>
                      <a:rPr lang="en-US" altLang="zh-CN" sz="2800" i="1">
                        <a:solidFill>
                          <a:schemeClr val="tx1"/>
                        </a:solidFill>
                        <a:latin typeface="Cambria Math" panose="02040503050406030204" pitchFamily="18" charset="0"/>
                      </a:rPr>
                      <m:t>𝑮</m:t>
                    </m:r>
                  </m:oMath>
                </a14:m>
                <a:r>
                  <a:rPr lang="zh-CN" altLang="en-US" sz="2800" b="0" dirty="0">
                    <a:solidFill>
                      <a:schemeClr val="tx1"/>
                    </a:solidFill>
                    <a:cs typeface="Times New Roman" panose="02020603050405020304" pitchFamily="18" charset="0"/>
                    <a:sym typeface="Symbol" panose="05050102010706020507" pitchFamily="18" charset="2"/>
                  </a:rPr>
                  <a:t>中任何两个节点，</a:t>
                </a:r>
                <a14:m>
                  <m:oMath xmlns:m="http://schemas.openxmlformats.org/officeDocument/2006/math">
                    <m:r>
                      <a:rPr lang="en-US" altLang="zh-CN" sz="2800" i="1">
                        <a:solidFill>
                          <a:schemeClr val="tx1"/>
                        </a:solidFill>
                        <a:latin typeface="Cambria Math" panose="02040503050406030204" pitchFamily="18" charset="0"/>
                      </a:rPr>
                      <m:t>𝒖</m:t>
                    </m:r>
                  </m:oMath>
                </a14:m>
                <a:r>
                  <a:rPr lang="zh-CN" altLang="en-US" sz="2800" b="0" dirty="0">
                    <a:solidFill>
                      <a:schemeClr val="tx1"/>
                    </a:solidFill>
                    <a:cs typeface="Times New Roman" panose="02020603050405020304" pitchFamily="18" charset="0"/>
                    <a:sym typeface="Symbol" panose="05050102010706020507" pitchFamily="18" charset="2"/>
                  </a:rPr>
                  <a:t>和</a:t>
                </a:r>
                <a14:m>
                  <m:oMath xmlns:m="http://schemas.openxmlformats.org/officeDocument/2006/math">
                    <m:r>
                      <a:rPr lang="en-US" altLang="zh-CN" sz="2800" i="1" smtClean="0">
                        <a:solidFill>
                          <a:schemeClr val="tx1"/>
                        </a:solidFill>
                        <a:latin typeface="Cambria Math" panose="02040503050406030204" pitchFamily="18" charset="0"/>
                      </a:rPr>
                      <m:t>𝒗</m:t>
                    </m:r>
                  </m:oMath>
                </a14:m>
                <a:r>
                  <a:rPr lang="zh-CN" altLang="en-US" sz="2800" b="0" dirty="0">
                    <a:solidFill>
                      <a:schemeClr val="tx1"/>
                    </a:solidFill>
                    <a:cs typeface="Times New Roman" panose="02020603050405020304" pitchFamily="18" charset="0"/>
                    <a:sym typeface="Symbol" panose="05050102010706020507" pitchFamily="18" charset="2"/>
                  </a:rPr>
                  <a:t>之间最短链的长度称为</a:t>
                </a:r>
                <a14:m>
                  <m:oMath xmlns:m="http://schemas.openxmlformats.org/officeDocument/2006/math">
                    <m:r>
                      <a:rPr lang="en-US" altLang="zh-CN" sz="2800" i="1">
                        <a:solidFill>
                          <a:schemeClr val="tx1"/>
                        </a:solidFill>
                        <a:latin typeface="Cambria Math" panose="02040503050406030204" pitchFamily="18" charset="0"/>
                      </a:rPr>
                      <m:t>𝒖</m:t>
                    </m:r>
                  </m:oMath>
                </a14:m>
                <a:r>
                  <a:rPr lang="zh-CN" altLang="en-US" sz="2800" b="0" dirty="0">
                    <a:solidFill>
                      <a:schemeClr val="tx1"/>
                    </a:solidFill>
                    <a:cs typeface="Times New Roman" panose="02020603050405020304" pitchFamily="18" charset="0"/>
                    <a:sym typeface="Symbol" panose="05050102010706020507" pitchFamily="18" charset="2"/>
                  </a:rPr>
                  <a:t>和</a:t>
                </a:r>
                <a14:m>
                  <m:oMath xmlns:m="http://schemas.openxmlformats.org/officeDocument/2006/math">
                    <m:r>
                      <a:rPr lang="en-US" altLang="zh-CN" sz="2800" i="1">
                        <a:solidFill>
                          <a:schemeClr val="tx1"/>
                        </a:solidFill>
                        <a:latin typeface="Cambria Math" panose="02040503050406030204" pitchFamily="18" charset="0"/>
                      </a:rPr>
                      <m:t>𝒗</m:t>
                    </m:r>
                  </m:oMath>
                </a14:m>
                <a:r>
                  <a:rPr lang="zh-CN" altLang="en-US" sz="2800" b="0" dirty="0">
                    <a:solidFill>
                      <a:schemeClr val="tx1"/>
                    </a:solidFill>
                    <a:cs typeface="Times New Roman" panose="02020603050405020304" pitchFamily="18" charset="0"/>
                    <a:sym typeface="Symbol" panose="05050102010706020507" pitchFamily="18" charset="2"/>
                  </a:rPr>
                  <a:t>之间的距离，记作</a:t>
                </a:r>
                <a14:m>
                  <m:oMath xmlns:m="http://schemas.openxmlformats.org/officeDocument/2006/math">
                    <m:r>
                      <a:rPr lang="en-US" altLang="zh-CN" sz="2800" b="1" i="1" smtClean="0">
                        <a:solidFill>
                          <a:schemeClr val="tx1"/>
                        </a:solidFill>
                        <a:latin typeface="Cambria Math" panose="02040503050406030204" pitchFamily="18" charset="0"/>
                      </a:rPr>
                      <m:t>𝒅</m:t>
                    </m:r>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𝒖</m:t>
                    </m:r>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𝒗</m:t>
                    </m:r>
                    <m:r>
                      <a:rPr lang="en-US" altLang="zh-CN" sz="2800" b="1" i="1" smtClean="0">
                        <a:solidFill>
                          <a:schemeClr val="tx1"/>
                        </a:solidFill>
                        <a:latin typeface="Cambria Math" panose="02040503050406030204" pitchFamily="18" charset="0"/>
                      </a:rPr>
                      <m:t>)</m:t>
                    </m:r>
                  </m:oMath>
                </a14:m>
                <a:r>
                  <a:rPr lang="zh-CN" altLang="en-US" sz="2800" b="0" dirty="0">
                    <a:solidFill>
                      <a:schemeClr val="tx1"/>
                    </a:solidFill>
                    <a:cs typeface="Times New Roman" panose="02020603050405020304" pitchFamily="18" charset="0"/>
                    <a:sym typeface="Symbol" panose="05050102010706020507" pitchFamily="18" charset="2"/>
                  </a:rPr>
                  <a:t>。</a:t>
                </a:r>
                <a:endParaRPr lang="en-US" altLang="zh-CN" sz="2800" b="0" dirty="0">
                  <a:solidFill>
                    <a:schemeClr val="tx1"/>
                  </a:solidFill>
                  <a:cs typeface="Times New Roman" panose="02020603050405020304" pitchFamily="18" charset="0"/>
                  <a:sym typeface="Symbol" panose="05050102010706020507" pitchFamily="18" charset="2"/>
                </a:endParaRPr>
              </a:p>
            </p:txBody>
          </p:sp>
        </mc:Choice>
        <mc:Fallback xmlns="">
          <p:sp>
            <p:nvSpPr>
              <p:cNvPr id="14339" name="Rectangle 3"/>
              <p:cNvSpPr>
                <a:spLocks noGrp="1" noRot="1" noChangeAspect="1" noMove="1" noResize="1" noEditPoints="1" noAdjustHandles="1" noChangeArrowheads="1" noChangeShapeType="1" noTextEdit="1"/>
              </p:cNvSpPr>
              <p:nvPr>
                <p:ph type="body" idx="1"/>
              </p:nvPr>
            </p:nvSpPr>
            <p:spPr>
              <a:xfrm>
                <a:off x="0" y="985838"/>
                <a:ext cx="9144000" cy="4921250"/>
              </a:xfrm>
              <a:blipFill rotWithShape="0">
                <a:blip r:embed="rId3"/>
                <a:stretch>
                  <a:fillRect l="-1133" t="-1611" r="-1333"/>
                </a:stretch>
              </a:blipFill>
            </p:spPr>
            <p:txBody>
              <a:bodyPr/>
              <a:lstStyle/>
              <a:p>
                <a:r>
                  <a:rPr lang="zh-CN" altLang="en-US">
                    <a:noFill/>
                  </a:rPr>
                  <a:t> </a:t>
                </a:r>
              </a:p>
            </p:txBody>
          </p:sp>
        </mc:Fallback>
      </mc:AlternateContent>
      <p:grpSp>
        <p:nvGrpSpPr>
          <p:cNvPr id="5" name="Group 326"/>
          <p:cNvGrpSpPr>
            <a:grpSpLocks/>
          </p:cNvGrpSpPr>
          <p:nvPr/>
        </p:nvGrpSpPr>
        <p:grpSpPr bwMode="auto">
          <a:xfrm>
            <a:off x="2940937" y="5235597"/>
            <a:ext cx="2065469" cy="1150760"/>
            <a:chOff x="1008" y="2496"/>
            <a:chExt cx="672" cy="384"/>
          </a:xfrm>
        </p:grpSpPr>
        <p:sp>
          <p:nvSpPr>
            <p:cNvPr id="6" name="Line 280"/>
            <p:cNvSpPr>
              <a:spLocks noChangeShapeType="1"/>
            </p:cNvSpPr>
            <p:nvPr/>
          </p:nvSpPr>
          <p:spPr bwMode="auto">
            <a:xfrm>
              <a:off x="1008" y="2496"/>
              <a:ext cx="168" cy="188"/>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8" name="Line 283"/>
            <p:cNvSpPr>
              <a:spLocks noChangeShapeType="1"/>
            </p:cNvSpPr>
            <p:nvPr/>
          </p:nvSpPr>
          <p:spPr bwMode="auto">
            <a:xfrm flipV="1">
              <a:off x="1176" y="2496"/>
              <a:ext cx="168" cy="188"/>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 name="Line 284"/>
            <p:cNvSpPr>
              <a:spLocks noChangeShapeType="1"/>
            </p:cNvSpPr>
            <p:nvPr/>
          </p:nvSpPr>
          <p:spPr bwMode="auto">
            <a:xfrm flipH="1">
              <a:off x="1344" y="2496"/>
              <a:ext cx="336" cy="0"/>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0" name="Line 285"/>
            <p:cNvSpPr>
              <a:spLocks noChangeShapeType="1"/>
            </p:cNvSpPr>
            <p:nvPr/>
          </p:nvSpPr>
          <p:spPr bwMode="auto">
            <a:xfrm flipH="1">
              <a:off x="1008" y="2496"/>
              <a:ext cx="0" cy="375"/>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1" name="Line 286"/>
            <p:cNvSpPr>
              <a:spLocks noChangeShapeType="1"/>
            </p:cNvSpPr>
            <p:nvPr/>
          </p:nvSpPr>
          <p:spPr bwMode="auto">
            <a:xfrm>
              <a:off x="1344" y="2871"/>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2" name="Line 287"/>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3" name="Line 288"/>
            <p:cNvSpPr>
              <a:spLocks noChangeShapeType="1"/>
            </p:cNvSpPr>
            <p:nvPr/>
          </p:nvSpPr>
          <p:spPr bwMode="auto">
            <a:xfrm>
              <a:off x="1680" y="2496"/>
              <a:ext cx="0" cy="375"/>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4" name="Line 289"/>
            <p:cNvSpPr>
              <a:spLocks noChangeShapeType="1"/>
            </p:cNvSpPr>
            <p:nvPr/>
          </p:nvSpPr>
          <p:spPr bwMode="auto">
            <a:xfrm flipH="1" flipV="1">
              <a:off x="1512" y="2685"/>
              <a:ext cx="168" cy="186"/>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5" name="Line 290"/>
            <p:cNvSpPr>
              <a:spLocks noChangeShapeType="1"/>
            </p:cNvSpPr>
            <p:nvPr/>
          </p:nvSpPr>
          <p:spPr bwMode="auto">
            <a:xfrm flipH="1">
              <a:off x="1344" y="2684"/>
              <a:ext cx="168" cy="187"/>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6" name="Line 291"/>
            <p:cNvSpPr>
              <a:spLocks noChangeShapeType="1"/>
            </p:cNvSpPr>
            <p:nvPr/>
          </p:nvSpPr>
          <p:spPr bwMode="auto">
            <a:xfrm>
              <a:off x="1008" y="2880"/>
              <a:ext cx="336" cy="0"/>
            </a:xfrm>
            <a:prstGeom prst="line">
              <a:avLst/>
            </a:prstGeom>
            <a:noFill/>
            <a:ln w="28575">
              <a:solidFill>
                <a:srgbClr val="FF0000"/>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grpSp>
      <mc:AlternateContent xmlns:mc="http://schemas.openxmlformats.org/markup-compatibility/2006" xmlns:a14="http://schemas.microsoft.com/office/drawing/2010/main">
        <mc:Choice Requires="a14">
          <p:sp>
            <p:nvSpPr>
              <p:cNvPr id="17" name="文本框 16"/>
              <p:cNvSpPr txBox="1"/>
              <p:nvPr/>
            </p:nvSpPr>
            <p:spPr>
              <a:xfrm>
                <a:off x="5062390" y="4773932"/>
                <a:ext cx="46038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𝒖</m:t>
                      </m:r>
                    </m:oMath>
                  </m:oMathPara>
                </a14:m>
                <a:endParaRPr lang="zh-CN" altLang="en-US" sz="2400" dirty="0">
                  <a:ea typeface="黑体" panose="02010609060101010101" pitchFamily="49" charset="-122"/>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5062390" y="4773932"/>
                <a:ext cx="460382" cy="461665"/>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2424569" y="6359386"/>
                <a:ext cx="4459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𝒗</m:t>
                      </m:r>
                    </m:oMath>
                  </m:oMathPara>
                </a14:m>
                <a:endParaRPr lang="zh-CN" altLang="en-US" sz="2400" b="1" dirty="0">
                  <a:ea typeface="黑体" panose="02010609060101010101" pitchFamily="49" charset="-122"/>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2424569" y="6359386"/>
                <a:ext cx="445956" cy="461665"/>
              </a:xfrm>
              <a:prstGeom prst="rect">
                <a:avLst/>
              </a:prstGeom>
              <a:blipFill rotWithShape="0">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9198231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p:txBody>
          <a:bodyPr/>
          <a:lstStyle/>
          <a:p>
            <a:pPr>
              <a:lnSpc>
                <a:spcPct val="120000"/>
              </a:lnSpc>
              <a:defRPr/>
            </a:pPr>
            <a:r>
              <a:rPr lang="zh-CN" altLang="en-US" sz="3600" kern="1200" dirty="0">
                <a:latin typeface="黑体" panose="02010609060101010101" pitchFamily="49" charset="-122"/>
                <a:ea typeface="黑体" panose="02010609060101010101" pitchFamily="49" charset="-122"/>
                <a:cs typeface="+mn-cs"/>
              </a:rPr>
              <a:t>点割集的定义</a:t>
            </a:r>
          </a:p>
        </p:txBody>
      </p:sp>
      <mc:AlternateContent xmlns:mc="http://schemas.openxmlformats.org/markup-compatibility/2006" xmlns:a14="http://schemas.microsoft.com/office/drawing/2010/main">
        <mc:Choice Requires="a14">
          <p:sp>
            <p:nvSpPr>
              <p:cNvPr id="14339" name="Rectangle 3"/>
              <p:cNvSpPr>
                <a:spLocks noGrp="1" noChangeArrowheads="1"/>
              </p:cNvSpPr>
              <p:nvPr>
                <p:ph type="body" idx="1"/>
              </p:nvPr>
            </p:nvSpPr>
            <p:spPr>
              <a:xfrm>
                <a:off x="0" y="985838"/>
                <a:ext cx="9144000" cy="4921250"/>
              </a:xfrm>
            </p:spPr>
            <p:txBody>
              <a:bodyPr>
                <a:noAutofit/>
              </a:bodyPr>
              <a:lstStyle/>
              <a:p>
                <a:pPr marL="0" indent="0" algn="just" eaLnBrk="1" hangingPunct="1">
                  <a:lnSpc>
                    <a:spcPct val="120000"/>
                  </a:lnSpc>
                  <a:buClr>
                    <a:srgbClr val="0000FF"/>
                  </a:buClr>
                  <a:buSzPct val="80000"/>
                  <a:buNone/>
                  <a:defRPr/>
                </a:pPr>
                <a:endParaRPr lang="en-US" altLang="zh-CN" sz="2800" b="0" dirty="0">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endParaRPr>
              </a:p>
              <a:p>
                <a:pPr algn="just" eaLnBrk="1" hangingPunct="1">
                  <a:lnSpc>
                    <a:spcPct val="120000"/>
                  </a:lnSpc>
                  <a:buClr>
                    <a:srgbClr val="0000FF"/>
                  </a:buClr>
                  <a:buSzPct val="80000"/>
                  <a:buFont typeface="Wingdings" panose="05000000000000000000" pitchFamily="2" charset="2"/>
                  <a:buChar char="l"/>
                  <a:defRPr/>
                </a:pPr>
                <a:r>
                  <a:rPr lang="zh-CN" altLang="en-US" sz="2800" b="0" dirty="0">
                    <a:solidFill>
                      <a:schemeClr val="tx1"/>
                    </a:solidFill>
                    <a:cs typeface="Times New Roman" panose="02020603050405020304" pitchFamily="18" charset="0"/>
                    <a:sym typeface="Symbol" panose="05050102010706020507" pitchFamily="18" charset="2"/>
                  </a:rPr>
                  <a:t>如果不存在</a:t>
                </a:r>
                <a14:m>
                  <m:oMath xmlns:m="http://schemas.openxmlformats.org/officeDocument/2006/math">
                    <m:r>
                      <a:rPr lang="en-US" altLang="zh-CN" sz="2800" i="1">
                        <a:solidFill>
                          <a:schemeClr val="tx1"/>
                        </a:solidFill>
                        <a:latin typeface="Cambria Math" panose="02040503050406030204" pitchFamily="18" charset="0"/>
                      </a:rPr>
                      <m:t>𝒖</m:t>
                    </m:r>
                  </m:oMath>
                </a14:m>
                <a:r>
                  <a:rPr lang="zh-CN" altLang="en-US" sz="2800" b="0" dirty="0">
                    <a:solidFill>
                      <a:schemeClr val="tx1"/>
                    </a:solidFill>
                    <a:cs typeface="Times New Roman" panose="02020603050405020304" pitchFamily="18" charset="0"/>
                    <a:sym typeface="Symbol" panose="05050102010706020507" pitchFamily="18" charset="2"/>
                  </a:rPr>
                  <a:t>和</a:t>
                </a:r>
                <a14:m>
                  <m:oMath xmlns:m="http://schemas.openxmlformats.org/officeDocument/2006/math">
                    <m:r>
                      <a:rPr lang="en-US" altLang="zh-CN" sz="2800" i="1">
                        <a:solidFill>
                          <a:schemeClr val="tx1"/>
                        </a:solidFill>
                        <a:latin typeface="Cambria Math" panose="02040503050406030204" pitchFamily="18" charset="0"/>
                      </a:rPr>
                      <m:t>𝒗</m:t>
                    </m:r>
                  </m:oMath>
                </a14:m>
                <a:r>
                  <a:rPr lang="zh-CN" altLang="en-US" sz="2800" b="0" dirty="0">
                    <a:solidFill>
                      <a:schemeClr val="tx1"/>
                    </a:solidFill>
                    <a:cs typeface="Times New Roman" panose="02020603050405020304" pitchFamily="18" charset="0"/>
                    <a:sym typeface="Symbol" panose="05050102010706020507" pitchFamily="18" charset="2"/>
                  </a:rPr>
                  <a:t>之间的链，则说</a:t>
                </a:r>
                <a14:m>
                  <m:oMath xmlns:m="http://schemas.openxmlformats.org/officeDocument/2006/math">
                    <m:r>
                      <a:rPr lang="en-US" altLang="zh-CN" sz="2800" i="1">
                        <a:solidFill>
                          <a:schemeClr val="tx1"/>
                        </a:solidFill>
                        <a:latin typeface="Cambria Math" panose="02040503050406030204" pitchFamily="18" charset="0"/>
                      </a:rPr>
                      <m:t>𝒅</m:t>
                    </m:r>
                    <m:d>
                      <m:dPr>
                        <m:ctrlPr>
                          <a:rPr lang="en-US"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𝒖</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𝒗</m:t>
                        </m:r>
                      </m:e>
                    </m:d>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ea typeface="Cambria Math" panose="02040503050406030204" pitchFamily="18" charset="0"/>
                      </a:rPr>
                      <m:t>∞</m:t>
                    </m:r>
                    <m:r>
                      <a:rPr lang="en-US" altLang="zh-CN" sz="2800" i="1">
                        <a:solidFill>
                          <a:schemeClr val="tx1"/>
                        </a:solidFill>
                        <a:latin typeface="Cambria Math" panose="02040503050406030204" pitchFamily="18" charset="0"/>
                      </a:rPr>
                      <m:t> </m:t>
                    </m:r>
                  </m:oMath>
                </a14:m>
                <a:r>
                  <a:rPr lang="zh-CN" altLang="en-US" sz="2800" b="0" dirty="0">
                    <a:solidFill>
                      <a:schemeClr val="tx1"/>
                    </a:solidFill>
                    <a:cs typeface="Times New Roman" panose="02020603050405020304" pitchFamily="18" charset="0"/>
                    <a:sym typeface="Symbol" panose="05050102010706020507" pitchFamily="18" charset="2"/>
                  </a:rPr>
                  <a:t>。 </a:t>
                </a:r>
                <a:endParaRPr lang="en-US" altLang="zh-CN" sz="2800" b="0" dirty="0">
                  <a:solidFill>
                    <a:schemeClr val="tx1"/>
                  </a:solidFill>
                  <a:cs typeface="Times New Roman" panose="02020603050405020304" pitchFamily="18" charset="0"/>
                  <a:sym typeface="Symbol" panose="05050102010706020507" pitchFamily="18" charset="2"/>
                </a:endParaRPr>
              </a:p>
              <a:p>
                <a:pPr algn="just" eaLnBrk="1" hangingPunct="1">
                  <a:lnSpc>
                    <a:spcPct val="120000"/>
                  </a:lnSpc>
                  <a:buClr>
                    <a:srgbClr val="0000FF"/>
                  </a:buClr>
                  <a:buSzPct val="80000"/>
                  <a:buFont typeface="Wingdings" panose="05000000000000000000" pitchFamily="2" charset="2"/>
                  <a:buChar char="l"/>
                  <a:defRPr/>
                </a:pPr>
                <a:r>
                  <a:rPr lang="zh-CN" altLang="en-US" sz="2800" b="0" dirty="0">
                    <a:solidFill>
                      <a:schemeClr val="tx1"/>
                    </a:solidFill>
                    <a:cs typeface="Times New Roman" panose="02020603050405020304" pitchFamily="18" charset="0"/>
                    <a:sym typeface="Symbol" panose="05050102010706020507" pitchFamily="18" charset="2"/>
                  </a:rPr>
                  <a:t>对于任何节点</a:t>
                </a:r>
                <a14:m>
                  <m:oMath xmlns:m="http://schemas.openxmlformats.org/officeDocument/2006/math">
                    <m:r>
                      <a:rPr lang="en-US" altLang="zh-CN" sz="2800" i="1">
                        <a:solidFill>
                          <a:schemeClr val="tx1"/>
                        </a:solidFill>
                        <a:latin typeface="Cambria Math" panose="02040503050406030204" pitchFamily="18" charset="0"/>
                      </a:rPr>
                      <m:t>𝒖</m:t>
                    </m:r>
                    <m:r>
                      <a:rPr lang="en-US" altLang="zh-CN" sz="2800" i="1">
                        <a:solidFill>
                          <a:schemeClr val="tx1"/>
                        </a:solidFill>
                        <a:latin typeface="Cambria Math" panose="02040503050406030204" pitchFamily="18" charset="0"/>
                      </a:rPr>
                      <m:t> </m:t>
                    </m:r>
                  </m:oMath>
                </a14:m>
                <a:r>
                  <a:rPr lang="zh-CN" altLang="en-US" sz="2800" b="0" dirty="0">
                    <a:solidFill>
                      <a:schemeClr val="tx1"/>
                    </a:solidFill>
                    <a:cs typeface="Times New Roman" panose="02020603050405020304" pitchFamily="18" charset="0"/>
                    <a:sym typeface="Symbol" panose="05050102010706020507" pitchFamily="18" charset="2"/>
                  </a:rPr>
                  <a:t>，</a:t>
                </a:r>
                <a:r>
                  <a:rPr lang="en-US" altLang="zh-CN" sz="2800" dirty="0">
                    <a:solidFill>
                      <a:schemeClr val="tx1"/>
                    </a:solidFill>
                  </a:rPr>
                  <a:t> </a:t>
                </a:r>
                <a14:m>
                  <m:oMath xmlns:m="http://schemas.openxmlformats.org/officeDocument/2006/math">
                    <m:r>
                      <a:rPr lang="en-US" altLang="zh-CN" sz="2800" i="1">
                        <a:solidFill>
                          <a:schemeClr val="tx1"/>
                        </a:solidFill>
                        <a:latin typeface="Cambria Math" panose="02040503050406030204" pitchFamily="18" charset="0"/>
                      </a:rPr>
                      <m:t>𝒅</m:t>
                    </m:r>
                    <m:d>
                      <m:dPr>
                        <m:ctrlPr>
                          <a:rPr lang="en-US"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𝒖</m:t>
                        </m:r>
                        <m:r>
                          <a:rPr lang="en-US" altLang="zh-CN" sz="2800" i="1">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𝒖</m:t>
                        </m:r>
                      </m:e>
                    </m:d>
                    <m:r>
                      <a:rPr lang="en-US" altLang="zh-CN" sz="2800" i="1">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𝟎</m:t>
                    </m:r>
                    <m:r>
                      <a:rPr lang="en-US" altLang="zh-CN" sz="2800" i="1">
                        <a:solidFill>
                          <a:schemeClr val="tx1"/>
                        </a:solidFill>
                        <a:latin typeface="Cambria Math" panose="02040503050406030204" pitchFamily="18" charset="0"/>
                      </a:rPr>
                      <m:t> </m:t>
                    </m:r>
                  </m:oMath>
                </a14:m>
                <a:r>
                  <a:rPr lang="zh-CN" altLang="en-US" sz="2800" b="0" dirty="0">
                    <a:solidFill>
                      <a:schemeClr val="tx1"/>
                    </a:solidFill>
                    <a:cs typeface="Times New Roman" panose="02020603050405020304" pitchFamily="18" charset="0"/>
                    <a:sym typeface="Symbol" panose="05050102010706020507" pitchFamily="18" charset="2"/>
                  </a:rPr>
                  <a:t>。</a:t>
                </a:r>
              </a:p>
              <a:p>
                <a:pPr algn="just" eaLnBrk="1" hangingPunct="1">
                  <a:lnSpc>
                    <a:spcPct val="120000"/>
                  </a:lnSpc>
                  <a:buClr>
                    <a:srgbClr val="0000FF"/>
                  </a:buClr>
                  <a:buSzPct val="80000"/>
                  <a:buFont typeface="Wingdings" panose="05000000000000000000" pitchFamily="2" charset="2"/>
                  <a:buChar char="l"/>
                  <a:defRPr/>
                </a:pPr>
                <a:r>
                  <a:rPr lang="zh-CN" altLang="en-US" sz="2800" b="0" dirty="0">
                    <a:solidFill>
                      <a:schemeClr val="tx1"/>
                    </a:solidFill>
                    <a:cs typeface="Times New Roman" panose="02020603050405020304" pitchFamily="18" charset="0"/>
                    <a:sym typeface="Symbol" panose="05050102010706020507" pitchFamily="18" charset="2"/>
                  </a:rPr>
                  <a:t>任何节点</a:t>
                </a:r>
                <a14:m>
                  <m:oMath xmlns:m="http://schemas.openxmlformats.org/officeDocument/2006/math">
                    <m:r>
                      <a:rPr lang="en-US" altLang="zh-CN" sz="2800" i="1">
                        <a:solidFill>
                          <a:schemeClr val="tx1"/>
                        </a:solidFill>
                        <a:latin typeface="Cambria Math" panose="02040503050406030204" pitchFamily="18" charset="0"/>
                      </a:rPr>
                      <m:t>𝒖</m:t>
                    </m:r>
                  </m:oMath>
                </a14:m>
                <a:r>
                  <a:rPr lang="zh-CN" altLang="en-US" sz="2800" b="0" dirty="0">
                    <a:solidFill>
                      <a:schemeClr val="tx1"/>
                    </a:solidFill>
                    <a:cs typeface="Times New Roman" panose="02020603050405020304" pitchFamily="18" charset="0"/>
                    <a:sym typeface="Symbol" panose="05050102010706020507" pitchFamily="18" charset="2"/>
                  </a:rPr>
                  <a:t>和</a:t>
                </a:r>
                <a14:m>
                  <m:oMath xmlns:m="http://schemas.openxmlformats.org/officeDocument/2006/math">
                    <m:r>
                      <a:rPr lang="en-US" altLang="zh-CN" sz="2800" i="1">
                        <a:solidFill>
                          <a:schemeClr val="tx1"/>
                        </a:solidFill>
                        <a:latin typeface="Cambria Math" panose="02040503050406030204" pitchFamily="18" charset="0"/>
                      </a:rPr>
                      <m:t>𝒗</m:t>
                    </m:r>
                    <m:r>
                      <a:rPr lang="en-US" altLang="zh-CN" sz="2800" i="1">
                        <a:solidFill>
                          <a:schemeClr val="tx1"/>
                        </a:solidFill>
                        <a:latin typeface="Cambria Math" panose="02040503050406030204" pitchFamily="18" charset="0"/>
                      </a:rPr>
                      <m:t> </m:t>
                    </m:r>
                  </m:oMath>
                </a14:m>
                <a:r>
                  <a:rPr lang="en-US" altLang="zh-CN" sz="2800" b="0" dirty="0">
                    <a:solidFill>
                      <a:schemeClr val="tx1"/>
                    </a:solidFill>
                    <a:cs typeface="Times New Roman" panose="02020603050405020304" pitchFamily="18" charset="0"/>
                    <a:sym typeface="Symbol" panose="05050102010706020507" pitchFamily="18" charset="2"/>
                  </a:rPr>
                  <a:t>,</a:t>
                </a:r>
                <a:r>
                  <a:rPr lang="en-US" altLang="zh-CN" sz="2800" dirty="0">
                    <a:solidFill>
                      <a:schemeClr val="tx1"/>
                    </a:solidFill>
                  </a:rPr>
                  <a:t> </a:t>
                </a:r>
                <a14:m>
                  <m:oMath xmlns:m="http://schemas.openxmlformats.org/officeDocument/2006/math">
                    <m:r>
                      <a:rPr lang="en-US" altLang="zh-CN" sz="2800" i="1">
                        <a:solidFill>
                          <a:schemeClr val="tx1"/>
                        </a:solidFill>
                        <a:latin typeface="Cambria Math" panose="02040503050406030204" pitchFamily="18" charset="0"/>
                      </a:rPr>
                      <m:t>𝒅</m:t>
                    </m:r>
                    <m:d>
                      <m:dPr>
                        <m:ctrlPr>
                          <a:rPr lang="en-US"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𝒖</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𝒗</m:t>
                        </m:r>
                      </m:e>
                    </m:d>
                    <m:r>
                      <a:rPr lang="en-US" altLang="zh-CN" sz="2800" b="1" i="1"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𝒅</m:t>
                    </m:r>
                    <m:d>
                      <m:dPr>
                        <m:ctrlPr>
                          <a:rPr lang="en-US" altLang="zh-CN" sz="2800" i="1">
                            <a:solidFill>
                              <a:schemeClr val="tx1"/>
                            </a:solidFill>
                            <a:latin typeface="Cambria Math" panose="02040503050406030204" pitchFamily="18" charset="0"/>
                          </a:rPr>
                        </m:ctrlPr>
                      </m:dPr>
                      <m:e>
                        <m:r>
                          <a:rPr lang="en-US" altLang="zh-CN" sz="2800" b="1" i="1" smtClean="0">
                            <a:solidFill>
                              <a:schemeClr val="tx1"/>
                            </a:solidFill>
                            <a:latin typeface="Cambria Math" panose="02040503050406030204" pitchFamily="18" charset="0"/>
                          </a:rPr>
                          <m:t>𝒗</m:t>
                        </m:r>
                        <m:r>
                          <a:rPr lang="en-US" altLang="zh-CN" sz="2800" i="1">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𝒖</m:t>
                        </m:r>
                      </m:e>
                    </m:d>
                  </m:oMath>
                </a14:m>
                <a:r>
                  <a:rPr lang="zh-CN" altLang="en-US" sz="2800" b="0" dirty="0">
                    <a:solidFill>
                      <a:schemeClr val="tx1"/>
                    </a:solidFill>
                    <a:cs typeface="Times New Roman" panose="02020603050405020304" pitchFamily="18" charset="0"/>
                    <a:sym typeface="Symbol" panose="05050102010706020507" pitchFamily="18" charset="2"/>
                  </a:rPr>
                  <a:t>。</a:t>
                </a:r>
                <a:endParaRPr lang="en-US" altLang="zh-CN" sz="2800" b="0" dirty="0">
                  <a:solidFill>
                    <a:schemeClr val="tx1"/>
                  </a:solidFill>
                  <a:cs typeface="Times New Roman" panose="02020603050405020304" pitchFamily="18" charset="0"/>
                  <a:sym typeface="Symbol" panose="05050102010706020507" pitchFamily="18" charset="2"/>
                </a:endParaRPr>
              </a:p>
              <a:p>
                <a:pPr algn="just" eaLnBrk="1" hangingPunct="1">
                  <a:lnSpc>
                    <a:spcPct val="120000"/>
                  </a:lnSpc>
                  <a:buClr>
                    <a:srgbClr val="0000FF"/>
                  </a:buClr>
                  <a:buSzPct val="80000"/>
                  <a:buFont typeface="Wingdings" panose="05000000000000000000" pitchFamily="2" charset="2"/>
                  <a:buChar char="l"/>
                  <a:defRPr/>
                </a:pPr>
                <a:r>
                  <a:rPr lang="zh-CN" altLang="en-US" sz="2800" b="0" dirty="0">
                    <a:solidFill>
                      <a:schemeClr val="tx1"/>
                    </a:solidFill>
                    <a:cs typeface="Times New Roman" panose="02020603050405020304" pitchFamily="18" charset="0"/>
                    <a:sym typeface="Symbol" panose="05050102010706020507" pitchFamily="18" charset="2"/>
                  </a:rPr>
                  <a:t>对于任何节点</a:t>
                </a:r>
                <a14:m>
                  <m:oMath xmlns:m="http://schemas.openxmlformats.org/officeDocument/2006/math">
                    <m:r>
                      <a:rPr lang="en-US" altLang="zh-CN" sz="2800" i="1">
                        <a:solidFill>
                          <a:schemeClr val="tx1"/>
                        </a:solidFill>
                        <a:latin typeface="Cambria Math" panose="02040503050406030204" pitchFamily="18" charset="0"/>
                      </a:rPr>
                      <m:t>𝒖</m:t>
                    </m:r>
                    <m:r>
                      <a:rPr lang="en-US" altLang="zh-CN" sz="2800" b="0" i="0"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𝒗</m:t>
                    </m:r>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𝒘</m:t>
                    </m:r>
                    <m:r>
                      <a:rPr lang="en-US" altLang="zh-CN" sz="2800" i="1">
                        <a:solidFill>
                          <a:schemeClr val="tx1"/>
                        </a:solidFill>
                        <a:latin typeface="Cambria Math" panose="02040503050406030204" pitchFamily="18" charset="0"/>
                      </a:rPr>
                      <m:t> </m:t>
                    </m:r>
                  </m:oMath>
                </a14:m>
                <a:r>
                  <a:rPr lang="zh-CN" altLang="en-US" sz="2800" b="0" dirty="0">
                    <a:solidFill>
                      <a:schemeClr val="tx1"/>
                    </a:solidFill>
                    <a:cs typeface="Times New Roman" panose="02020603050405020304" pitchFamily="18" charset="0"/>
                    <a:sym typeface="Symbol" panose="05050102010706020507" pitchFamily="18" charset="2"/>
                  </a:rPr>
                  <a:t>，</a:t>
                </a:r>
                <a:r>
                  <a:rPr lang="en-US" altLang="zh-CN" sz="2800" dirty="0">
                    <a:solidFill>
                      <a:schemeClr val="tx1"/>
                    </a:solidFill>
                  </a:rPr>
                  <a:t> </a:t>
                </a:r>
                <a14:m>
                  <m:oMath xmlns:m="http://schemas.openxmlformats.org/officeDocument/2006/math">
                    <m:r>
                      <a:rPr lang="en-US" altLang="zh-CN" sz="2800" i="1">
                        <a:solidFill>
                          <a:schemeClr val="tx1"/>
                        </a:solidFill>
                        <a:latin typeface="Cambria Math" panose="02040503050406030204" pitchFamily="18" charset="0"/>
                      </a:rPr>
                      <m:t>𝒅</m:t>
                    </m:r>
                    <m:d>
                      <m:dPr>
                        <m:ctrlPr>
                          <a:rPr lang="en-US"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𝒖</m:t>
                        </m:r>
                        <m:r>
                          <a:rPr lang="en-US" altLang="zh-CN" sz="2800" i="1">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𝒘</m:t>
                        </m:r>
                      </m:e>
                    </m:d>
                    <m:r>
                      <a:rPr lang="en-US" altLang="zh-CN" sz="2800" i="1">
                        <a:solidFill>
                          <a:schemeClr val="tx1"/>
                        </a:solidFill>
                        <a:latin typeface="Cambria Math" panose="02040503050406030204" pitchFamily="18" charset="0"/>
                        <a:ea typeface="Cambria Math" panose="02040503050406030204" pitchFamily="18" charset="0"/>
                      </a:rPr>
                      <m:t>≤</m:t>
                    </m:r>
                    <m:r>
                      <a:rPr lang="en-US" altLang="zh-CN" sz="2800" i="1">
                        <a:solidFill>
                          <a:schemeClr val="tx1"/>
                        </a:solidFill>
                        <a:latin typeface="Cambria Math" panose="02040503050406030204" pitchFamily="18" charset="0"/>
                      </a:rPr>
                      <m:t>𝒅</m:t>
                    </m:r>
                    <m:d>
                      <m:dPr>
                        <m:ctrlPr>
                          <a:rPr lang="en-US"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𝒖</m:t>
                        </m:r>
                        <m:r>
                          <a:rPr lang="en-US" altLang="zh-CN" sz="2800" i="1">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𝒗</m:t>
                        </m:r>
                      </m:e>
                    </m:d>
                    <m:r>
                      <a:rPr lang="en-US" altLang="zh-CN" sz="2800" b="0" i="0" smtClean="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𝒅</m:t>
                    </m:r>
                    <m:d>
                      <m:dPr>
                        <m:ctrlPr>
                          <a:rPr lang="en-US" altLang="zh-CN" sz="2800" i="1">
                            <a:solidFill>
                              <a:schemeClr val="tx1"/>
                            </a:solidFill>
                            <a:latin typeface="Cambria Math" panose="02040503050406030204" pitchFamily="18" charset="0"/>
                          </a:rPr>
                        </m:ctrlPr>
                      </m:dPr>
                      <m:e>
                        <m:r>
                          <a:rPr lang="en-US" altLang="zh-CN" sz="2800" b="1" i="1" smtClean="0">
                            <a:solidFill>
                              <a:schemeClr val="tx1"/>
                            </a:solidFill>
                            <a:latin typeface="Cambria Math" panose="02040503050406030204" pitchFamily="18" charset="0"/>
                          </a:rPr>
                          <m:t>𝒗</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𝒘</m:t>
                        </m:r>
                      </m:e>
                    </m:d>
                  </m:oMath>
                </a14:m>
                <a:r>
                  <a:rPr lang="zh-CN" altLang="en-US" sz="2800" b="0" dirty="0">
                    <a:solidFill>
                      <a:schemeClr val="tx1"/>
                    </a:solidFill>
                    <a:cs typeface="Times New Roman" panose="02020603050405020304" pitchFamily="18" charset="0"/>
                    <a:sym typeface="Symbol" panose="05050102010706020507" pitchFamily="18" charset="2"/>
                  </a:rPr>
                  <a:t>。</a:t>
                </a:r>
                <a:endParaRPr lang="en-US" altLang="zh-CN" sz="2800" b="0" dirty="0">
                  <a:solidFill>
                    <a:schemeClr val="tx1"/>
                  </a:solidFill>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endParaRPr>
              </a:p>
            </p:txBody>
          </p:sp>
        </mc:Choice>
        <mc:Fallback xmlns="">
          <p:sp>
            <p:nvSpPr>
              <p:cNvPr id="14339" name="Rectangle 3"/>
              <p:cNvSpPr>
                <a:spLocks noGrp="1" noRot="1" noChangeAspect="1" noMove="1" noResize="1" noEditPoints="1" noAdjustHandles="1" noChangeArrowheads="1" noChangeShapeType="1" noTextEdit="1"/>
              </p:cNvSpPr>
              <p:nvPr>
                <p:ph type="body" idx="1"/>
              </p:nvPr>
            </p:nvSpPr>
            <p:spPr>
              <a:xfrm>
                <a:off x="0" y="985838"/>
                <a:ext cx="9144000" cy="4921250"/>
              </a:xfrm>
              <a:blipFill rotWithShape="0">
                <a:blip r:embed="rId3"/>
                <a:stretch>
                  <a:fillRect l="-7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13319480"/>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5410" name="Rectangle 1"/>
              <p:cNvSpPr>
                <a:spLocks noChangeArrowheads="1"/>
              </p:cNvSpPr>
              <p:nvPr/>
            </p:nvSpPr>
            <p:spPr bwMode="auto">
              <a:xfrm>
                <a:off x="193312" y="852161"/>
                <a:ext cx="8741682" cy="13849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rIns="337625" anchor="ctr">
                <a:spAutoFit/>
              </a:bodyPr>
              <a:lstStyle>
                <a:lvl1pPr>
                  <a:lnSpc>
                    <a:spcPct val="90000"/>
                  </a:lnSpc>
                  <a:spcBef>
                    <a:spcPct val="25000"/>
                  </a:spcBef>
                  <a:spcAft>
                    <a:spcPct val="20000"/>
                  </a:spcAft>
                  <a:buClr>
                    <a:srgbClr val="336699"/>
                  </a:buClr>
                  <a:buFont typeface="Wingdings" panose="05000000000000000000" pitchFamily="2" charset="2"/>
                  <a:buChar char="§"/>
                  <a:defRPr sz="2600" b="1">
                    <a:solidFill>
                      <a:schemeClr val="tx1"/>
                    </a:solidFill>
                    <a:latin typeface="华文仿宋" panose="02010600040101010101" pitchFamily="2" charset="-122"/>
                    <a:ea typeface="华文仿宋" panose="02010600040101010101" pitchFamily="2" charset="-122"/>
                  </a:defRPr>
                </a:lvl1pPr>
                <a:lvl2pPr marL="742950" indent="-285750">
                  <a:lnSpc>
                    <a:spcPct val="90000"/>
                  </a:lnSpc>
                  <a:spcBef>
                    <a:spcPct val="25000"/>
                  </a:spcBef>
                  <a:buClr>
                    <a:srgbClr val="336699"/>
                  </a:buClr>
                  <a:buChar char="•"/>
                  <a:defRPr sz="2400" b="1">
                    <a:solidFill>
                      <a:schemeClr val="tx1"/>
                    </a:solidFill>
                    <a:latin typeface="华文仿宋" panose="02010600040101010101" pitchFamily="2" charset="-122"/>
                    <a:ea typeface="华文仿宋" panose="02010600040101010101" pitchFamily="2" charset="-122"/>
                  </a:defRPr>
                </a:lvl2pPr>
                <a:lvl3pPr marL="1143000" indent="-228600">
                  <a:lnSpc>
                    <a:spcPct val="90000"/>
                  </a:lnSpc>
                  <a:spcBef>
                    <a:spcPct val="25000"/>
                  </a:spcBef>
                  <a:buClr>
                    <a:srgbClr val="336699"/>
                  </a:buClr>
                  <a:buChar char="–"/>
                  <a:defRPr sz="2000" b="1">
                    <a:solidFill>
                      <a:schemeClr val="tx1"/>
                    </a:solidFill>
                    <a:latin typeface="华文仿宋" panose="02010600040101010101" pitchFamily="2" charset="-122"/>
                    <a:ea typeface="华文仿宋" panose="02010600040101010101" pitchFamily="2" charset="-122"/>
                  </a:defRPr>
                </a:lvl3pPr>
                <a:lvl4pPr marL="1600200" indent="-228600">
                  <a:lnSpc>
                    <a:spcPct val="90000"/>
                  </a:lnSpc>
                  <a:spcBef>
                    <a:spcPct val="25000"/>
                  </a:spcBef>
                  <a:buClr>
                    <a:srgbClr val="336699"/>
                  </a:buClr>
                  <a:buChar char="»"/>
                  <a:defRPr b="1">
                    <a:solidFill>
                      <a:schemeClr val="tx1"/>
                    </a:solidFill>
                    <a:latin typeface="华文仿宋" panose="02010600040101010101" pitchFamily="2" charset="-122"/>
                    <a:ea typeface="华文仿宋" panose="02010600040101010101" pitchFamily="2" charset="-122"/>
                  </a:defRPr>
                </a:lvl4pPr>
                <a:lvl5pPr marL="2057400" indent="-228600">
                  <a:lnSpc>
                    <a:spcPct val="90000"/>
                  </a:lnSpc>
                  <a:spcBef>
                    <a:spcPct val="25000"/>
                  </a:spcBef>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5pPr>
                <a:lvl6pPr marL="25146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6pPr>
                <a:lvl7pPr marL="29718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7pPr>
                <a:lvl8pPr marL="34290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8pPr>
                <a:lvl9pPr marL="38862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9pPr>
              </a:lstStyle>
              <a:p>
                <a:pPr marL="457200" indent="-457200" algn="just">
                  <a:lnSpc>
                    <a:spcPct val="150000"/>
                  </a:lnSpc>
                  <a:spcBef>
                    <a:spcPct val="0"/>
                  </a:spcBef>
                  <a:spcAft>
                    <a:spcPct val="0"/>
                  </a:spcAft>
                  <a:buClrTx/>
                </a:pPr>
                <a:r>
                  <a:rPr lang="zh-CN" altLang="en-US" sz="28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定理</a:t>
                </a:r>
                <a:r>
                  <a:rPr lang="zh-CN" altLang="en-US" sz="28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 </a:t>
                </a:r>
                <a:r>
                  <a:rPr lang="zh-CN" altLang="en-US" sz="2800" b="0" dirty="0">
                    <a:latin typeface="黑体" panose="02010609060101010101" pitchFamily="49" charset="-122"/>
                    <a:ea typeface="黑体" panose="02010609060101010101" pitchFamily="49" charset="-122"/>
                  </a:rPr>
                  <a:t>一个连通无向图</a:t>
                </a:r>
                <a14:m>
                  <m:oMath xmlns:m="http://schemas.openxmlformats.org/officeDocument/2006/math">
                    <m:r>
                      <a:rPr lang="en-US" altLang="zh-CN" sz="2800" b="1" i="1" dirty="0" smtClean="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中的结点</a:t>
                </a:r>
                <a14:m>
                  <m:oMath xmlns:m="http://schemas.openxmlformats.org/officeDocument/2006/math">
                    <m:r>
                      <a:rPr lang="en-US" altLang="zh-CN" sz="2800" b="1" i="1" dirty="0" smtClean="0">
                        <a:latin typeface="Cambria Math" panose="02040503050406030204" pitchFamily="18" charset="0"/>
                      </a:rPr>
                      <m:t>𝒗</m:t>
                    </m:r>
                  </m:oMath>
                </a14:m>
                <a:r>
                  <a:rPr lang="zh-CN" altLang="en-US" sz="2800" b="0" dirty="0">
                    <a:latin typeface="黑体" panose="02010609060101010101" pitchFamily="49" charset="-122"/>
                    <a:ea typeface="黑体" panose="02010609060101010101" pitchFamily="49" charset="-122"/>
                  </a:rPr>
                  <a:t>是割点 </a:t>
                </a:r>
                <a:r>
                  <a:rPr lang="zh-CN" altLang="en-US" sz="2800" b="0" dirty="0">
                    <a:latin typeface="黑体" panose="02010609060101010101" pitchFamily="49" charset="-122"/>
                    <a:ea typeface="黑体" panose="02010609060101010101" pitchFamily="49" charset="-122"/>
                    <a:sym typeface="Symbol" panose="05050102010706020507" pitchFamily="18" charset="2"/>
                  </a:rPr>
                  <a:t> </a:t>
                </a:r>
                <a:r>
                  <a:rPr lang="zh-CN" altLang="en-US" sz="2800" b="0" dirty="0">
                    <a:latin typeface="黑体" panose="02010609060101010101" pitchFamily="49" charset="-122"/>
                    <a:ea typeface="黑体" panose="02010609060101010101" pitchFamily="49" charset="-122"/>
                  </a:rPr>
                  <a:t>存在结点</a:t>
                </a:r>
                <a14:m>
                  <m:oMath xmlns:m="http://schemas.openxmlformats.org/officeDocument/2006/math">
                    <m:r>
                      <a:rPr lang="en-US" altLang="zh-CN" sz="2800" b="1" i="1" dirty="0" smtClean="0">
                        <a:latin typeface="Cambria Math" panose="02040503050406030204" pitchFamily="18" charset="0"/>
                      </a:rPr>
                      <m:t>𝒖</m:t>
                    </m:r>
                  </m:oMath>
                </a14:m>
                <a:r>
                  <a:rPr lang="zh-CN" altLang="en-US" sz="2800" b="0" dirty="0">
                    <a:latin typeface="黑体" panose="02010609060101010101" pitchFamily="49" charset="-122"/>
                    <a:ea typeface="黑体" panose="02010609060101010101" pitchFamily="49" charset="-122"/>
                  </a:rPr>
                  <a:t>和</a:t>
                </a:r>
                <a14:m>
                  <m:oMath xmlns:m="http://schemas.openxmlformats.org/officeDocument/2006/math">
                    <m:r>
                      <a:rPr lang="en-US" altLang="zh-CN" sz="2800" b="1" i="1" dirty="0" smtClean="0">
                        <a:latin typeface="Cambria Math" panose="02040503050406030204" pitchFamily="18" charset="0"/>
                        <a:ea typeface="黑体" panose="02010609060101010101" pitchFamily="49" charset="-122"/>
                      </a:rPr>
                      <m:t>𝒘</m:t>
                    </m:r>
                  </m:oMath>
                </a14:m>
                <a:r>
                  <a:rPr lang="zh-CN" altLang="en-US" sz="2800" b="0" dirty="0">
                    <a:latin typeface="黑体" panose="02010609060101010101" pitchFamily="49" charset="-122"/>
                    <a:ea typeface="黑体" panose="02010609060101010101" pitchFamily="49" charset="-122"/>
                  </a:rPr>
                  <a:t>，使得连接</a:t>
                </a:r>
                <a14:m>
                  <m:oMath xmlns:m="http://schemas.openxmlformats.org/officeDocument/2006/math">
                    <m:r>
                      <a:rPr lang="en-US" altLang="zh-CN" sz="2800" i="1" dirty="0">
                        <a:latin typeface="Cambria Math" panose="02040503050406030204" pitchFamily="18" charset="0"/>
                      </a:rPr>
                      <m:t>𝒖</m:t>
                    </m:r>
                  </m:oMath>
                </a14:m>
                <a:r>
                  <a:rPr lang="zh-CN" altLang="en-US" sz="2800" b="0" dirty="0">
                    <a:latin typeface="黑体" panose="02010609060101010101" pitchFamily="49" charset="-122"/>
                    <a:ea typeface="黑体" panose="02010609060101010101" pitchFamily="49" charset="-122"/>
                  </a:rPr>
                  <a:t>和</a:t>
                </a:r>
                <a14:m>
                  <m:oMath xmlns:m="http://schemas.openxmlformats.org/officeDocument/2006/math">
                    <m:r>
                      <a:rPr lang="en-US" altLang="zh-CN" sz="2800" i="1" dirty="0">
                        <a:latin typeface="Cambria Math" panose="02040503050406030204" pitchFamily="18" charset="0"/>
                        <a:ea typeface="黑体" panose="02010609060101010101" pitchFamily="49" charset="-122"/>
                      </a:rPr>
                      <m:t>𝒘</m:t>
                    </m:r>
                  </m:oMath>
                </a14:m>
                <a:r>
                  <a:rPr lang="zh-CN" altLang="en-US" sz="2800" b="0" dirty="0">
                    <a:latin typeface="黑体" panose="02010609060101010101" pitchFamily="49" charset="-122"/>
                    <a:ea typeface="黑体" panose="02010609060101010101" pitchFamily="49" charset="-122"/>
                  </a:rPr>
                  <a:t>的每条路都经过</a:t>
                </a:r>
                <a14:m>
                  <m:oMath xmlns:m="http://schemas.openxmlformats.org/officeDocument/2006/math">
                    <m:r>
                      <a:rPr lang="en-US" altLang="zh-CN" sz="2800" i="1" dirty="0">
                        <a:latin typeface="Cambria Math" panose="02040503050406030204" pitchFamily="18" charset="0"/>
                      </a:rPr>
                      <m:t>𝒗</m:t>
                    </m:r>
                    <m:r>
                      <a:rPr lang="en-US" altLang="zh-CN" sz="2800" i="1" dirty="0">
                        <a:latin typeface="Cambria Math" panose="02040503050406030204" pitchFamily="18" charset="0"/>
                      </a:rPr>
                      <m:t> </m:t>
                    </m:r>
                  </m:oMath>
                </a14:m>
                <a:r>
                  <a:rPr lang="zh-CN" altLang="en-US" sz="2800" b="0" dirty="0">
                    <a:latin typeface="黑体" panose="02010609060101010101" pitchFamily="49" charset="-122"/>
                    <a:ea typeface="黑体" panose="02010609060101010101" pitchFamily="49" charset="-122"/>
                  </a:rPr>
                  <a:t>。</a:t>
                </a:r>
              </a:p>
            </p:txBody>
          </p:sp>
        </mc:Choice>
        <mc:Fallback xmlns="">
          <p:sp>
            <p:nvSpPr>
              <p:cNvPr id="145410" name="Rectangle 1"/>
              <p:cNvSpPr>
                <a:spLocks noRot="1" noChangeAspect="1" noMove="1" noResize="1" noEditPoints="1" noAdjustHandles="1" noChangeArrowheads="1" noChangeShapeType="1" noTextEdit="1"/>
              </p:cNvSpPr>
              <p:nvPr/>
            </p:nvSpPr>
            <p:spPr bwMode="auto">
              <a:xfrm>
                <a:off x="193312" y="852161"/>
                <a:ext cx="8741682" cy="1384995"/>
              </a:xfrm>
              <a:prstGeom prst="rect">
                <a:avLst/>
              </a:prstGeom>
              <a:blipFill rotWithShape="0">
                <a:blip r:embed="rId2"/>
                <a:stretch>
                  <a:fillRect l="-1255" b="-48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1"/>
              <p:cNvSpPr>
                <a:spLocks noChangeArrowheads="1"/>
              </p:cNvSpPr>
              <p:nvPr/>
            </p:nvSpPr>
            <p:spPr bwMode="auto">
              <a:xfrm>
                <a:off x="132352" y="2237156"/>
                <a:ext cx="8863602" cy="267765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rIns="337625" anchor="ctr">
                <a:spAutoFit/>
              </a:bodyPr>
              <a:lstStyle/>
              <a:p>
                <a:pPr algn="just">
                  <a:lnSpc>
                    <a:spcPct val="150000"/>
                  </a:lnSpc>
                  <a:defRPr/>
                </a:pPr>
                <a:r>
                  <a:rPr lang="zh-CN" altLang="en-US" sz="2800" b="1" dirty="0">
                    <a:solidFill>
                      <a:srgbClr val="0070C0"/>
                    </a:solidFill>
                    <a:ea typeface="黑体" panose="02010609060101010101" pitchFamily="49" charset="-122"/>
                    <a:cs typeface="Times New Roman" panose="02020603050405020304" pitchFamily="18" charset="0"/>
                  </a:rPr>
                  <a:t>证明：</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充分性</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若连通图</a:t>
                </a:r>
                <a14:m>
                  <m:oMath xmlns:m="http://schemas.openxmlformats.org/officeDocument/2006/math">
                    <m:r>
                      <a:rPr lang="en-US" altLang="zh-CN" sz="2800" b="1" i="1" dirty="0">
                        <a:latin typeface="Cambria Math" panose="02040503050406030204" pitchFamily="18" charset="0"/>
                      </a:rPr>
                      <m:t>𝑮</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存在结点</a:t>
                </a:r>
                <a14:m>
                  <m:oMath xmlns:m="http://schemas.openxmlformats.org/officeDocument/2006/math">
                    <m:r>
                      <a:rPr lang="en-US" altLang="zh-CN" sz="2800"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𝒖</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和</a:t>
                </a:r>
                <a14:m>
                  <m:oMath xmlns:m="http://schemas.openxmlformats.org/officeDocument/2006/math">
                    <m:r>
                      <a:rPr lang="en-US" altLang="zh-CN" sz="2800" b="1" i="1" dirty="0" smtClean="0">
                        <a:latin typeface="Cambria Math" panose="02040503050406030204" pitchFamily="18" charset="0"/>
                      </a:rPr>
                      <m:t>𝒘</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，使得连接</a:t>
                </a:r>
                <a14:m>
                  <m:oMath xmlns:m="http://schemas.openxmlformats.org/officeDocument/2006/math">
                    <m:r>
                      <a:rPr lang="en-US" altLang="zh-CN" sz="2800"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𝒖</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和</a:t>
                </a:r>
                <a14:m>
                  <m:oMath xmlns:m="http://schemas.openxmlformats.org/officeDocument/2006/math">
                    <m:r>
                      <a:rPr lang="en-US" altLang="zh-CN" sz="2800" b="1" i="1" dirty="0">
                        <a:latin typeface="Cambria Math" panose="02040503050406030204" pitchFamily="18" charset="0"/>
                      </a:rPr>
                      <m:t>𝒘</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a:t>
                </a:r>
                <a:r>
                  <a:rPr lang="zh-CN" altLang="en-US"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每条路都经过</a:t>
                </a:r>
                <a14:m>
                  <m:oMath xmlns:m="http://schemas.openxmlformats.org/officeDocument/2006/math">
                    <m:r>
                      <a:rPr lang="en-US" altLang="zh-CN" sz="2800" b="1" i="1" dirty="0" smtClean="0">
                        <a:solidFill>
                          <a:srgbClr val="C00000"/>
                        </a:solidFill>
                        <a:latin typeface="Cambria Math" panose="02040503050406030204" pitchFamily="18" charset="0"/>
                      </a:rPr>
                      <m:t>𝒗</m:t>
                    </m:r>
                    <m:r>
                      <a:rPr lang="en-US" altLang="zh-CN" sz="2800" b="1" i="1" dirty="0">
                        <a:solidFill>
                          <a:srgbClr val="C00000"/>
                        </a:solidFill>
                        <a:latin typeface="Cambria Math" panose="02040503050406030204" pitchFamily="18" charset="0"/>
                      </a:rPr>
                      <m:t> </m:t>
                    </m:r>
                  </m:oMath>
                </a14:m>
                <a:endPar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algn="just">
                  <a:lnSpc>
                    <a:spcPct val="150000"/>
                  </a:lnSpc>
                  <a:defRPr/>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则在子图</a:t>
                </a:r>
                <a14:m>
                  <m:oMath xmlns:m="http://schemas.openxmlformats.org/officeDocument/2006/math">
                    <m:r>
                      <a:rPr lang="en-US" altLang="zh-CN" sz="2800" b="1" i="1" dirty="0" smtClean="0">
                        <a:latin typeface="Cambria Math" panose="02040503050406030204" pitchFamily="18" charset="0"/>
                      </a:rPr>
                      <m:t>𝑮</m:t>
                    </m:r>
                    <m:r>
                      <a:rPr lang="en-US" altLang="zh-CN" sz="2800" b="1" i="1" dirty="0" smtClean="0">
                        <a:latin typeface="Cambria Math" panose="02040503050406030204" pitchFamily="18" charset="0"/>
                      </a:rPr>
                      <m:t>−{</m:t>
                    </m:r>
                    <m:r>
                      <a:rPr lang="en-US" altLang="zh-CN" sz="2800" b="1" i="1" dirty="0">
                        <a:latin typeface="Cambria Math" panose="02040503050406030204" pitchFamily="18" charset="0"/>
                      </a:rPr>
                      <m:t>𝒗</m:t>
                    </m:r>
                    <m:r>
                      <a:rPr lang="en-US" altLang="zh-CN" sz="2800" b="1" i="1" dirty="0" smtClean="0">
                        <a:latin typeface="Cambria Math" panose="02040503050406030204" pitchFamily="18" charset="0"/>
                      </a:rPr>
                      <m:t>}</m:t>
                    </m:r>
                    <m:r>
                      <a:rPr lang="en-US" altLang="zh-CN" sz="2800" b="1" i="1" dirty="0">
                        <a:latin typeface="Cambria Math" panose="02040503050406030204" pitchFamily="18" charset="0"/>
                      </a:rPr>
                      <m:t> </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中</a:t>
                </a:r>
                <a14:m>
                  <m:oMath xmlns:m="http://schemas.openxmlformats.org/officeDocument/2006/math">
                    <m:r>
                      <a:rPr lang="en-US" altLang="zh-CN" sz="2800"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𝒖</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和</a:t>
                </a:r>
                <a14:m>
                  <m:oMath xmlns:m="http://schemas.openxmlformats.org/officeDocument/2006/math">
                    <m:r>
                      <a:rPr lang="en-US" altLang="zh-CN" sz="2800" b="1" i="1" dirty="0">
                        <a:latin typeface="Cambria Math" panose="02040503050406030204" pitchFamily="18" charset="0"/>
                      </a:rPr>
                      <m:t>𝒘</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必不可达</a:t>
                </a:r>
                <a:endPar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algn="just">
                  <a:lnSpc>
                    <a:spcPct val="150000"/>
                  </a:lnSpc>
                  <a:defRPr/>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故</a:t>
                </a:r>
                <a14:m>
                  <m:oMath xmlns:m="http://schemas.openxmlformats.org/officeDocument/2006/math">
                    <m:r>
                      <a:rPr lang="en-US" altLang="zh-CN" sz="2800" b="1" i="1" dirty="0">
                        <a:latin typeface="Cambria Math" panose="02040503050406030204" pitchFamily="18" charset="0"/>
                      </a:rPr>
                      <m:t>𝒗</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是</a:t>
                </a:r>
                <a14:m>
                  <m:oMath xmlns:m="http://schemas.openxmlformats.org/officeDocument/2006/math">
                    <m:r>
                      <a:rPr lang="en-US" altLang="zh-CN" sz="2800" b="1" i="1" dirty="0">
                        <a:latin typeface="Cambria Math" panose="02040503050406030204" pitchFamily="18" charset="0"/>
                      </a:rPr>
                      <m:t>𝑮</m:t>
                    </m:r>
                  </m:oMath>
                </a14:m>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的割点。</a:t>
                </a:r>
              </a:p>
            </p:txBody>
          </p:sp>
        </mc:Choice>
        <mc:Fallback xmlns="">
          <p:sp>
            <p:nvSpPr>
              <p:cNvPr id="4" name="Rectangle 1">
                <a:extLst>
                  <a:ext uri="{FF2B5EF4-FFF2-40B4-BE49-F238E27FC236}"/>
                </a:extLst>
              </p:cNvPr>
              <p:cNvSpPr>
                <a:spLocks noRot="1" noChangeAspect="1" noMove="1" noResize="1" noEditPoints="1" noAdjustHandles="1" noChangeArrowheads="1" noChangeShapeType="1" noTextEdit="1"/>
              </p:cNvSpPr>
              <p:nvPr/>
            </p:nvSpPr>
            <p:spPr bwMode="auto">
              <a:xfrm>
                <a:off x="132352" y="2237156"/>
                <a:ext cx="8863602" cy="2677656"/>
              </a:xfrm>
              <a:prstGeom prst="rect">
                <a:avLst/>
              </a:prstGeom>
              <a:blipFill rotWithShape="0">
                <a:blip r:embed="rId3"/>
                <a:stretch>
                  <a:fillRect l="-1444" b="-22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5410" name="Rectangle 1"/>
              <p:cNvSpPr>
                <a:spLocks noChangeArrowheads="1"/>
              </p:cNvSpPr>
              <p:nvPr/>
            </p:nvSpPr>
            <p:spPr bwMode="auto">
              <a:xfrm>
                <a:off x="193312" y="852161"/>
                <a:ext cx="8741682" cy="13849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rIns="337625" anchor="ctr">
                <a:spAutoFit/>
              </a:bodyPr>
              <a:lstStyle>
                <a:lvl1pPr>
                  <a:lnSpc>
                    <a:spcPct val="90000"/>
                  </a:lnSpc>
                  <a:spcBef>
                    <a:spcPct val="25000"/>
                  </a:spcBef>
                  <a:spcAft>
                    <a:spcPct val="20000"/>
                  </a:spcAft>
                  <a:buClr>
                    <a:srgbClr val="336699"/>
                  </a:buClr>
                  <a:buFont typeface="Wingdings" panose="05000000000000000000" pitchFamily="2" charset="2"/>
                  <a:buChar char="§"/>
                  <a:defRPr sz="2600" b="1">
                    <a:solidFill>
                      <a:schemeClr val="tx1"/>
                    </a:solidFill>
                    <a:latin typeface="华文仿宋" panose="02010600040101010101" pitchFamily="2" charset="-122"/>
                    <a:ea typeface="华文仿宋" panose="02010600040101010101" pitchFamily="2" charset="-122"/>
                  </a:defRPr>
                </a:lvl1pPr>
                <a:lvl2pPr marL="742950" indent="-285750">
                  <a:lnSpc>
                    <a:spcPct val="90000"/>
                  </a:lnSpc>
                  <a:spcBef>
                    <a:spcPct val="25000"/>
                  </a:spcBef>
                  <a:buClr>
                    <a:srgbClr val="336699"/>
                  </a:buClr>
                  <a:buChar char="•"/>
                  <a:defRPr sz="2400" b="1">
                    <a:solidFill>
                      <a:schemeClr val="tx1"/>
                    </a:solidFill>
                    <a:latin typeface="华文仿宋" panose="02010600040101010101" pitchFamily="2" charset="-122"/>
                    <a:ea typeface="华文仿宋" panose="02010600040101010101" pitchFamily="2" charset="-122"/>
                  </a:defRPr>
                </a:lvl2pPr>
                <a:lvl3pPr marL="1143000" indent="-228600">
                  <a:lnSpc>
                    <a:spcPct val="90000"/>
                  </a:lnSpc>
                  <a:spcBef>
                    <a:spcPct val="25000"/>
                  </a:spcBef>
                  <a:buClr>
                    <a:srgbClr val="336699"/>
                  </a:buClr>
                  <a:buChar char="–"/>
                  <a:defRPr sz="2000" b="1">
                    <a:solidFill>
                      <a:schemeClr val="tx1"/>
                    </a:solidFill>
                    <a:latin typeface="华文仿宋" panose="02010600040101010101" pitchFamily="2" charset="-122"/>
                    <a:ea typeface="华文仿宋" panose="02010600040101010101" pitchFamily="2" charset="-122"/>
                  </a:defRPr>
                </a:lvl3pPr>
                <a:lvl4pPr marL="1600200" indent="-228600">
                  <a:lnSpc>
                    <a:spcPct val="90000"/>
                  </a:lnSpc>
                  <a:spcBef>
                    <a:spcPct val="25000"/>
                  </a:spcBef>
                  <a:buClr>
                    <a:srgbClr val="336699"/>
                  </a:buClr>
                  <a:buChar char="»"/>
                  <a:defRPr b="1">
                    <a:solidFill>
                      <a:schemeClr val="tx1"/>
                    </a:solidFill>
                    <a:latin typeface="华文仿宋" panose="02010600040101010101" pitchFamily="2" charset="-122"/>
                    <a:ea typeface="华文仿宋" panose="02010600040101010101" pitchFamily="2" charset="-122"/>
                  </a:defRPr>
                </a:lvl4pPr>
                <a:lvl5pPr marL="2057400" indent="-228600">
                  <a:lnSpc>
                    <a:spcPct val="90000"/>
                  </a:lnSpc>
                  <a:spcBef>
                    <a:spcPct val="25000"/>
                  </a:spcBef>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5pPr>
                <a:lvl6pPr marL="25146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6pPr>
                <a:lvl7pPr marL="29718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7pPr>
                <a:lvl8pPr marL="34290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8pPr>
                <a:lvl9pPr marL="38862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9pPr>
              </a:lstStyle>
              <a:p>
                <a:pPr marL="457200" indent="-457200" algn="just">
                  <a:lnSpc>
                    <a:spcPct val="150000"/>
                  </a:lnSpc>
                  <a:spcBef>
                    <a:spcPct val="0"/>
                  </a:spcBef>
                  <a:spcAft>
                    <a:spcPct val="0"/>
                  </a:spcAft>
                  <a:buClrTx/>
                </a:pPr>
                <a:r>
                  <a:rPr lang="zh-CN" altLang="en-US" sz="28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定理 </a:t>
                </a:r>
                <a:r>
                  <a:rPr lang="zh-CN" altLang="en-US" sz="2800" b="0" dirty="0">
                    <a:latin typeface="黑体" panose="02010609060101010101" pitchFamily="49" charset="-122"/>
                    <a:ea typeface="黑体" panose="02010609060101010101" pitchFamily="49" charset="-122"/>
                  </a:rPr>
                  <a:t>一个连通无向图</a:t>
                </a:r>
                <a14:m>
                  <m:oMath xmlns:m="http://schemas.openxmlformats.org/officeDocument/2006/math">
                    <m:r>
                      <a:rPr lang="en-US" altLang="zh-CN" sz="2800" b="1" i="1" dirty="0" smtClean="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中的结点</a:t>
                </a:r>
                <a14:m>
                  <m:oMath xmlns:m="http://schemas.openxmlformats.org/officeDocument/2006/math">
                    <m:r>
                      <a:rPr lang="en-US" altLang="zh-CN" sz="2800" b="1" i="1" dirty="0" smtClean="0">
                        <a:latin typeface="Cambria Math" panose="02040503050406030204" pitchFamily="18" charset="0"/>
                      </a:rPr>
                      <m:t>𝒗</m:t>
                    </m:r>
                  </m:oMath>
                </a14:m>
                <a:r>
                  <a:rPr lang="zh-CN" altLang="en-US" sz="2800" b="0" dirty="0">
                    <a:latin typeface="黑体" panose="02010609060101010101" pitchFamily="49" charset="-122"/>
                    <a:ea typeface="黑体" panose="02010609060101010101" pitchFamily="49" charset="-122"/>
                  </a:rPr>
                  <a:t>是割点 </a:t>
                </a:r>
                <a:r>
                  <a:rPr lang="zh-CN" altLang="en-US" sz="2800" b="0" dirty="0">
                    <a:latin typeface="黑体" panose="02010609060101010101" pitchFamily="49" charset="-122"/>
                    <a:ea typeface="黑体" panose="02010609060101010101" pitchFamily="49" charset="-122"/>
                    <a:sym typeface="Symbol" panose="05050102010706020507" pitchFamily="18" charset="2"/>
                  </a:rPr>
                  <a:t> </a:t>
                </a:r>
                <a:r>
                  <a:rPr lang="zh-CN" altLang="en-US" sz="2800" b="0" dirty="0">
                    <a:latin typeface="黑体" panose="02010609060101010101" pitchFamily="49" charset="-122"/>
                    <a:ea typeface="黑体" panose="02010609060101010101" pitchFamily="49" charset="-122"/>
                  </a:rPr>
                  <a:t>存在结点</a:t>
                </a:r>
                <a14:m>
                  <m:oMath xmlns:m="http://schemas.openxmlformats.org/officeDocument/2006/math">
                    <m:r>
                      <a:rPr lang="en-US" altLang="zh-CN" sz="2800" b="1" i="1" dirty="0" smtClean="0">
                        <a:latin typeface="Cambria Math" panose="02040503050406030204" pitchFamily="18" charset="0"/>
                      </a:rPr>
                      <m:t>𝒖</m:t>
                    </m:r>
                  </m:oMath>
                </a14:m>
                <a:r>
                  <a:rPr lang="zh-CN" altLang="en-US" sz="2800" b="0" dirty="0">
                    <a:latin typeface="黑体" panose="02010609060101010101" pitchFamily="49" charset="-122"/>
                    <a:ea typeface="黑体" panose="02010609060101010101" pitchFamily="49" charset="-122"/>
                  </a:rPr>
                  <a:t>和</a:t>
                </a:r>
                <a14:m>
                  <m:oMath xmlns:m="http://schemas.openxmlformats.org/officeDocument/2006/math">
                    <m:r>
                      <a:rPr lang="en-US" altLang="zh-CN" sz="2800" b="1" i="1" dirty="0" smtClean="0">
                        <a:latin typeface="Cambria Math" panose="02040503050406030204" pitchFamily="18" charset="0"/>
                        <a:ea typeface="黑体" panose="02010609060101010101" pitchFamily="49" charset="-122"/>
                      </a:rPr>
                      <m:t>𝒘</m:t>
                    </m:r>
                  </m:oMath>
                </a14:m>
                <a:r>
                  <a:rPr lang="zh-CN" altLang="en-US" sz="2800" b="0" dirty="0">
                    <a:latin typeface="黑体" panose="02010609060101010101" pitchFamily="49" charset="-122"/>
                    <a:ea typeface="黑体" panose="02010609060101010101" pitchFamily="49" charset="-122"/>
                  </a:rPr>
                  <a:t>，使得连接</a:t>
                </a:r>
                <a14:m>
                  <m:oMath xmlns:m="http://schemas.openxmlformats.org/officeDocument/2006/math">
                    <m:r>
                      <a:rPr lang="en-US" altLang="zh-CN" sz="2800" i="1" dirty="0">
                        <a:latin typeface="Cambria Math" panose="02040503050406030204" pitchFamily="18" charset="0"/>
                      </a:rPr>
                      <m:t>𝒖</m:t>
                    </m:r>
                  </m:oMath>
                </a14:m>
                <a:r>
                  <a:rPr lang="zh-CN" altLang="en-US" sz="2800" b="0" dirty="0">
                    <a:latin typeface="黑体" panose="02010609060101010101" pitchFamily="49" charset="-122"/>
                    <a:ea typeface="黑体" panose="02010609060101010101" pitchFamily="49" charset="-122"/>
                  </a:rPr>
                  <a:t>和</a:t>
                </a:r>
                <a14:m>
                  <m:oMath xmlns:m="http://schemas.openxmlformats.org/officeDocument/2006/math">
                    <m:r>
                      <a:rPr lang="en-US" altLang="zh-CN" sz="2800" i="1" dirty="0">
                        <a:latin typeface="Cambria Math" panose="02040503050406030204" pitchFamily="18" charset="0"/>
                        <a:ea typeface="黑体" panose="02010609060101010101" pitchFamily="49" charset="-122"/>
                      </a:rPr>
                      <m:t>𝒘</m:t>
                    </m:r>
                  </m:oMath>
                </a14:m>
                <a:r>
                  <a:rPr lang="zh-CN" altLang="en-US" sz="2800" b="0" dirty="0">
                    <a:latin typeface="黑体" panose="02010609060101010101" pitchFamily="49" charset="-122"/>
                    <a:ea typeface="黑体" panose="02010609060101010101" pitchFamily="49" charset="-122"/>
                  </a:rPr>
                  <a:t>的每条路都经过</a:t>
                </a:r>
                <a14:m>
                  <m:oMath xmlns:m="http://schemas.openxmlformats.org/officeDocument/2006/math">
                    <m:r>
                      <a:rPr lang="en-US" altLang="zh-CN" sz="2800" i="1" dirty="0">
                        <a:latin typeface="Cambria Math" panose="02040503050406030204" pitchFamily="18" charset="0"/>
                      </a:rPr>
                      <m:t>𝒗</m:t>
                    </m:r>
                    <m:r>
                      <a:rPr lang="en-US" altLang="zh-CN" sz="2800" i="1" dirty="0">
                        <a:latin typeface="Cambria Math" panose="02040503050406030204" pitchFamily="18" charset="0"/>
                      </a:rPr>
                      <m:t> </m:t>
                    </m:r>
                  </m:oMath>
                </a14:m>
                <a:r>
                  <a:rPr lang="zh-CN" altLang="en-US" sz="2800" b="0" dirty="0">
                    <a:latin typeface="黑体" panose="02010609060101010101" pitchFamily="49" charset="-122"/>
                    <a:ea typeface="黑体" panose="02010609060101010101" pitchFamily="49" charset="-122"/>
                  </a:rPr>
                  <a:t>。</a:t>
                </a:r>
              </a:p>
            </p:txBody>
          </p:sp>
        </mc:Choice>
        <mc:Fallback xmlns="">
          <p:sp>
            <p:nvSpPr>
              <p:cNvPr id="145410" name="Rectangle 1"/>
              <p:cNvSpPr>
                <a:spLocks noRot="1" noChangeAspect="1" noMove="1" noResize="1" noEditPoints="1" noAdjustHandles="1" noChangeArrowheads="1" noChangeShapeType="1" noTextEdit="1"/>
              </p:cNvSpPr>
              <p:nvPr/>
            </p:nvSpPr>
            <p:spPr bwMode="auto">
              <a:xfrm>
                <a:off x="193312" y="852161"/>
                <a:ext cx="8741682" cy="1384995"/>
              </a:xfrm>
              <a:prstGeom prst="rect">
                <a:avLst/>
              </a:prstGeom>
              <a:blipFill rotWithShape="0">
                <a:blip r:embed="rId2"/>
                <a:stretch>
                  <a:fillRect l="-1255" b="-48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Rectangle 1"/>
              <p:cNvSpPr>
                <a:spLocks noChangeArrowheads="1"/>
              </p:cNvSpPr>
              <p:nvPr/>
            </p:nvSpPr>
            <p:spPr bwMode="auto">
              <a:xfrm>
                <a:off x="88809" y="2354219"/>
                <a:ext cx="8950688" cy="440120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rIns="337625" anchor="ctr">
                <a:spAutoFit/>
              </a:bodyPr>
              <a:lstStyle/>
              <a:p>
                <a:pPr algn="just">
                  <a:lnSpc>
                    <a:spcPct val="120000"/>
                  </a:lnSpc>
                  <a:spcBef>
                    <a:spcPts val="600"/>
                  </a:spcBef>
                  <a:spcAft>
                    <a:spcPts val="600"/>
                  </a:spcAft>
                  <a:defRPr/>
                </a:pP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必要性</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lang="zh-CN" altLang="en-US" sz="2800" dirty="0">
                    <a:solidFill>
                      <a:srgbClr val="000000"/>
                    </a:solidFill>
                    <a:latin typeface="黑体" panose="02010609060101010101" pitchFamily="49" charset="-122"/>
                    <a:ea typeface="黑体" panose="02010609060101010101" pitchFamily="49" charset="-122"/>
                  </a:rPr>
                  <a:t>若</a:t>
                </a:r>
                <a14:m>
                  <m:oMath xmlns:m="http://schemas.openxmlformats.org/officeDocument/2006/math">
                    <m:r>
                      <a:rPr lang="en-US" altLang="zh-CN" sz="2800" b="1" i="1" dirty="0" smtClean="0">
                        <a:latin typeface="Cambria Math" panose="02040503050406030204" pitchFamily="18" charset="0"/>
                      </a:rPr>
                      <m:t>𝒗</m:t>
                    </m:r>
                  </m:oMath>
                </a14:m>
                <a:r>
                  <a:rPr lang="zh-CN" altLang="en-US" sz="2800" dirty="0">
                    <a:solidFill>
                      <a:srgbClr val="000000"/>
                    </a:solidFill>
                    <a:latin typeface="黑体" panose="02010609060101010101" pitchFamily="49" charset="-122"/>
                    <a:ea typeface="黑体" panose="02010609060101010101" pitchFamily="49" charset="-122"/>
                  </a:rPr>
                  <a:t>是</a:t>
                </a:r>
                <a14:m>
                  <m:oMath xmlns:m="http://schemas.openxmlformats.org/officeDocument/2006/math">
                    <m:r>
                      <a:rPr lang="en-US" altLang="zh-CN" sz="2800" b="1" i="1" dirty="0">
                        <a:latin typeface="Cambria Math" panose="02040503050406030204" pitchFamily="18" charset="0"/>
                      </a:rPr>
                      <m:t>𝑮</m:t>
                    </m:r>
                  </m:oMath>
                </a14:m>
                <a:r>
                  <a:rPr lang="zh-CN" altLang="en-US" sz="2800" dirty="0">
                    <a:solidFill>
                      <a:srgbClr val="000000"/>
                    </a:solidFill>
                    <a:latin typeface="黑体" panose="02010609060101010101" pitchFamily="49" charset="-122"/>
                    <a:ea typeface="黑体" panose="02010609060101010101" pitchFamily="49" charset="-122"/>
                  </a:rPr>
                  <a:t>的割点，则</a:t>
                </a:r>
                <a14:m>
                  <m:oMath xmlns:m="http://schemas.openxmlformats.org/officeDocument/2006/math">
                    <m:r>
                      <a:rPr lang="en-US" altLang="zh-CN" sz="2800" b="1" i="1" dirty="0">
                        <a:latin typeface="Cambria Math" panose="02040503050406030204" pitchFamily="18" charset="0"/>
                      </a:rPr>
                      <m:t>𝑮</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𝒗</m:t>
                    </m:r>
                    <m:r>
                      <a:rPr lang="en-US" altLang="zh-CN" sz="2800" b="1" i="1" dirty="0" smtClean="0">
                        <a:latin typeface="Cambria Math" panose="02040503050406030204" pitchFamily="18" charset="0"/>
                      </a:rPr>
                      <m:t>}</m:t>
                    </m:r>
                  </m:oMath>
                </a14:m>
                <a:r>
                  <a:rPr lang="zh-CN" altLang="en-US" sz="2800" dirty="0">
                    <a:solidFill>
                      <a:srgbClr val="000000"/>
                    </a:solidFill>
                    <a:latin typeface="黑体" panose="02010609060101010101" pitchFamily="49" charset="-122"/>
                    <a:ea typeface="黑体" panose="02010609060101010101" pitchFamily="49" charset="-122"/>
                  </a:rPr>
                  <a:t>至少有两个连通分支</a:t>
                </a:r>
                <a14:m>
                  <m:oMath xmlns:m="http://schemas.openxmlformats.org/officeDocument/2006/math">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𝑮</m:t>
                        </m:r>
                      </m:e>
                      <m:sub>
                        <m:r>
                          <a:rPr lang="en-US" altLang="zh-CN" sz="2800" b="1" i="1" dirty="0">
                            <a:latin typeface="Cambria Math" panose="02040503050406030204" pitchFamily="18" charset="0"/>
                          </a:rPr>
                          <m:t>𝟏</m:t>
                        </m:r>
                      </m:sub>
                    </m:sSub>
                    <m:r>
                      <a:rPr lang="en-US" altLang="zh-CN" sz="2800">
                        <a:latin typeface="Cambria Math" panose="02040503050406030204" pitchFamily="18" charset="0"/>
                      </a:rPr>
                      <m:t>=</m:t>
                    </m:r>
                    <m:r>
                      <a:rPr lang="en-US" altLang="zh-CN" sz="280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𝑽</m:t>
                        </m:r>
                      </m:e>
                      <m:sub>
                        <m:r>
                          <a:rPr lang="en-US" altLang="zh-CN" sz="2800" b="1" i="1">
                            <a:latin typeface="Cambria Math" panose="02040503050406030204" pitchFamily="18" charset="0"/>
                          </a:rPr>
                          <m:t>𝟏</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𝑬</m:t>
                        </m:r>
                      </m:e>
                      <m:sub>
                        <m:r>
                          <a:rPr lang="en-US" altLang="zh-CN" sz="2800" b="1" i="1">
                            <a:latin typeface="Cambria Math" panose="02040503050406030204" pitchFamily="18" charset="0"/>
                          </a:rPr>
                          <m:t>𝟏</m:t>
                        </m:r>
                      </m:sub>
                    </m:sSub>
                    <m:r>
                      <a:rPr lang="en-US" altLang="zh-CN" sz="2800" i="1" smtClean="0">
                        <a:latin typeface="Cambria Math" panose="02040503050406030204" pitchFamily="18" charset="0"/>
                      </a:rPr>
                      <m:t>⟩</m:t>
                    </m:r>
                  </m:oMath>
                </a14:m>
                <a:r>
                  <a:rPr lang="zh-CN" altLang="zh-CN" sz="3200" dirty="0">
                    <a:latin typeface="黑体" panose="02010609060101010101" pitchFamily="49" charset="-122"/>
                    <a:ea typeface="黑体" panose="02010609060101010101" pitchFamily="49" charset="-122"/>
                  </a:rPr>
                  <a:t>和</a:t>
                </a:r>
                <a14:m>
                  <m:oMath xmlns:m="http://schemas.openxmlformats.org/officeDocument/2006/math">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𝑮</m:t>
                        </m:r>
                      </m:e>
                      <m:sub>
                        <m:r>
                          <a:rPr lang="en-US" altLang="zh-CN" sz="2800" b="1" i="1" dirty="0">
                            <a:latin typeface="Cambria Math" panose="02040503050406030204" pitchFamily="18" charset="0"/>
                          </a:rPr>
                          <m:t>𝟐</m:t>
                        </m:r>
                      </m:sub>
                    </m:sSub>
                    <m:r>
                      <a:rPr lang="en-US" altLang="zh-CN" sz="2800">
                        <a:latin typeface="Cambria Math" panose="02040503050406030204" pitchFamily="18" charset="0"/>
                      </a:rPr>
                      <m:t>=</m:t>
                    </m:r>
                    <m:r>
                      <a:rPr lang="en-US" altLang="zh-CN" sz="280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𝑽</m:t>
                        </m:r>
                      </m:e>
                      <m:sub>
                        <m:r>
                          <a:rPr lang="en-US" altLang="zh-CN" sz="2800" b="1" i="1">
                            <a:latin typeface="Cambria Math" panose="02040503050406030204" pitchFamily="18" charset="0"/>
                          </a:rPr>
                          <m:t>𝟐</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𝑬</m:t>
                        </m:r>
                      </m:e>
                      <m:sub>
                        <m:r>
                          <a:rPr lang="en-US" altLang="zh-CN" sz="2800" b="1" i="1">
                            <a:latin typeface="Cambria Math" panose="02040503050406030204" pitchFamily="18" charset="0"/>
                          </a:rPr>
                          <m:t>𝟐</m:t>
                        </m:r>
                      </m:sub>
                    </m:sSub>
                    <m:r>
                      <a:rPr lang="en-US" altLang="zh-CN" sz="2800" i="1" smtClean="0">
                        <a:latin typeface="Cambria Math" panose="02040503050406030204" pitchFamily="18" charset="0"/>
                      </a:rPr>
                      <m:t>⟩</m:t>
                    </m:r>
                  </m:oMath>
                </a14:m>
                <a:r>
                  <a:rPr lang="zh-CN" altLang="en-US" sz="2800" dirty="0">
                    <a:solidFill>
                      <a:srgbClr val="000000"/>
                    </a:solidFill>
                    <a:latin typeface="黑体" panose="02010609060101010101" pitchFamily="49" charset="-122"/>
                    <a:ea typeface="黑体" panose="02010609060101010101" pitchFamily="49" charset="-122"/>
                  </a:rPr>
                  <a:t>。</a:t>
                </a:r>
                <a:endParaRPr lang="en-US" altLang="zh-CN" sz="2800" dirty="0">
                  <a:solidFill>
                    <a:srgbClr val="000000"/>
                  </a:solidFill>
                  <a:latin typeface="黑体" panose="02010609060101010101" pitchFamily="49" charset="-122"/>
                  <a:ea typeface="黑体" panose="02010609060101010101" pitchFamily="49" charset="-122"/>
                </a:endParaRPr>
              </a:p>
              <a:p>
                <a:pPr algn="just">
                  <a:lnSpc>
                    <a:spcPct val="120000"/>
                  </a:lnSpc>
                  <a:spcBef>
                    <a:spcPts val="600"/>
                  </a:spcBef>
                  <a:spcAft>
                    <a:spcPts val="600"/>
                  </a:spcAft>
                  <a:defRPr/>
                </a:pPr>
                <a:r>
                  <a:rPr lang="zh-CN" altLang="en-US" sz="2800" dirty="0">
                    <a:solidFill>
                      <a:srgbClr val="000000"/>
                    </a:solidFill>
                    <a:latin typeface="黑体" panose="02010609060101010101" pitchFamily="49" charset="-122"/>
                    <a:ea typeface="黑体" panose="02010609060101010101" pitchFamily="49" charset="-122"/>
                  </a:rPr>
                  <a:t>现取</a:t>
                </a:r>
                <a14:m>
                  <m:oMath xmlns:m="http://schemas.openxmlformats.org/officeDocument/2006/math">
                    <m:r>
                      <a:rPr lang="en-US" altLang="zh-CN" sz="2800" b="1" i="1" dirty="0">
                        <a:latin typeface="Cambria Math" panose="02040503050406030204" pitchFamily="18" charset="0"/>
                      </a:rPr>
                      <m:t>𝒖</m:t>
                    </m:r>
                    <m:r>
                      <a:rPr lang="en-US" altLang="zh-CN" sz="2800" b="1" i="1" dirty="0" smtClean="0">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𝑽</m:t>
                        </m:r>
                      </m:e>
                      <m:sub>
                        <m:r>
                          <a:rPr lang="en-US" altLang="zh-CN" sz="2800" b="1" i="1">
                            <a:latin typeface="Cambria Math" panose="02040503050406030204" pitchFamily="18" charset="0"/>
                          </a:rPr>
                          <m:t>𝟏</m:t>
                        </m:r>
                      </m:sub>
                    </m:sSub>
                  </m:oMath>
                </a14:m>
                <a:r>
                  <a:rPr lang="zh-CN" altLang="en-US" sz="2800" dirty="0">
                    <a:solidFill>
                      <a:srgbClr val="000000"/>
                    </a:solidFill>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 </a:t>
                </a:r>
                <a14:m>
                  <m:oMath xmlns:m="http://schemas.openxmlformats.org/officeDocument/2006/math">
                    <m:r>
                      <a:rPr lang="en-US" altLang="zh-CN" sz="2800" b="1" i="1" dirty="0">
                        <a:latin typeface="Cambria Math" panose="02040503050406030204" pitchFamily="18" charset="0"/>
                      </a:rPr>
                      <m:t>𝒘</m:t>
                    </m:r>
                    <m:r>
                      <a:rPr lang="en-US" altLang="zh-CN" sz="2800" b="1" i="1" dirty="0" smtClean="0">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𝑽</m:t>
                        </m:r>
                      </m:e>
                      <m:sub>
                        <m:r>
                          <a:rPr lang="en-US" altLang="zh-CN" sz="2800" b="1" i="1">
                            <a:latin typeface="Cambria Math" panose="02040503050406030204" pitchFamily="18" charset="0"/>
                          </a:rPr>
                          <m:t>𝟐</m:t>
                        </m:r>
                      </m:sub>
                    </m:sSub>
                  </m:oMath>
                </a14:m>
                <a:r>
                  <a:rPr lang="zh-CN" altLang="en-US" sz="2800" dirty="0">
                    <a:solidFill>
                      <a:srgbClr val="000000"/>
                    </a:solidFill>
                    <a:latin typeface="黑体" panose="02010609060101010101" pitchFamily="49" charset="-122"/>
                    <a:ea typeface="黑体" panose="02010609060101010101" pitchFamily="49" charset="-122"/>
                  </a:rPr>
                  <a:t>。</a:t>
                </a:r>
                <a:endParaRPr lang="en-US" altLang="zh-CN" sz="2800" dirty="0">
                  <a:solidFill>
                    <a:srgbClr val="000000"/>
                  </a:solidFill>
                  <a:latin typeface="黑体" panose="02010609060101010101" pitchFamily="49" charset="-122"/>
                  <a:ea typeface="黑体" panose="02010609060101010101" pitchFamily="49" charset="-122"/>
                </a:endParaRPr>
              </a:p>
              <a:p>
                <a:pPr algn="just">
                  <a:lnSpc>
                    <a:spcPct val="120000"/>
                  </a:lnSpc>
                  <a:spcBef>
                    <a:spcPts val="600"/>
                  </a:spcBef>
                  <a:spcAft>
                    <a:spcPts val="600"/>
                  </a:spcAft>
                  <a:defRPr/>
                </a:pPr>
                <a:r>
                  <a:rPr lang="zh-CN" altLang="en-US" sz="2800" dirty="0">
                    <a:solidFill>
                      <a:srgbClr val="000000"/>
                    </a:solidFill>
                    <a:latin typeface="黑体" panose="02010609060101010101" pitchFamily="49" charset="-122"/>
                    <a:ea typeface="黑体" panose="02010609060101010101" pitchFamily="49" charset="-122"/>
                  </a:rPr>
                  <a:t>因为</a:t>
                </a:r>
                <a14:m>
                  <m:oMath xmlns:m="http://schemas.openxmlformats.org/officeDocument/2006/math">
                    <m:r>
                      <a:rPr lang="en-US" altLang="zh-CN" sz="2800" b="1" i="1" dirty="0">
                        <a:latin typeface="Cambria Math" panose="02040503050406030204" pitchFamily="18" charset="0"/>
                      </a:rPr>
                      <m:t>𝑮</m:t>
                    </m:r>
                  </m:oMath>
                </a14:m>
                <a:r>
                  <a:rPr lang="zh-CN" altLang="en-US" sz="2800" dirty="0">
                    <a:solidFill>
                      <a:srgbClr val="000000"/>
                    </a:solidFill>
                    <a:latin typeface="黑体" panose="02010609060101010101" pitchFamily="49" charset="-122"/>
                    <a:ea typeface="黑体" panose="02010609060101010101" pitchFamily="49" charset="-122"/>
                  </a:rPr>
                  <a:t>连通，故在</a:t>
                </a:r>
                <a14:m>
                  <m:oMath xmlns:m="http://schemas.openxmlformats.org/officeDocument/2006/math">
                    <m:r>
                      <a:rPr lang="en-US" altLang="zh-CN" sz="2800" b="1" i="1" dirty="0">
                        <a:latin typeface="Cambria Math" panose="02040503050406030204" pitchFamily="18" charset="0"/>
                      </a:rPr>
                      <m:t>𝑮</m:t>
                    </m:r>
                  </m:oMath>
                </a14:m>
                <a:r>
                  <a:rPr lang="zh-CN" altLang="en-US" sz="2800" dirty="0">
                    <a:solidFill>
                      <a:srgbClr val="000000"/>
                    </a:solidFill>
                    <a:latin typeface="黑体" panose="02010609060101010101" pitchFamily="49" charset="-122"/>
                    <a:ea typeface="黑体" panose="02010609060101010101" pitchFamily="49" charset="-122"/>
                  </a:rPr>
                  <a:t>中必有连接</a:t>
                </a:r>
                <a14:m>
                  <m:oMath xmlns:m="http://schemas.openxmlformats.org/officeDocument/2006/math">
                    <m:r>
                      <a:rPr lang="en-US" altLang="zh-CN" sz="2800" b="1" i="1" dirty="0">
                        <a:latin typeface="Cambria Math" panose="02040503050406030204" pitchFamily="18" charset="0"/>
                      </a:rPr>
                      <m:t>𝒖</m:t>
                    </m:r>
                  </m:oMath>
                </a14:m>
                <a:r>
                  <a:rPr lang="zh-CN" altLang="en-US" sz="2800" dirty="0">
                    <a:solidFill>
                      <a:srgbClr val="000000"/>
                    </a:solidFill>
                    <a:latin typeface="黑体" panose="02010609060101010101" pitchFamily="49" charset="-122"/>
                    <a:ea typeface="黑体" panose="02010609060101010101" pitchFamily="49" charset="-122"/>
                  </a:rPr>
                  <a:t>和</a:t>
                </a:r>
                <a14:m>
                  <m:oMath xmlns:m="http://schemas.openxmlformats.org/officeDocument/2006/math">
                    <m:r>
                      <a:rPr lang="en-US" altLang="zh-CN" sz="2800" b="1" i="1" dirty="0">
                        <a:latin typeface="Cambria Math" panose="02040503050406030204" pitchFamily="18" charset="0"/>
                      </a:rPr>
                      <m:t>𝒘</m:t>
                    </m:r>
                  </m:oMath>
                </a14:m>
                <a:r>
                  <a:rPr lang="zh-CN" altLang="en-US" sz="2800" dirty="0">
                    <a:solidFill>
                      <a:srgbClr val="000000"/>
                    </a:solidFill>
                    <a:latin typeface="黑体" panose="02010609060101010101" pitchFamily="49" charset="-122"/>
                    <a:ea typeface="黑体" panose="02010609060101010101" pitchFamily="49" charset="-122"/>
                  </a:rPr>
                  <a:t>的路。</a:t>
                </a:r>
                <a:endParaRPr lang="en-US" altLang="zh-CN" sz="2800" dirty="0">
                  <a:solidFill>
                    <a:srgbClr val="000000"/>
                  </a:solidFill>
                  <a:latin typeface="黑体" panose="02010609060101010101" pitchFamily="49" charset="-122"/>
                  <a:ea typeface="黑体" panose="02010609060101010101" pitchFamily="49" charset="-122"/>
                </a:endParaRPr>
              </a:p>
              <a:p>
                <a:pPr algn="just">
                  <a:lnSpc>
                    <a:spcPct val="120000"/>
                  </a:lnSpc>
                  <a:spcBef>
                    <a:spcPts val="600"/>
                  </a:spcBef>
                  <a:spcAft>
                    <a:spcPts val="600"/>
                  </a:spcAft>
                  <a:defRPr/>
                </a:pPr>
                <a:r>
                  <a:rPr lang="zh-CN" altLang="en-US" sz="2800" dirty="0">
                    <a:solidFill>
                      <a:srgbClr val="000000"/>
                    </a:solidFill>
                    <a:latin typeface="黑体" panose="02010609060101010101" pitchFamily="49" charset="-122"/>
                    <a:ea typeface="黑体" panose="02010609060101010101" pitchFamily="49" charset="-122"/>
                  </a:rPr>
                  <a:t>对任一条连接</a:t>
                </a:r>
                <a14:m>
                  <m:oMath xmlns:m="http://schemas.openxmlformats.org/officeDocument/2006/math">
                    <m:r>
                      <a:rPr lang="en-US" altLang="zh-CN" sz="2800" b="1" i="1" dirty="0" smtClean="0">
                        <a:latin typeface="Cambria Math" panose="02040503050406030204" pitchFamily="18" charset="0"/>
                      </a:rPr>
                      <m:t>𝒖</m:t>
                    </m:r>
                  </m:oMath>
                </a14:m>
                <a:r>
                  <a:rPr lang="zh-CN" altLang="en-US" sz="2800" dirty="0">
                    <a:solidFill>
                      <a:srgbClr val="000000"/>
                    </a:solidFill>
                    <a:latin typeface="黑体" panose="02010609060101010101" pitchFamily="49" charset="-122"/>
                    <a:ea typeface="黑体" panose="02010609060101010101" pitchFamily="49" charset="-122"/>
                  </a:rPr>
                  <a:t>和</a:t>
                </a:r>
                <a14:m>
                  <m:oMath xmlns:m="http://schemas.openxmlformats.org/officeDocument/2006/math">
                    <m:r>
                      <a:rPr lang="en-US" altLang="zh-CN" sz="2800" b="1" i="1" dirty="0">
                        <a:latin typeface="Cambria Math" panose="02040503050406030204" pitchFamily="18" charset="0"/>
                      </a:rPr>
                      <m:t>𝒘</m:t>
                    </m:r>
                  </m:oMath>
                </a14:m>
                <a:r>
                  <a:rPr lang="zh-CN" altLang="en-US" sz="2800" dirty="0">
                    <a:solidFill>
                      <a:srgbClr val="000000"/>
                    </a:solidFill>
                    <a:latin typeface="黑体" panose="02010609060101010101" pitchFamily="49" charset="-122"/>
                    <a:ea typeface="黑体" panose="02010609060101010101" pitchFamily="49" charset="-122"/>
                  </a:rPr>
                  <a:t>的路</a:t>
                </a:r>
                <a14:m>
                  <m:oMath xmlns:m="http://schemas.openxmlformats.org/officeDocument/2006/math">
                    <m:r>
                      <a:rPr lang="zh-CN" altLang="en-US" sz="2800" b="1" i="1" dirty="0">
                        <a:latin typeface="Cambria Math" panose="02040503050406030204" pitchFamily="18" charset="0"/>
                      </a:rPr>
                      <m:t>𝜞</m:t>
                    </m:r>
                  </m:oMath>
                </a14:m>
                <a:r>
                  <a:rPr lang="zh-CN" altLang="en-US" sz="2800" dirty="0">
                    <a:solidFill>
                      <a:srgbClr val="000000"/>
                    </a:solidFill>
                    <a:latin typeface="黑体" panose="02010609060101010101" pitchFamily="49" charset="-122"/>
                    <a:ea typeface="黑体" panose="02010609060101010101" pitchFamily="49" charset="-122"/>
                  </a:rPr>
                  <a:t>，由于</a:t>
                </a:r>
                <a14:m>
                  <m:oMath xmlns:m="http://schemas.openxmlformats.org/officeDocument/2006/math">
                    <m:r>
                      <a:rPr lang="en-US" altLang="zh-CN" sz="2800" b="1" i="1" dirty="0">
                        <a:latin typeface="Cambria Math" panose="02040503050406030204" pitchFamily="18" charset="0"/>
                      </a:rPr>
                      <m:t>𝒖</m:t>
                    </m:r>
                  </m:oMath>
                </a14:m>
                <a:r>
                  <a:rPr lang="zh-CN" altLang="en-US" sz="2800" dirty="0">
                    <a:solidFill>
                      <a:srgbClr val="000000"/>
                    </a:solidFill>
                    <a:latin typeface="黑体" panose="02010609060101010101" pitchFamily="49" charset="-122"/>
                    <a:ea typeface="黑体" panose="02010609060101010101" pitchFamily="49" charset="-122"/>
                  </a:rPr>
                  <a:t>和</a:t>
                </a:r>
                <a14:m>
                  <m:oMath xmlns:m="http://schemas.openxmlformats.org/officeDocument/2006/math">
                    <m:r>
                      <a:rPr lang="en-US" altLang="zh-CN" sz="2800" b="1" i="1" dirty="0">
                        <a:latin typeface="Cambria Math" panose="02040503050406030204" pitchFamily="18" charset="0"/>
                      </a:rPr>
                      <m:t>𝒘</m:t>
                    </m:r>
                  </m:oMath>
                </a14:m>
                <a:r>
                  <a:rPr lang="zh-CN" altLang="en-US" sz="2800" dirty="0">
                    <a:solidFill>
                      <a:srgbClr val="000000"/>
                    </a:solidFill>
                    <a:latin typeface="黑体" panose="02010609060101010101" pitchFamily="49" charset="-122"/>
                    <a:ea typeface="黑体" panose="02010609060101010101" pitchFamily="49" charset="-122"/>
                  </a:rPr>
                  <a:t>在</a:t>
                </a:r>
                <a14:m>
                  <m:oMath xmlns:m="http://schemas.openxmlformats.org/officeDocument/2006/math">
                    <m:r>
                      <a:rPr lang="en-US" altLang="zh-CN" sz="2800" b="1" i="1" dirty="0">
                        <a:latin typeface="Cambria Math" panose="02040503050406030204" pitchFamily="18" charset="0"/>
                      </a:rPr>
                      <m:t>𝑮</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𝒗</m:t>
                    </m:r>
                    <m:r>
                      <a:rPr lang="en-US" altLang="zh-CN" sz="2800" b="1" i="1" dirty="0" smtClean="0">
                        <a:latin typeface="Cambria Math" panose="02040503050406030204" pitchFamily="18" charset="0"/>
                      </a:rPr>
                      <m:t>}</m:t>
                    </m:r>
                  </m:oMath>
                </a14:m>
                <a:r>
                  <a:rPr lang="en-US" altLang="zh-CN" sz="2800" dirty="0">
                    <a:solidFill>
                      <a:srgbClr val="000000"/>
                    </a:solidFill>
                    <a:latin typeface="黑体" panose="02010609060101010101" pitchFamily="49" charset="-122"/>
                    <a:ea typeface="黑体" panose="02010609060101010101" pitchFamily="49" charset="-122"/>
                  </a:rPr>
                  <a:t> </a:t>
                </a:r>
                <a:r>
                  <a:rPr lang="zh-CN" altLang="en-US" sz="2800" dirty="0">
                    <a:solidFill>
                      <a:srgbClr val="000000"/>
                    </a:solidFill>
                    <a:latin typeface="黑体" panose="02010609060101010101" pitchFamily="49" charset="-122"/>
                    <a:ea typeface="黑体" panose="02010609060101010101" pitchFamily="49" charset="-122"/>
                  </a:rPr>
                  <a:t>中不可达，因此</a:t>
                </a:r>
                <a14:m>
                  <m:oMath xmlns:m="http://schemas.openxmlformats.org/officeDocument/2006/math">
                    <m:r>
                      <a:rPr lang="zh-CN" altLang="en-US" sz="2800" b="1" i="1" dirty="0" smtClean="0">
                        <a:solidFill>
                          <a:srgbClr val="C00000"/>
                        </a:solidFill>
                        <a:latin typeface="Cambria Math" panose="02040503050406030204" pitchFamily="18" charset="0"/>
                      </a:rPr>
                      <m:t>𝜞</m:t>
                    </m:r>
                  </m:oMath>
                </a14:m>
                <a:r>
                  <a:rPr lang="zh-CN" altLang="en-US" sz="2800" dirty="0">
                    <a:solidFill>
                      <a:srgbClr val="C00000"/>
                    </a:solidFill>
                    <a:latin typeface="黑体" panose="02010609060101010101" pitchFamily="49" charset="-122"/>
                    <a:ea typeface="黑体" panose="02010609060101010101" pitchFamily="49" charset="-122"/>
                  </a:rPr>
                  <a:t>必通过</a:t>
                </a:r>
                <a14:m>
                  <m:oMath xmlns:m="http://schemas.openxmlformats.org/officeDocument/2006/math">
                    <m:r>
                      <a:rPr lang="en-US" altLang="zh-CN" sz="2800" b="1" i="1" dirty="0">
                        <a:solidFill>
                          <a:srgbClr val="C00000"/>
                        </a:solidFill>
                        <a:latin typeface="Cambria Math" panose="02040503050406030204" pitchFamily="18" charset="0"/>
                      </a:rPr>
                      <m:t>𝒗</m:t>
                    </m:r>
                    <m:r>
                      <a:rPr lang="en-US" altLang="zh-CN" sz="2800" b="1" i="1" dirty="0">
                        <a:solidFill>
                          <a:srgbClr val="C00000"/>
                        </a:solidFill>
                        <a:latin typeface="Cambria Math" panose="02040503050406030204" pitchFamily="18" charset="0"/>
                      </a:rPr>
                      <m:t> </m:t>
                    </m:r>
                  </m:oMath>
                </a14:m>
                <a:r>
                  <a:rPr lang="zh-CN" altLang="en-US" sz="2800" dirty="0">
                    <a:solidFill>
                      <a:srgbClr val="000000"/>
                    </a:solidFill>
                    <a:latin typeface="黑体" panose="02010609060101010101" pitchFamily="49" charset="-122"/>
                    <a:ea typeface="黑体" panose="02010609060101010101" pitchFamily="49" charset="-122"/>
                  </a:rPr>
                  <a:t>。</a:t>
                </a:r>
                <a:endParaRPr lang="en-US" altLang="zh-CN" sz="2800" dirty="0">
                  <a:solidFill>
                    <a:srgbClr val="000000"/>
                  </a:solidFill>
                  <a:latin typeface="黑体" panose="02010609060101010101" pitchFamily="49" charset="-122"/>
                  <a:ea typeface="黑体" panose="02010609060101010101" pitchFamily="49" charset="-122"/>
                </a:endParaRPr>
              </a:p>
              <a:p>
                <a:pPr algn="just">
                  <a:lnSpc>
                    <a:spcPct val="120000"/>
                  </a:lnSpc>
                  <a:spcBef>
                    <a:spcPts val="600"/>
                  </a:spcBef>
                  <a:spcAft>
                    <a:spcPts val="600"/>
                  </a:spcAft>
                  <a:defRPr/>
                </a:pPr>
                <a:r>
                  <a:rPr lang="zh-CN" altLang="en-US" sz="2800" dirty="0">
                    <a:solidFill>
                      <a:srgbClr val="000000"/>
                    </a:solidFill>
                    <a:latin typeface="黑体" panose="02010609060101010101" pitchFamily="49" charset="-122"/>
                    <a:ea typeface="黑体" panose="02010609060101010101" pitchFamily="49" charset="-122"/>
                  </a:rPr>
                  <a:t>故</a:t>
                </a:r>
                <a14:m>
                  <m:oMath xmlns:m="http://schemas.openxmlformats.org/officeDocument/2006/math">
                    <m:r>
                      <a:rPr lang="en-US" altLang="zh-CN" sz="2800" b="1" i="1" dirty="0">
                        <a:latin typeface="Cambria Math" panose="02040503050406030204" pitchFamily="18" charset="0"/>
                      </a:rPr>
                      <m:t>𝒖</m:t>
                    </m:r>
                  </m:oMath>
                </a14:m>
                <a:r>
                  <a:rPr lang="zh-CN" altLang="en-US" sz="2800" dirty="0">
                    <a:solidFill>
                      <a:srgbClr val="000000"/>
                    </a:solidFill>
                    <a:latin typeface="黑体" panose="02010609060101010101" pitchFamily="49" charset="-122"/>
                    <a:ea typeface="黑体" panose="02010609060101010101" pitchFamily="49" charset="-122"/>
                  </a:rPr>
                  <a:t>和</a:t>
                </a:r>
                <a14:m>
                  <m:oMath xmlns:m="http://schemas.openxmlformats.org/officeDocument/2006/math">
                    <m:r>
                      <a:rPr lang="en-US" altLang="zh-CN" sz="2800" b="1" i="1" dirty="0" smtClean="0">
                        <a:latin typeface="Cambria Math" panose="02040503050406030204" pitchFamily="18" charset="0"/>
                      </a:rPr>
                      <m:t>𝒘</m:t>
                    </m:r>
                  </m:oMath>
                </a14:m>
                <a:r>
                  <a:rPr lang="zh-CN" altLang="en-US" sz="2800" dirty="0">
                    <a:solidFill>
                      <a:srgbClr val="000000"/>
                    </a:solidFill>
                    <a:latin typeface="黑体" panose="02010609060101010101" pitchFamily="49" charset="-122"/>
                    <a:ea typeface="黑体" panose="02010609060101010101" pitchFamily="49" charset="-122"/>
                  </a:rPr>
                  <a:t>之间的任意路必经过</a:t>
                </a:r>
                <a14:m>
                  <m:oMath xmlns:m="http://schemas.openxmlformats.org/officeDocument/2006/math">
                    <m:r>
                      <a:rPr lang="en-US" altLang="zh-CN" sz="2800" b="1" i="1" dirty="0">
                        <a:latin typeface="Cambria Math" panose="02040503050406030204" pitchFamily="18" charset="0"/>
                      </a:rPr>
                      <m:t>𝒗</m:t>
                    </m:r>
                  </m:oMath>
                </a14:m>
                <a:r>
                  <a:rPr lang="zh-CN" altLang="en-US" sz="2800" dirty="0">
                    <a:solidFill>
                      <a:srgbClr val="000000"/>
                    </a:solidFill>
                    <a:latin typeface="黑体" panose="02010609060101010101" pitchFamily="49" charset="-122"/>
                    <a:ea typeface="黑体" panose="02010609060101010101" pitchFamily="49" charset="-122"/>
                  </a:rPr>
                  <a:t>。</a:t>
                </a:r>
              </a:p>
            </p:txBody>
          </p:sp>
        </mc:Choice>
        <mc:Fallback xmlns="">
          <p:sp>
            <p:nvSpPr>
              <p:cNvPr id="5" name="Rectangle 1">
                <a:extLst>
                  <a:ext uri="{FF2B5EF4-FFF2-40B4-BE49-F238E27FC236}"/>
                </a:extLst>
              </p:cNvPr>
              <p:cNvSpPr>
                <a:spLocks noRot="1" noChangeAspect="1" noMove="1" noResize="1" noEditPoints="1" noAdjustHandles="1" noChangeArrowheads="1" noChangeShapeType="1" noTextEdit="1"/>
              </p:cNvSpPr>
              <p:nvPr/>
            </p:nvSpPr>
            <p:spPr bwMode="auto">
              <a:xfrm>
                <a:off x="88809" y="2354219"/>
                <a:ext cx="8950688" cy="4401205"/>
              </a:xfrm>
              <a:prstGeom prst="rect">
                <a:avLst/>
              </a:prstGeom>
              <a:blipFill rotWithShape="0">
                <a:blip r:embed="rId3"/>
                <a:stretch>
                  <a:fillRect l="-1431" t="-554" b="-193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06629824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8482" name="Rectangle 1"/>
              <p:cNvSpPr>
                <a:spLocks noChangeArrowheads="1"/>
              </p:cNvSpPr>
              <p:nvPr/>
            </p:nvSpPr>
            <p:spPr bwMode="auto">
              <a:xfrm>
                <a:off x="211635" y="1168392"/>
                <a:ext cx="8636273" cy="13849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rIns="337625" anchor="ctr">
                <a:spAutoFit/>
              </a:bodyPr>
              <a:lstStyle>
                <a:lvl1pPr>
                  <a:lnSpc>
                    <a:spcPct val="90000"/>
                  </a:lnSpc>
                  <a:spcBef>
                    <a:spcPct val="25000"/>
                  </a:spcBef>
                  <a:spcAft>
                    <a:spcPct val="20000"/>
                  </a:spcAft>
                  <a:buClr>
                    <a:srgbClr val="336699"/>
                  </a:buClr>
                  <a:buFont typeface="Wingdings" panose="05000000000000000000" pitchFamily="2" charset="2"/>
                  <a:buChar char="§"/>
                  <a:defRPr sz="2600" b="1">
                    <a:solidFill>
                      <a:schemeClr val="tx1"/>
                    </a:solidFill>
                    <a:latin typeface="华文仿宋" panose="02010600040101010101" pitchFamily="2" charset="-122"/>
                    <a:ea typeface="华文仿宋" panose="02010600040101010101" pitchFamily="2" charset="-122"/>
                  </a:defRPr>
                </a:lvl1pPr>
                <a:lvl2pPr marL="742950" indent="-285750">
                  <a:lnSpc>
                    <a:spcPct val="90000"/>
                  </a:lnSpc>
                  <a:spcBef>
                    <a:spcPct val="25000"/>
                  </a:spcBef>
                  <a:buClr>
                    <a:srgbClr val="336699"/>
                  </a:buClr>
                  <a:buChar char="•"/>
                  <a:defRPr sz="2400" b="1">
                    <a:solidFill>
                      <a:schemeClr val="tx1"/>
                    </a:solidFill>
                    <a:latin typeface="华文仿宋" panose="02010600040101010101" pitchFamily="2" charset="-122"/>
                    <a:ea typeface="华文仿宋" panose="02010600040101010101" pitchFamily="2" charset="-122"/>
                  </a:defRPr>
                </a:lvl2pPr>
                <a:lvl3pPr marL="1143000" indent="-228600">
                  <a:lnSpc>
                    <a:spcPct val="90000"/>
                  </a:lnSpc>
                  <a:spcBef>
                    <a:spcPct val="25000"/>
                  </a:spcBef>
                  <a:buClr>
                    <a:srgbClr val="336699"/>
                  </a:buClr>
                  <a:buChar char="–"/>
                  <a:defRPr sz="2000" b="1">
                    <a:solidFill>
                      <a:schemeClr val="tx1"/>
                    </a:solidFill>
                    <a:latin typeface="华文仿宋" panose="02010600040101010101" pitchFamily="2" charset="-122"/>
                    <a:ea typeface="华文仿宋" panose="02010600040101010101" pitchFamily="2" charset="-122"/>
                  </a:defRPr>
                </a:lvl3pPr>
                <a:lvl4pPr marL="1600200" indent="-228600">
                  <a:lnSpc>
                    <a:spcPct val="90000"/>
                  </a:lnSpc>
                  <a:spcBef>
                    <a:spcPct val="25000"/>
                  </a:spcBef>
                  <a:buClr>
                    <a:srgbClr val="336699"/>
                  </a:buClr>
                  <a:buChar char="»"/>
                  <a:defRPr b="1">
                    <a:solidFill>
                      <a:schemeClr val="tx1"/>
                    </a:solidFill>
                    <a:latin typeface="华文仿宋" panose="02010600040101010101" pitchFamily="2" charset="-122"/>
                    <a:ea typeface="华文仿宋" panose="02010600040101010101" pitchFamily="2" charset="-122"/>
                  </a:defRPr>
                </a:lvl4pPr>
                <a:lvl5pPr marL="2057400" indent="-228600">
                  <a:lnSpc>
                    <a:spcPct val="90000"/>
                  </a:lnSpc>
                  <a:spcBef>
                    <a:spcPct val="25000"/>
                  </a:spcBef>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5pPr>
                <a:lvl6pPr marL="25146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6pPr>
                <a:lvl7pPr marL="29718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7pPr>
                <a:lvl8pPr marL="34290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8pPr>
                <a:lvl9pPr marL="38862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9pPr>
              </a:lstStyle>
              <a:p>
                <a:pPr marL="457200" indent="-457200" algn="just">
                  <a:lnSpc>
                    <a:spcPct val="150000"/>
                  </a:lnSpc>
                  <a:spcBef>
                    <a:spcPct val="0"/>
                  </a:spcBef>
                  <a:spcAft>
                    <a:spcPct val="0"/>
                  </a:spcAft>
                  <a:buClrTx/>
                </a:pPr>
                <a:r>
                  <a:rPr lang="zh-CN" altLang="en-US" sz="28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定理  </a:t>
                </a:r>
                <a:r>
                  <a:rPr lang="zh-CN" altLang="en-US" sz="2800" b="0" dirty="0">
                    <a:solidFill>
                      <a:srgbClr val="000000"/>
                    </a:solidFill>
                    <a:latin typeface="黑体" panose="02010609060101010101" pitchFamily="49" charset="-122"/>
                    <a:ea typeface="黑体" panose="02010609060101010101" pitchFamily="49" charset="-122"/>
                  </a:rPr>
                  <a:t>一个连通无向图</a:t>
                </a:r>
                <a14:m>
                  <m:oMath xmlns:m="http://schemas.openxmlformats.org/officeDocument/2006/math">
                    <m:r>
                      <a:rPr lang="en-US" altLang="zh-CN" sz="2800" i="1" dirty="0">
                        <a:latin typeface="Cambria Math" panose="02040503050406030204" pitchFamily="18" charset="0"/>
                      </a:rPr>
                      <m:t>𝑮</m:t>
                    </m:r>
                  </m:oMath>
                </a14:m>
                <a:r>
                  <a:rPr lang="zh-CN" altLang="en-US" sz="2800" b="0" dirty="0">
                    <a:solidFill>
                      <a:srgbClr val="000000"/>
                    </a:solidFill>
                    <a:latin typeface="黑体" panose="02010609060101010101" pitchFamily="49" charset="-122"/>
                    <a:ea typeface="黑体" panose="02010609060101010101" pitchFamily="49" charset="-122"/>
                  </a:rPr>
                  <a:t>中的边</a:t>
                </a:r>
                <a14:m>
                  <m:oMath xmlns:m="http://schemas.openxmlformats.org/officeDocument/2006/math">
                    <m:r>
                      <a:rPr lang="en-US" altLang="zh-CN" sz="2800" b="1" i="1" dirty="0" smtClean="0">
                        <a:latin typeface="Cambria Math" panose="02040503050406030204" pitchFamily="18" charset="0"/>
                      </a:rPr>
                      <m:t>𝒆</m:t>
                    </m:r>
                  </m:oMath>
                </a14:m>
                <a:r>
                  <a:rPr lang="zh-CN" altLang="en-US" sz="2800" b="0" dirty="0">
                    <a:solidFill>
                      <a:srgbClr val="000000"/>
                    </a:solidFill>
                    <a:latin typeface="黑体" panose="02010609060101010101" pitchFamily="49" charset="-122"/>
                    <a:ea typeface="黑体" panose="02010609060101010101" pitchFamily="49" charset="-122"/>
                  </a:rPr>
                  <a:t>是割边 </a:t>
                </a:r>
                <a:r>
                  <a:rPr lang="zh-CN" altLang="en-US" sz="2800" b="0" dirty="0">
                    <a:solidFill>
                      <a:srgbClr val="000000"/>
                    </a:solidFill>
                    <a:latin typeface="黑体" panose="02010609060101010101" pitchFamily="49" charset="-122"/>
                    <a:ea typeface="黑体" panose="02010609060101010101" pitchFamily="49" charset="-122"/>
                    <a:sym typeface="Symbol" panose="05050102010706020507" pitchFamily="18" charset="2"/>
                  </a:rPr>
                  <a:t> </a:t>
                </a:r>
                <a:r>
                  <a:rPr lang="zh-CN" altLang="en-US" sz="2800" b="0" dirty="0">
                    <a:solidFill>
                      <a:srgbClr val="000000"/>
                    </a:solidFill>
                    <a:latin typeface="黑体" panose="02010609060101010101" pitchFamily="49" charset="-122"/>
                    <a:ea typeface="黑体" panose="02010609060101010101" pitchFamily="49" charset="-122"/>
                  </a:rPr>
                  <a:t>存在结点</a:t>
                </a:r>
                <a14:m>
                  <m:oMath xmlns:m="http://schemas.openxmlformats.org/officeDocument/2006/math">
                    <m:r>
                      <a:rPr lang="en-US" altLang="zh-CN" sz="2800" i="1" dirty="0">
                        <a:latin typeface="Cambria Math" panose="02040503050406030204" pitchFamily="18" charset="0"/>
                      </a:rPr>
                      <m:t>𝒖</m:t>
                    </m:r>
                  </m:oMath>
                </a14:m>
                <a:r>
                  <a:rPr lang="zh-CN" altLang="en-US" sz="2800" b="0" dirty="0">
                    <a:solidFill>
                      <a:srgbClr val="000000"/>
                    </a:solidFill>
                    <a:latin typeface="黑体" panose="02010609060101010101" pitchFamily="49" charset="-122"/>
                    <a:ea typeface="黑体" panose="02010609060101010101" pitchFamily="49" charset="-122"/>
                  </a:rPr>
                  <a:t>和</a:t>
                </a:r>
                <a14:m>
                  <m:oMath xmlns:m="http://schemas.openxmlformats.org/officeDocument/2006/math">
                    <m:r>
                      <a:rPr lang="en-US" altLang="zh-CN" sz="2800" b="1" i="1" dirty="0" smtClean="0">
                        <a:latin typeface="Cambria Math" panose="02040503050406030204" pitchFamily="18" charset="0"/>
                      </a:rPr>
                      <m:t>𝒘</m:t>
                    </m:r>
                  </m:oMath>
                </a14:m>
                <a:r>
                  <a:rPr lang="zh-CN" altLang="en-US" sz="2800" b="0" dirty="0">
                    <a:solidFill>
                      <a:srgbClr val="000000"/>
                    </a:solidFill>
                    <a:latin typeface="黑体" panose="02010609060101010101" pitchFamily="49" charset="-122"/>
                    <a:ea typeface="黑体" panose="02010609060101010101" pitchFamily="49" charset="-122"/>
                  </a:rPr>
                  <a:t>，使得连接</a:t>
                </a:r>
                <a14:m>
                  <m:oMath xmlns:m="http://schemas.openxmlformats.org/officeDocument/2006/math">
                    <m:r>
                      <a:rPr lang="en-US" altLang="zh-CN" sz="2800" i="1" dirty="0">
                        <a:latin typeface="Cambria Math" panose="02040503050406030204" pitchFamily="18" charset="0"/>
                      </a:rPr>
                      <m:t>𝒖</m:t>
                    </m:r>
                  </m:oMath>
                </a14:m>
                <a:r>
                  <a:rPr lang="zh-CN" altLang="en-US" sz="2800" b="0" dirty="0">
                    <a:solidFill>
                      <a:srgbClr val="000000"/>
                    </a:solidFill>
                    <a:latin typeface="黑体" panose="02010609060101010101" pitchFamily="49" charset="-122"/>
                    <a:ea typeface="黑体" panose="02010609060101010101" pitchFamily="49" charset="-122"/>
                  </a:rPr>
                  <a:t>和</a:t>
                </a:r>
                <a14:m>
                  <m:oMath xmlns:m="http://schemas.openxmlformats.org/officeDocument/2006/math">
                    <m:r>
                      <a:rPr lang="en-US" altLang="zh-CN" sz="2800" b="1" i="1" dirty="0" smtClean="0">
                        <a:latin typeface="Cambria Math" panose="02040503050406030204" pitchFamily="18" charset="0"/>
                      </a:rPr>
                      <m:t>𝒘</m:t>
                    </m:r>
                  </m:oMath>
                </a14:m>
                <a:r>
                  <a:rPr lang="zh-CN" altLang="en-US" sz="2800" b="0" dirty="0">
                    <a:solidFill>
                      <a:srgbClr val="000000"/>
                    </a:solidFill>
                    <a:latin typeface="黑体" panose="02010609060101010101" pitchFamily="49" charset="-122"/>
                    <a:ea typeface="黑体" panose="02010609060101010101" pitchFamily="49" charset="-122"/>
                  </a:rPr>
                  <a:t>的每条路都经过</a:t>
                </a:r>
                <a14:m>
                  <m:oMath xmlns:m="http://schemas.openxmlformats.org/officeDocument/2006/math">
                    <m:r>
                      <a:rPr lang="en-US" altLang="zh-CN" sz="2800" i="1" dirty="0">
                        <a:latin typeface="Cambria Math" panose="02040503050406030204" pitchFamily="18" charset="0"/>
                      </a:rPr>
                      <m:t>𝒆</m:t>
                    </m:r>
                    <m:r>
                      <a:rPr lang="en-US" altLang="zh-CN" sz="2800" i="1" dirty="0">
                        <a:latin typeface="Cambria Math" panose="02040503050406030204" pitchFamily="18" charset="0"/>
                      </a:rPr>
                      <m:t> </m:t>
                    </m:r>
                  </m:oMath>
                </a14:m>
                <a:r>
                  <a:rPr lang="zh-CN" altLang="en-US" sz="2800" b="0" dirty="0">
                    <a:solidFill>
                      <a:srgbClr val="000000"/>
                    </a:solidFill>
                    <a:latin typeface="黑体" panose="02010609060101010101" pitchFamily="49" charset="-122"/>
                    <a:ea typeface="黑体" panose="02010609060101010101" pitchFamily="49" charset="-122"/>
                  </a:rPr>
                  <a:t>。 </a:t>
                </a:r>
              </a:p>
            </p:txBody>
          </p:sp>
        </mc:Choice>
        <mc:Fallback xmlns="">
          <p:sp>
            <p:nvSpPr>
              <p:cNvPr id="148482" name="Rectangle 1"/>
              <p:cNvSpPr>
                <a:spLocks noRot="1" noChangeAspect="1" noMove="1" noResize="1" noEditPoints="1" noAdjustHandles="1" noChangeArrowheads="1" noChangeShapeType="1" noTextEdit="1"/>
              </p:cNvSpPr>
              <p:nvPr/>
            </p:nvSpPr>
            <p:spPr bwMode="auto">
              <a:xfrm>
                <a:off x="211635" y="1168392"/>
                <a:ext cx="8636273" cy="1384995"/>
              </a:xfrm>
              <a:prstGeom prst="rect">
                <a:avLst/>
              </a:prstGeom>
              <a:blipFill rotWithShape="0">
                <a:blip r:embed="rId2"/>
                <a:stretch>
                  <a:fillRect l="-1271" b="-48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9506" name="Rectangle 1"/>
              <p:cNvSpPr>
                <a:spLocks noChangeArrowheads="1"/>
              </p:cNvSpPr>
              <p:nvPr/>
            </p:nvSpPr>
            <p:spPr bwMode="auto">
              <a:xfrm>
                <a:off x="280534" y="949363"/>
                <a:ext cx="7643813" cy="13849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rIns="337625" anchor="ctr">
                <a:spAutoFit/>
              </a:bodyPr>
              <a:lstStyle>
                <a:lvl1pPr>
                  <a:lnSpc>
                    <a:spcPct val="90000"/>
                  </a:lnSpc>
                  <a:spcBef>
                    <a:spcPct val="25000"/>
                  </a:spcBef>
                  <a:spcAft>
                    <a:spcPct val="20000"/>
                  </a:spcAft>
                  <a:buClr>
                    <a:srgbClr val="336699"/>
                  </a:buClr>
                  <a:buFont typeface="Wingdings" panose="05000000000000000000" pitchFamily="2" charset="2"/>
                  <a:buChar char="§"/>
                  <a:defRPr sz="2600" b="1">
                    <a:solidFill>
                      <a:schemeClr val="tx1"/>
                    </a:solidFill>
                    <a:latin typeface="华文仿宋" panose="02010600040101010101" pitchFamily="2" charset="-122"/>
                    <a:ea typeface="华文仿宋" panose="02010600040101010101" pitchFamily="2" charset="-122"/>
                  </a:defRPr>
                </a:lvl1pPr>
                <a:lvl2pPr marL="742950" indent="-285750">
                  <a:lnSpc>
                    <a:spcPct val="90000"/>
                  </a:lnSpc>
                  <a:spcBef>
                    <a:spcPct val="25000"/>
                  </a:spcBef>
                  <a:buClr>
                    <a:srgbClr val="336699"/>
                  </a:buClr>
                  <a:buChar char="•"/>
                  <a:defRPr sz="2400" b="1">
                    <a:solidFill>
                      <a:schemeClr val="tx1"/>
                    </a:solidFill>
                    <a:latin typeface="华文仿宋" panose="02010600040101010101" pitchFamily="2" charset="-122"/>
                    <a:ea typeface="华文仿宋" panose="02010600040101010101" pitchFamily="2" charset="-122"/>
                  </a:defRPr>
                </a:lvl2pPr>
                <a:lvl3pPr marL="1143000" indent="-228600">
                  <a:lnSpc>
                    <a:spcPct val="90000"/>
                  </a:lnSpc>
                  <a:spcBef>
                    <a:spcPct val="25000"/>
                  </a:spcBef>
                  <a:buClr>
                    <a:srgbClr val="336699"/>
                  </a:buClr>
                  <a:buChar char="–"/>
                  <a:defRPr sz="2000" b="1">
                    <a:solidFill>
                      <a:schemeClr val="tx1"/>
                    </a:solidFill>
                    <a:latin typeface="华文仿宋" panose="02010600040101010101" pitchFamily="2" charset="-122"/>
                    <a:ea typeface="华文仿宋" panose="02010600040101010101" pitchFamily="2" charset="-122"/>
                  </a:defRPr>
                </a:lvl3pPr>
                <a:lvl4pPr marL="1600200" indent="-228600">
                  <a:lnSpc>
                    <a:spcPct val="90000"/>
                  </a:lnSpc>
                  <a:spcBef>
                    <a:spcPct val="25000"/>
                  </a:spcBef>
                  <a:buClr>
                    <a:srgbClr val="336699"/>
                  </a:buClr>
                  <a:buChar char="»"/>
                  <a:defRPr b="1">
                    <a:solidFill>
                      <a:schemeClr val="tx1"/>
                    </a:solidFill>
                    <a:latin typeface="华文仿宋" panose="02010600040101010101" pitchFamily="2" charset="-122"/>
                    <a:ea typeface="华文仿宋" panose="02010600040101010101" pitchFamily="2" charset="-122"/>
                  </a:defRPr>
                </a:lvl4pPr>
                <a:lvl5pPr marL="2057400" indent="-228600">
                  <a:lnSpc>
                    <a:spcPct val="90000"/>
                  </a:lnSpc>
                  <a:spcBef>
                    <a:spcPct val="25000"/>
                  </a:spcBef>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5pPr>
                <a:lvl6pPr marL="25146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6pPr>
                <a:lvl7pPr marL="29718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7pPr>
                <a:lvl8pPr marL="34290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8pPr>
                <a:lvl9pPr marL="38862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9pPr>
              </a:lstStyle>
              <a:p>
                <a:pPr marL="457200" indent="-457200">
                  <a:lnSpc>
                    <a:spcPct val="150000"/>
                  </a:lnSpc>
                  <a:spcBef>
                    <a:spcPct val="0"/>
                  </a:spcBef>
                  <a:spcAft>
                    <a:spcPct val="0"/>
                  </a:spcAft>
                  <a:buClrTx/>
                </a:pPr>
                <a:r>
                  <a:rPr lang="zh-CN" altLang="en-US" sz="28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定理  </a:t>
                </a:r>
                <a:r>
                  <a:rPr lang="zh-CN" altLang="en-US" sz="2800" b="0" dirty="0">
                    <a:latin typeface="黑体" panose="02010609060101010101" pitchFamily="49" charset="-122"/>
                    <a:ea typeface="黑体" panose="02010609060101010101" pitchFamily="49" charset="-122"/>
                  </a:rPr>
                  <a:t>无向图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的边</a:t>
                </a:r>
                <a14:m>
                  <m:oMath xmlns:m="http://schemas.openxmlformats.org/officeDocument/2006/math">
                    <m:r>
                      <a:rPr lang="en-US" altLang="zh-CN" sz="2800" i="1" dirty="0">
                        <a:latin typeface="Cambria Math" panose="02040503050406030204" pitchFamily="18" charset="0"/>
                      </a:rPr>
                      <m:t>𝒆</m:t>
                    </m:r>
                  </m:oMath>
                </a14:m>
                <a:r>
                  <a:rPr lang="zh-CN" altLang="en-US" sz="2800" b="0" dirty="0">
                    <a:latin typeface="黑体" panose="02010609060101010101" pitchFamily="49" charset="-122"/>
                    <a:ea typeface="黑体" panose="02010609060101010101" pitchFamily="49" charset="-122"/>
                  </a:rPr>
                  <a:t>是割边 </a:t>
                </a:r>
                <a:r>
                  <a:rPr lang="zh-CN" altLang="en-US" sz="2800" b="0" dirty="0">
                    <a:latin typeface="黑体" panose="02010609060101010101" pitchFamily="49" charset="-122"/>
                    <a:ea typeface="黑体" panose="02010609060101010101" pitchFamily="49" charset="-122"/>
                    <a:sym typeface="Symbol" panose="05050102010706020507" pitchFamily="18" charset="2"/>
                  </a:rPr>
                  <a:t> </a:t>
                </a:r>
                <a14:m>
                  <m:oMath xmlns:m="http://schemas.openxmlformats.org/officeDocument/2006/math">
                    <m:r>
                      <a:rPr lang="en-US" altLang="zh-CN" sz="2800" i="1" dirty="0">
                        <a:latin typeface="Cambria Math" panose="02040503050406030204" pitchFamily="18" charset="0"/>
                      </a:rPr>
                      <m:t>𝒆</m:t>
                    </m:r>
                  </m:oMath>
                </a14:m>
                <a:r>
                  <a:rPr lang="zh-CN" altLang="en-US" sz="2800" b="0" dirty="0">
                    <a:latin typeface="黑体" panose="02010609060101010101" pitchFamily="49" charset="-122"/>
                    <a:ea typeface="黑体" panose="02010609060101010101" pitchFamily="49" charset="-122"/>
                  </a:rPr>
                  <a:t>不包含在图的任何基本回路中。</a:t>
                </a:r>
              </a:p>
            </p:txBody>
          </p:sp>
        </mc:Choice>
        <mc:Fallback xmlns="">
          <p:sp>
            <p:nvSpPr>
              <p:cNvPr id="149506" name="Rectangle 1"/>
              <p:cNvSpPr>
                <a:spLocks noRot="1" noChangeAspect="1" noMove="1" noResize="1" noEditPoints="1" noAdjustHandles="1" noChangeArrowheads="1" noChangeShapeType="1" noTextEdit="1"/>
              </p:cNvSpPr>
              <p:nvPr/>
            </p:nvSpPr>
            <p:spPr bwMode="auto">
              <a:xfrm>
                <a:off x="280534" y="949363"/>
                <a:ext cx="7643813" cy="1384995"/>
              </a:xfrm>
              <a:prstGeom prst="rect">
                <a:avLst/>
              </a:prstGeom>
              <a:blipFill rotWithShape="0">
                <a:blip r:embed="rId2"/>
                <a:stretch>
                  <a:fillRect l="-1356" b="-48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1"/>
              <p:cNvSpPr>
                <a:spLocks noChangeArrowheads="1"/>
              </p:cNvSpPr>
              <p:nvPr/>
            </p:nvSpPr>
            <p:spPr bwMode="auto">
              <a:xfrm>
                <a:off x="280534" y="2263301"/>
                <a:ext cx="7894637" cy="465223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rIns="337625" anchor="ctr">
                <a:spAutoFit/>
              </a:bodyPr>
              <a:lstStyle/>
              <a:p>
                <a:pPr>
                  <a:lnSpc>
                    <a:spcPct val="150000"/>
                  </a:lnSpc>
                  <a:defRPr/>
                </a:pPr>
                <a14:m>
                  <m:oMathPara xmlns:m="http://schemas.openxmlformats.org/officeDocument/2006/math">
                    <m:oMathParaPr>
                      <m:jc m:val="left"/>
                    </m:oMathParaPr>
                    <m:oMath xmlns:m="http://schemas.openxmlformats.org/officeDocument/2006/math">
                      <m:r>
                        <m:rPr>
                          <m:nor/>
                        </m:rPr>
                        <a:rPr lang="zh-CN" altLang="en-US" sz="2800" b="1" dirty="0">
                          <a:solidFill>
                            <a:srgbClr val="0070C0"/>
                          </a:solidFill>
                          <a:ea typeface="黑体" panose="02010609060101010101" pitchFamily="49" charset="-122"/>
                          <a:cs typeface="Times New Roman" panose="02020603050405020304" pitchFamily="18" charset="0"/>
                        </a:rPr>
                        <m:t>证明：</m:t>
                      </m:r>
                      <m:r>
                        <m:rPr>
                          <m:nor/>
                        </m:rPr>
                        <a:rPr lang="zh-CN" altLang="en-US" sz="2800" b="1" dirty="0">
                          <a:solidFill>
                            <a:srgbClr val="0070C0"/>
                          </a:solidFill>
                          <a:ea typeface="黑体" panose="02010609060101010101" pitchFamily="49" charset="-122"/>
                          <a:cs typeface="Times New Roman" panose="02020603050405020304" pitchFamily="18" charset="0"/>
                        </a:rPr>
                        <m:t>  </m:t>
                      </m:r>
                      <m:r>
                        <m:rPr>
                          <m:nor/>
                        </m:rPr>
                        <a:rPr lang="en-US" altLang="zh-CN" sz="2800" b="1" dirty="0">
                          <a:solidFill>
                            <a:srgbClr val="0070C0"/>
                          </a:solidFill>
                          <a:ea typeface="黑体" panose="02010609060101010101" pitchFamily="49" charset="-122"/>
                          <a:cs typeface="Times New Roman" panose="02020603050405020304" pitchFamily="18" charset="0"/>
                        </a:rPr>
                        <m:t>  </m:t>
                      </m:r>
                    </m:oMath>
                  </m:oMathPara>
                </a14:m>
                <a:endParaRPr lang="en-US" altLang="zh-CN" sz="2800" b="1" dirty="0">
                  <a:solidFill>
                    <a:srgbClr val="0070C0"/>
                  </a:solidFill>
                  <a:ea typeface="黑体" panose="02010609060101010101" pitchFamily="49" charset="-122"/>
                  <a:cs typeface="Times New Roman" panose="02020603050405020304" pitchFamily="18" charset="0"/>
                </a:endParaRPr>
              </a:p>
              <a:p>
                <a:pPr>
                  <a:lnSpc>
                    <a:spcPct val="150000"/>
                  </a:lnSpc>
                  <a:defRPr/>
                </a:pPr>
                <a14:m>
                  <m:oMath xmlns:m="http://schemas.openxmlformats.org/officeDocument/2006/math">
                    <m:r>
                      <a:rPr lang="en-US" altLang="zh-CN" sz="2800" b="1" i="1" dirty="0" smtClean="0">
                        <a:latin typeface="Cambria Math" panose="02040503050406030204" pitchFamily="18" charset="0"/>
                      </a:rPr>
                      <m:t>𝒆</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𝒙</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𝒚</m:t>
                    </m:r>
                    <m:r>
                      <a:rPr lang="en-US" altLang="zh-CN" sz="2800" b="1" i="1" dirty="0" smtClean="0">
                        <a:latin typeface="Cambria Math" panose="02040503050406030204" pitchFamily="18" charset="0"/>
                      </a:rPr>
                      <m:t>) </m:t>
                    </m:r>
                  </m:oMath>
                </a14:m>
                <a:r>
                  <a:rPr lang="zh-CN" altLang="en-US" sz="2800" dirty="0">
                    <a:latin typeface="黑体" panose="02010609060101010101" pitchFamily="49" charset="-122"/>
                    <a:ea typeface="黑体" panose="02010609060101010101" pitchFamily="49" charset="-122"/>
                  </a:rPr>
                  <a:t>是连通图</a:t>
                </a:r>
                <a14:m>
                  <m:oMath xmlns:m="http://schemas.openxmlformats.org/officeDocument/2006/math">
                    <m:r>
                      <a:rPr lang="en-US" altLang="zh-CN" sz="2800" b="1" i="1" dirty="0" smtClean="0">
                        <a:latin typeface="Cambria Math" panose="02040503050406030204" pitchFamily="18" charset="0"/>
                      </a:rPr>
                      <m:t>𝑮</m:t>
                    </m:r>
                  </m:oMath>
                </a14:m>
                <a:r>
                  <a:rPr lang="zh-CN" altLang="en-US" sz="2800" dirty="0">
                    <a:latin typeface="黑体" panose="02010609060101010101" pitchFamily="49" charset="-122"/>
                    <a:ea typeface="黑体" panose="02010609060101010101" pitchFamily="49" charset="-122"/>
                  </a:rPr>
                  <a:t>的</a:t>
                </a:r>
                <a:r>
                  <a:rPr lang="zh-CN" altLang="en-US" sz="2800" dirty="0">
                    <a:solidFill>
                      <a:srgbClr val="C00000"/>
                    </a:solidFill>
                    <a:latin typeface="黑体" panose="02010609060101010101" pitchFamily="49" charset="-122"/>
                    <a:ea typeface="黑体" panose="02010609060101010101" pitchFamily="49" charset="-122"/>
                  </a:rPr>
                  <a:t>割边</a:t>
                </a:r>
                <a:r>
                  <a:rPr lang="zh-CN" altLang="en-US" sz="2800" dirty="0">
                    <a:latin typeface="黑体" panose="02010609060101010101" pitchFamily="49" charset="-122"/>
                    <a:ea typeface="黑体" panose="02010609060101010101" pitchFamily="49" charset="-122"/>
                  </a:rPr>
                  <a:t>当且仅当</a:t>
                </a:r>
                <a:endParaRPr lang="en-US" altLang="zh-CN" sz="2800" dirty="0">
                  <a:latin typeface="黑体" panose="02010609060101010101" pitchFamily="49" charset="-122"/>
                  <a:ea typeface="黑体" panose="02010609060101010101" pitchFamily="49" charset="-122"/>
                </a:endParaRPr>
              </a:p>
              <a:p>
                <a:pPr>
                  <a:lnSpc>
                    <a:spcPct val="150000"/>
                  </a:lnSpc>
                  <a:defRPr/>
                </a:pPr>
                <a:r>
                  <a:rPr lang="en-US" altLang="zh-CN" sz="2800" b="1" dirty="0">
                    <a:ea typeface="黑体" panose="02010609060101010101" pitchFamily="49" charset="-122"/>
                  </a:rPr>
                  <a:t>              </a:t>
                </a:r>
                <a14:m>
                  <m:oMath xmlns:m="http://schemas.openxmlformats.org/officeDocument/2006/math">
                    <m:r>
                      <a:rPr lang="en-US" altLang="zh-CN" sz="2800" b="1" i="1" dirty="0">
                        <a:latin typeface="Cambria Math" panose="02040503050406030204" pitchFamily="18" charset="0"/>
                      </a:rPr>
                      <m:t>𝒙</m:t>
                    </m:r>
                    <m:r>
                      <a:rPr lang="en-US" altLang="zh-CN" sz="2800" b="1" i="1" dirty="0">
                        <a:latin typeface="Cambria Math" panose="02040503050406030204" pitchFamily="18" charset="0"/>
                      </a:rPr>
                      <m:t> </m:t>
                    </m:r>
                  </m:oMath>
                </a14:m>
                <a:r>
                  <a:rPr lang="zh-CN" altLang="en-US" sz="2800" dirty="0">
                    <a:latin typeface="黑体" panose="02010609060101010101" pitchFamily="49" charset="-122"/>
                    <a:ea typeface="黑体" panose="02010609060101010101" pitchFamily="49" charset="-122"/>
                  </a:rPr>
                  <a:t>和</a:t>
                </a:r>
                <a14:m>
                  <m:oMath xmlns:m="http://schemas.openxmlformats.org/officeDocument/2006/math">
                    <m:r>
                      <a:rPr lang="en-US" altLang="zh-CN" sz="2800" b="1" i="1" dirty="0">
                        <a:latin typeface="Cambria Math" panose="02040503050406030204" pitchFamily="18" charset="0"/>
                      </a:rPr>
                      <m:t>𝒚</m:t>
                    </m:r>
                  </m:oMath>
                </a14:m>
                <a:r>
                  <a:rPr lang="zh-CN" altLang="en-US" sz="2800" dirty="0">
                    <a:latin typeface="黑体" panose="02010609060101010101" pitchFamily="49" charset="-122"/>
                    <a:ea typeface="黑体" panose="02010609060101010101" pitchFamily="49" charset="-122"/>
                  </a:rPr>
                  <a:t>在</a:t>
                </a:r>
                <a14:m>
                  <m:oMath xmlns:m="http://schemas.openxmlformats.org/officeDocument/2006/math">
                    <m:r>
                      <a:rPr lang="en-US" altLang="zh-CN" sz="2800" b="1" i="1" dirty="0">
                        <a:latin typeface="Cambria Math" panose="02040503050406030204" pitchFamily="18" charset="0"/>
                      </a:rPr>
                      <m:t>𝑮</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𝒆</m:t>
                    </m:r>
                    <m:r>
                      <a:rPr lang="en-US" altLang="zh-CN" sz="2800" b="1" i="1" dirty="0" smtClean="0">
                        <a:latin typeface="Cambria Math" panose="02040503050406030204" pitchFamily="18" charset="0"/>
                      </a:rPr>
                      <m:t>}</m:t>
                    </m:r>
                  </m:oMath>
                </a14:m>
                <a:r>
                  <a:rPr lang="en-US" altLang="zh-CN" sz="2800" i="1" dirty="0">
                    <a:ea typeface="黑体" panose="02010609060101010101" pitchFamily="49" charset="-122"/>
                    <a:cs typeface="Times New Roman" panose="02020603050405020304" pitchFamily="18" charset="0"/>
                  </a:rPr>
                  <a:t> </a:t>
                </a:r>
                <a:r>
                  <a:rPr lang="zh-CN" altLang="en-US" sz="2800" dirty="0">
                    <a:latin typeface="黑体" panose="02010609060101010101" pitchFamily="49" charset="-122"/>
                    <a:ea typeface="黑体" panose="02010609060101010101" pitchFamily="49" charset="-122"/>
                  </a:rPr>
                  <a:t>的</a:t>
                </a:r>
                <a:r>
                  <a:rPr lang="zh-CN" altLang="en-US" sz="2800" dirty="0">
                    <a:solidFill>
                      <a:srgbClr val="C00000"/>
                    </a:solidFill>
                    <a:latin typeface="黑体" panose="02010609060101010101" pitchFamily="49" charset="-122"/>
                    <a:ea typeface="黑体" panose="02010609060101010101" pitchFamily="49" charset="-122"/>
                  </a:rPr>
                  <a:t>不同连通分支中</a:t>
                </a:r>
                <a:endParaRPr lang="en-US" altLang="zh-CN" sz="2800" dirty="0">
                  <a:latin typeface="黑体" panose="02010609060101010101" pitchFamily="49" charset="-122"/>
                  <a:ea typeface="黑体" panose="02010609060101010101" pitchFamily="49" charset="-122"/>
                </a:endParaRPr>
              </a:p>
              <a:p>
                <a:pPr>
                  <a:lnSpc>
                    <a:spcPct val="150000"/>
                  </a:lnSpc>
                  <a:defRPr/>
                </a:pPr>
                <a:r>
                  <a:rPr lang="zh-CN" altLang="en-US" sz="2800" dirty="0">
                    <a:latin typeface="黑体" panose="02010609060101010101" pitchFamily="49" charset="-122"/>
                    <a:ea typeface="黑体" panose="02010609060101010101" pitchFamily="49" charset="-122"/>
                  </a:rPr>
                  <a:t>而后者等价于在</a:t>
                </a:r>
                <a14:m>
                  <m:oMath xmlns:m="http://schemas.openxmlformats.org/officeDocument/2006/math">
                    <m:r>
                      <a:rPr lang="en-US" altLang="zh-CN" sz="2800" b="1" i="1" dirty="0">
                        <a:latin typeface="Cambria Math" panose="02040503050406030204" pitchFamily="18" charset="0"/>
                      </a:rPr>
                      <m:t>𝑮</m:t>
                    </m:r>
                    <m:r>
                      <a:rPr lang="en-US" altLang="zh-CN" sz="2800" b="1" i="1" dirty="0">
                        <a:latin typeface="Cambria Math" panose="02040503050406030204" pitchFamily="18" charset="0"/>
                      </a:rPr>
                      <m:t>−{</m:t>
                    </m:r>
                    <m:r>
                      <a:rPr lang="en-US" altLang="zh-CN" sz="2800" b="1" i="1" dirty="0">
                        <a:latin typeface="Cambria Math" panose="02040503050406030204" pitchFamily="18" charset="0"/>
                      </a:rPr>
                      <m:t>𝒆</m:t>
                    </m:r>
                    <m:r>
                      <a:rPr lang="en-US" altLang="zh-CN" sz="2800" b="1" i="1" dirty="0">
                        <a:latin typeface="Cambria Math" panose="02040503050406030204" pitchFamily="18" charset="0"/>
                      </a:rPr>
                      <m:t>}</m:t>
                    </m:r>
                  </m:oMath>
                </a14:m>
                <a:r>
                  <a:rPr lang="zh-CN" altLang="en-US" sz="2800" dirty="0">
                    <a:latin typeface="黑体" panose="02010609060101010101" pitchFamily="49" charset="-122"/>
                    <a:ea typeface="黑体" panose="02010609060101010101" pitchFamily="49" charset="-122"/>
                  </a:rPr>
                  <a:t>中</a:t>
                </a:r>
                <a:r>
                  <a:rPr lang="zh-CN" altLang="en-US" sz="2800" dirty="0">
                    <a:solidFill>
                      <a:srgbClr val="C00000"/>
                    </a:solidFill>
                    <a:latin typeface="黑体" panose="02010609060101010101" pitchFamily="49" charset="-122"/>
                    <a:ea typeface="黑体" panose="02010609060101010101" pitchFamily="49" charset="-122"/>
                  </a:rPr>
                  <a:t>不存在</a:t>
                </a:r>
                <a14:m>
                  <m:oMath xmlns:m="http://schemas.openxmlformats.org/officeDocument/2006/math">
                    <m:r>
                      <a:rPr lang="en-US" altLang="zh-CN" sz="2800" b="1" i="1" dirty="0">
                        <a:solidFill>
                          <a:srgbClr val="C00000"/>
                        </a:solidFill>
                        <a:latin typeface="Cambria Math" panose="02040503050406030204" pitchFamily="18" charset="0"/>
                      </a:rPr>
                      <m:t>𝒙</m:t>
                    </m:r>
                  </m:oMath>
                </a14:m>
                <a:r>
                  <a:rPr lang="zh-CN" altLang="en-US" sz="2800" dirty="0">
                    <a:solidFill>
                      <a:srgbClr val="C00000"/>
                    </a:solidFill>
                    <a:latin typeface="黑体" panose="02010609060101010101" pitchFamily="49" charset="-122"/>
                    <a:ea typeface="黑体" panose="02010609060101010101" pitchFamily="49" charset="-122"/>
                  </a:rPr>
                  <a:t>到</a:t>
                </a:r>
                <a14:m>
                  <m:oMath xmlns:m="http://schemas.openxmlformats.org/officeDocument/2006/math">
                    <m:r>
                      <a:rPr lang="en-US" altLang="zh-CN" sz="2800" b="1" i="1" dirty="0">
                        <a:solidFill>
                          <a:srgbClr val="C00000"/>
                        </a:solidFill>
                        <a:latin typeface="Cambria Math" panose="02040503050406030204" pitchFamily="18" charset="0"/>
                      </a:rPr>
                      <m:t>𝒚</m:t>
                    </m:r>
                  </m:oMath>
                </a14:m>
                <a:r>
                  <a:rPr lang="zh-CN" altLang="en-US" sz="2800" dirty="0">
                    <a:solidFill>
                      <a:srgbClr val="C00000"/>
                    </a:solidFill>
                    <a:latin typeface="黑体" panose="02010609060101010101" pitchFamily="49" charset="-122"/>
                    <a:ea typeface="黑体" panose="02010609060101010101" pitchFamily="49" charset="-122"/>
                  </a:rPr>
                  <a:t>的路</a:t>
                </a:r>
                <a:endParaRPr lang="en-US" altLang="zh-CN" sz="2800" dirty="0">
                  <a:latin typeface="黑体" panose="02010609060101010101" pitchFamily="49" charset="-122"/>
                  <a:ea typeface="黑体" panose="02010609060101010101" pitchFamily="49" charset="-122"/>
                </a:endParaRPr>
              </a:p>
              <a:p>
                <a:pPr>
                  <a:lnSpc>
                    <a:spcPct val="150000"/>
                  </a:lnSpc>
                  <a:defRPr/>
                </a:pPr>
                <a:r>
                  <a:rPr lang="zh-CN" altLang="en-US" sz="2800" dirty="0">
                    <a:latin typeface="黑体" panose="02010609060101010101" pitchFamily="49" charset="-122"/>
                    <a:ea typeface="黑体" panose="02010609060101010101" pitchFamily="49" charset="-122"/>
                  </a:rPr>
                  <a:t>从而等价于</a:t>
                </a:r>
                <a14:m>
                  <m:oMath xmlns:m="http://schemas.openxmlformats.org/officeDocument/2006/math">
                    <m:r>
                      <a:rPr lang="en-US" altLang="zh-CN" sz="2800" b="1" i="1" dirty="0" smtClean="0">
                        <a:solidFill>
                          <a:srgbClr val="C00000"/>
                        </a:solidFill>
                        <a:latin typeface="Cambria Math" panose="02040503050406030204" pitchFamily="18" charset="0"/>
                      </a:rPr>
                      <m:t>𝒆</m:t>
                    </m:r>
                  </m:oMath>
                </a14:m>
                <a:r>
                  <a:rPr lang="zh-CN" altLang="en-US" sz="2800" dirty="0">
                    <a:solidFill>
                      <a:srgbClr val="C00000"/>
                    </a:solidFill>
                    <a:latin typeface="黑体" panose="02010609060101010101" pitchFamily="49" charset="-122"/>
                    <a:ea typeface="黑体" panose="02010609060101010101" pitchFamily="49" charset="-122"/>
                  </a:rPr>
                  <a:t>不包含在图的任何基本回路</a:t>
                </a:r>
                <a:r>
                  <a:rPr lang="zh-CN" altLang="en-US" sz="2800" dirty="0">
                    <a:latin typeface="黑体" panose="02010609060101010101" pitchFamily="49" charset="-122"/>
                    <a:ea typeface="黑体" panose="02010609060101010101" pitchFamily="49" charset="-122"/>
                  </a:rPr>
                  <a:t>中</a:t>
                </a:r>
                <a:endParaRPr lang="en-US" altLang="zh-CN" sz="2800" dirty="0">
                  <a:latin typeface="黑体" panose="02010609060101010101" pitchFamily="49" charset="-122"/>
                  <a:ea typeface="黑体" panose="02010609060101010101" pitchFamily="49" charset="-122"/>
                </a:endParaRPr>
              </a:p>
              <a:p>
                <a:pPr>
                  <a:lnSpc>
                    <a:spcPct val="150000"/>
                  </a:lnSpc>
                  <a:defRPr/>
                </a:pPr>
                <a:r>
                  <a:rPr lang="zh-CN" altLang="en-US" sz="2800" dirty="0">
                    <a:latin typeface="黑体" panose="02010609060101010101" pitchFamily="49" charset="-122"/>
                    <a:ea typeface="黑体" panose="02010609060101010101" pitchFamily="49" charset="-122"/>
                  </a:rPr>
                  <a:t>于是定理得证。</a:t>
                </a:r>
              </a:p>
              <a:p>
                <a:pPr algn="r">
                  <a:lnSpc>
                    <a:spcPct val="150000"/>
                  </a:lnSpc>
                  <a:defRPr/>
                </a:pPr>
                <a:endParaRPr lang="zh-CN" altLang="en-US" sz="2954" dirty="0">
                  <a:latin typeface="黑体" panose="02010609060101010101" pitchFamily="49" charset="-122"/>
                  <a:ea typeface="黑体" panose="02010609060101010101" pitchFamily="49" charset="-122"/>
                  <a:sym typeface="微软雅黑" panose="020B0503020204020204" pitchFamily="34" charset="-122"/>
                </a:endParaRPr>
              </a:p>
            </p:txBody>
          </p:sp>
        </mc:Choice>
        <mc:Fallback xmlns="">
          <p:sp>
            <p:nvSpPr>
              <p:cNvPr id="4" name="Rectangle 1">
                <a:extLst>
                  <a:ext uri="{FF2B5EF4-FFF2-40B4-BE49-F238E27FC236}"/>
                </a:extLst>
              </p:cNvPr>
              <p:cNvSpPr>
                <a:spLocks noRot="1" noChangeAspect="1" noMove="1" noResize="1" noEditPoints="1" noAdjustHandles="1" noChangeArrowheads="1" noChangeShapeType="1" noTextEdit="1"/>
              </p:cNvSpPr>
              <p:nvPr/>
            </p:nvSpPr>
            <p:spPr bwMode="auto">
              <a:xfrm>
                <a:off x="280534" y="2263301"/>
                <a:ext cx="7894637" cy="4652236"/>
              </a:xfrm>
              <a:prstGeom prst="rect">
                <a:avLst/>
              </a:prstGeom>
              <a:blipFill rotWithShape="0">
                <a:blip r:embed="rId3"/>
                <a:stretch>
                  <a:fillRect l="-154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圆角矩形标注 66">
            <a:extLst>
              <a:ext uri="{FF2B5EF4-FFF2-40B4-BE49-F238E27FC236}">
                <a16:creationId xmlns:a16="http://schemas.microsoft.com/office/drawing/2014/main" id="{5F50A9F3-56E5-4194-9ABE-EFFAF2911810}"/>
              </a:ext>
            </a:extLst>
          </p:cNvPr>
          <p:cNvSpPr/>
          <p:nvPr/>
        </p:nvSpPr>
        <p:spPr bwMode="auto">
          <a:xfrm>
            <a:off x="5054614" y="1739381"/>
            <a:ext cx="3567792" cy="649650"/>
          </a:xfrm>
          <a:prstGeom prst="wedgeRoundRectCallout">
            <a:avLst>
              <a:gd name="adj1" fmla="val -76392"/>
              <a:gd name="adj2" fmla="val -14612"/>
              <a:gd name="adj3" fmla="val 16667"/>
            </a:avLst>
          </a:prstGeom>
          <a:solidFill>
            <a:srgbClr val="F8FF74"/>
          </a:solidFill>
          <a:ln w="9525" cap="flat" cmpd="sng" algn="ctr">
            <a:solidFill>
              <a:srgbClr val="FFC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nSpc>
                <a:spcPct val="110000"/>
              </a:lnSpc>
              <a:spcBef>
                <a:spcPts val="0"/>
              </a:spcBef>
              <a:spcAft>
                <a:spcPts val="0"/>
              </a:spcAft>
            </a:pPr>
            <a:r>
              <a:rPr lang="zh-CN" altLang="zh-CN" sz="1800" b="0" dirty="0">
                <a:latin typeface="黑体" panose="02010609060101010101" pitchFamily="49" charset="-122"/>
                <a:ea typeface="黑体" panose="02010609060101010101" pitchFamily="49" charset="-122"/>
              </a:rPr>
              <a:t>如果</a:t>
            </a:r>
            <a:r>
              <a:rPr lang="zh-CN" altLang="zh-CN" sz="1800" b="0" dirty="0">
                <a:solidFill>
                  <a:srgbClr val="C00000"/>
                </a:solidFill>
                <a:latin typeface="黑体" panose="02010609060101010101" pitchFamily="49" charset="-122"/>
                <a:ea typeface="黑体" panose="02010609060101010101" pitchFamily="49" charset="-122"/>
              </a:rPr>
              <a:t>每个顶点</a:t>
            </a:r>
            <a:r>
              <a:rPr lang="zh-CN" altLang="zh-CN" sz="1800" b="0" dirty="0">
                <a:latin typeface="黑体" panose="02010609060101010101" pitchFamily="49" charset="-122"/>
                <a:ea typeface="黑体" panose="02010609060101010101" pitchFamily="49" charset="-122"/>
              </a:rPr>
              <a:t>的出现</a:t>
            </a:r>
            <a:r>
              <a:rPr lang="zh-CN" altLang="zh-CN" sz="1800" b="0" dirty="0">
                <a:solidFill>
                  <a:srgbClr val="C00000"/>
                </a:solidFill>
                <a:latin typeface="黑体" panose="02010609060101010101" pitchFamily="49" charset="-122"/>
                <a:ea typeface="黑体" panose="02010609060101010101" pitchFamily="49" charset="-122"/>
              </a:rPr>
              <a:t>不超过一次</a:t>
            </a:r>
            <a:r>
              <a:rPr lang="zh-CN" altLang="zh-CN" sz="1800" b="0" dirty="0">
                <a:latin typeface="黑体" panose="02010609060101010101" pitchFamily="49" charset="-122"/>
                <a:ea typeface="黑体" panose="02010609060101010101" pitchFamily="49" charset="-122"/>
              </a:rPr>
              <a:t>，</a:t>
            </a:r>
            <a:endParaRPr lang="en-US" altLang="zh-CN" sz="1800" b="0" dirty="0">
              <a:latin typeface="黑体" panose="02010609060101010101" pitchFamily="49" charset="-122"/>
              <a:ea typeface="黑体" panose="02010609060101010101" pitchFamily="49" charset="-122"/>
            </a:endParaRPr>
          </a:p>
          <a:p>
            <a:pPr>
              <a:lnSpc>
                <a:spcPct val="110000"/>
              </a:lnSpc>
              <a:spcBef>
                <a:spcPts val="0"/>
              </a:spcBef>
              <a:spcAft>
                <a:spcPts val="0"/>
              </a:spcAft>
            </a:pPr>
            <a:r>
              <a:rPr lang="zh-CN" altLang="zh-CN" sz="1800" b="0" dirty="0">
                <a:latin typeface="黑体" panose="02010609060101010101" pitchFamily="49" charset="-122"/>
                <a:ea typeface="黑体" panose="02010609060101010101" pitchFamily="49" charset="-122"/>
              </a:rPr>
              <a:t>则称该回路为基本回路。</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9506" name="Rectangle 1"/>
              <p:cNvSpPr>
                <a:spLocks noChangeArrowheads="1"/>
              </p:cNvSpPr>
              <p:nvPr/>
            </p:nvSpPr>
            <p:spPr bwMode="auto">
              <a:xfrm>
                <a:off x="236991" y="1323864"/>
                <a:ext cx="8907009" cy="27608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rIns="337625" anchor="ctr">
                <a:spAutoFit/>
              </a:bodyPr>
              <a:lstStyle>
                <a:lvl1pPr>
                  <a:lnSpc>
                    <a:spcPct val="90000"/>
                  </a:lnSpc>
                  <a:spcBef>
                    <a:spcPct val="25000"/>
                  </a:spcBef>
                  <a:spcAft>
                    <a:spcPct val="20000"/>
                  </a:spcAft>
                  <a:buClr>
                    <a:srgbClr val="336699"/>
                  </a:buClr>
                  <a:buFont typeface="Wingdings" panose="05000000000000000000" pitchFamily="2" charset="2"/>
                  <a:buChar char="§"/>
                  <a:defRPr sz="2600" b="1">
                    <a:solidFill>
                      <a:schemeClr val="tx1"/>
                    </a:solidFill>
                    <a:latin typeface="华文仿宋" panose="02010600040101010101" pitchFamily="2" charset="-122"/>
                    <a:ea typeface="华文仿宋" panose="02010600040101010101" pitchFamily="2" charset="-122"/>
                  </a:defRPr>
                </a:lvl1pPr>
                <a:lvl2pPr marL="742950" indent="-285750">
                  <a:lnSpc>
                    <a:spcPct val="90000"/>
                  </a:lnSpc>
                  <a:spcBef>
                    <a:spcPct val="25000"/>
                  </a:spcBef>
                  <a:buClr>
                    <a:srgbClr val="336699"/>
                  </a:buClr>
                  <a:buChar char="•"/>
                  <a:defRPr sz="2400" b="1">
                    <a:solidFill>
                      <a:schemeClr val="tx1"/>
                    </a:solidFill>
                    <a:latin typeface="华文仿宋" panose="02010600040101010101" pitchFamily="2" charset="-122"/>
                    <a:ea typeface="华文仿宋" panose="02010600040101010101" pitchFamily="2" charset="-122"/>
                  </a:defRPr>
                </a:lvl2pPr>
                <a:lvl3pPr marL="1143000" indent="-228600">
                  <a:lnSpc>
                    <a:spcPct val="90000"/>
                  </a:lnSpc>
                  <a:spcBef>
                    <a:spcPct val="25000"/>
                  </a:spcBef>
                  <a:buClr>
                    <a:srgbClr val="336699"/>
                  </a:buClr>
                  <a:buChar char="–"/>
                  <a:defRPr sz="2000" b="1">
                    <a:solidFill>
                      <a:schemeClr val="tx1"/>
                    </a:solidFill>
                    <a:latin typeface="华文仿宋" panose="02010600040101010101" pitchFamily="2" charset="-122"/>
                    <a:ea typeface="华文仿宋" panose="02010600040101010101" pitchFamily="2" charset="-122"/>
                  </a:defRPr>
                </a:lvl3pPr>
                <a:lvl4pPr marL="1600200" indent="-228600">
                  <a:lnSpc>
                    <a:spcPct val="90000"/>
                  </a:lnSpc>
                  <a:spcBef>
                    <a:spcPct val="25000"/>
                  </a:spcBef>
                  <a:buClr>
                    <a:srgbClr val="336699"/>
                  </a:buClr>
                  <a:buChar char="»"/>
                  <a:defRPr b="1">
                    <a:solidFill>
                      <a:schemeClr val="tx1"/>
                    </a:solidFill>
                    <a:latin typeface="华文仿宋" panose="02010600040101010101" pitchFamily="2" charset="-122"/>
                    <a:ea typeface="华文仿宋" panose="02010600040101010101" pitchFamily="2" charset="-122"/>
                  </a:defRPr>
                </a:lvl4pPr>
                <a:lvl5pPr marL="2057400" indent="-228600">
                  <a:lnSpc>
                    <a:spcPct val="90000"/>
                  </a:lnSpc>
                  <a:spcBef>
                    <a:spcPct val="25000"/>
                  </a:spcBef>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5pPr>
                <a:lvl6pPr marL="25146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6pPr>
                <a:lvl7pPr marL="29718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7pPr>
                <a:lvl8pPr marL="34290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8pPr>
                <a:lvl9pPr marL="3886200" indent="-22860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华文仿宋" panose="02010600040101010101" pitchFamily="2" charset="-122"/>
                    <a:ea typeface="华文仿宋" panose="02010600040101010101" pitchFamily="2" charset="-122"/>
                  </a:defRPr>
                </a:lvl9pPr>
              </a:lstStyle>
              <a:p>
                <a:pPr marL="457200" indent="-457200">
                  <a:lnSpc>
                    <a:spcPct val="150000"/>
                  </a:lnSpc>
                  <a:spcBef>
                    <a:spcPct val="0"/>
                  </a:spcBef>
                  <a:spcAft>
                    <a:spcPct val="0"/>
                  </a:spcAft>
                  <a:buClrTx/>
                </a:pPr>
                <a:r>
                  <a:rPr lang="zh-CN" altLang="en-US" sz="28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问题：</a:t>
                </a:r>
                <a:r>
                  <a:rPr lang="zh-CN" altLang="en-US" sz="2800" dirty="0">
                    <a:latin typeface="黑体" panose="02010609060101010101" pitchFamily="49" charset="-122"/>
                    <a:ea typeface="黑体" panose="02010609060101010101" pitchFamily="49" charset="-122"/>
                    <a:cs typeface="Times New Roman" panose="02020603050405020304" pitchFamily="18" charset="0"/>
                  </a:rPr>
                  <a:t>给定一个</a:t>
                </a:r>
                <a:r>
                  <a:rPr lang="zh-CN" altLang="en-US" sz="2800" b="0" dirty="0">
                    <a:latin typeface="黑体" panose="02010609060101010101" pitchFamily="49" charset="-122"/>
                    <a:ea typeface="黑体" panose="02010609060101010101" pitchFamily="49" charset="-122"/>
                  </a:rPr>
                  <a:t>无向图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，如何求</a:t>
                </a:r>
                <a14:m>
                  <m:oMath xmlns:m="http://schemas.openxmlformats.org/officeDocument/2006/math">
                    <m:r>
                      <a:rPr lang="en-US" altLang="zh-CN" sz="2800" i="1" dirty="0" smtClean="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中所有割边？</a:t>
                </a:r>
                <a:endParaRPr lang="en-US" altLang="zh-CN" sz="2800" b="0" dirty="0">
                  <a:latin typeface="黑体" panose="02010609060101010101" pitchFamily="49" charset="-122"/>
                  <a:ea typeface="黑体" panose="02010609060101010101" pitchFamily="49" charset="-122"/>
                </a:endParaRPr>
              </a:p>
              <a:p>
                <a:pPr marL="457200" indent="-457200">
                  <a:lnSpc>
                    <a:spcPct val="150000"/>
                  </a:lnSpc>
                  <a:spcBef>
                    <a:spcPct val="0"/>
                  </a:spcBef>
                  <a:spcAft>
                    <a:spcPct val="0"/>
                  </a:spcAft>
                  <a:buClrTx/>
                </a:pPr>
                <a:r>
                  <a:rPr lang="zh-CN" altLang="en-US" sz="2800" b="0" dirty="0">
                    <a:latin typeface="黑体" panose="02010609060101010101" pitchFamily="49" charset="-122"/>
                    <a:ea typeface="黑体" panose="02010609060101010101" pitchFamily="49" charset="-122"/>
                  </a:rPr>
                  <a:t>逐个判断是否是割边，复杂度为</a:t>
                </a:r>
                <a14:m>
                  <m:oMath xmlns:m="http://schemas.openxmlformats.org/officeDocument/2006/math">
                    <m:r>
                      <a:rPr lang="en-US" altLang="zh-CN" sz="2800" b="1" i="1" dirty="0" smtClean="0">
                        <a:solidFill>
                          <a:srgbClr val="C00000"/>
                        </a:solidFill>
                        <a:latin typeface="Cambria Math" panose="02040503050406030204" pitchFamily="18" charset="0"/>
                      </a:rPr>
                      <m:t>𝑶</m:t>
                    </m:r>
                    <m:d>
                      <m:dPr>
                        <m:ctrlPr>
                          <a:rPr lang="en-US" altLang="zh-CN" sz="2800" b="1" i="1" dirty="0" smtClean="0">
                            <a:solidFill>
                              <a:srgbClr val="C00000"/>
                            </a:solidFill>
                            <a:latin typeface="Cambria Math" panose="02040503050406030204" pitchFamily="18" charset="0"/>
                          </a:rPr>
                        </m:ctrlPr>
                      </m:dPr>
                      <m:e>
                        <m:d>
                          <m:dPr>
                            <m:begChr m:val="|"/>
                            <m:endChr m:val="|"/>
                            <m:ctrlPr>
                              <a:rPr lang="en-US" altLang="zh-CN" sz="2800" i="1" dirty="0">
                                <a:solidFill>
                                  <a:srgbClr val="C00000"/>
                                </a:solidFill>
                                <a:latin typeface="Cambria Math" panose="02040503050406030204" pitchFamily="18" charset="0"/>
                              </a:rPr>
                            </m:ctrlPr>
                          </m:dPr>
                          <m:e>
                            <m:r>
                              <a:rPr lang="en-US" altLang="zh-CN" sz="2800" i="1" dirty="0">
                                <a:solidFill>
                                  <a:srgbClr val="C00000"/>
                                </a:solidFill>
                                <a:latin typeface="Cambria Math" panose="02040503050406030204" pitchFamily="18" charset="0"/>
                              </a:rPr>
                              <m:t>𝑽</m:t>
                            </m:r>
                          </m:e>
                        </m:d>
                        <m:d>
                          <m:dPr>
                            <m:ctrlPr>
                              <a:rPr lang="en-US" altLang="zh-CN" sz="2800" b="1" i="1" dirty="0" smtClean="0">
                                <a:solidFill>
                                  <a:srgbClr val="C00000"/>
                                </a:solidFill>
                                <a:latin typeface="Cambria Math" panose="02040503050406030204" pitchFamily="18" charset="0"/>
                              </a:rPr>
                            </m:ctrlPr>
                          </m:dPr>
                          <m:e>
                            <m:d>
                              <m:dPr>
                                <m:begChr m:val="|"/>
                                <m:endChr m:val="|"/>
                                <m:ctrlPr>
                                  <a:rPr lang="en-US" altLang="zh-CN" sz="2800" b="1" i="1" dirty="0" smtClean="0">
                                    <a:solidFill>
                                      <a:srgbClr val="C00000"/>
                                    </a:solidFill>
                                    <a:latin typeface="Cambria Math" panose="02040503050406030204" pitchFamily="18" charset="0"/>
                                  </a:rPr>
                                </m:ctrlPr>
                              </m:dPr>
                              <m:e>
                                <m:r>
                                  <a:rPr lang="en-US" altLang="zh-CN" sz="2800" b="1" i="1" dirty="0" smtClean="0">
                                    <a:solidFill>
                                      <a:srgbClr val="C00000"/>
                                    </a:solidFill>
                                    <a:latin typeface="Cambria Math" panose="02040503050406030204" pitchFamily="18" charset="0"/>
                                  </a:rPr>
                                  <m:t>𝑽</m:t>
                                </m:r>
                              </m:e>
                            </m:d>
                            <m:r>
                              <a:rPr lang="en-US" altLang="zh-CN" sz="2800" b="1" i="1" dirty="0" smtClean="0">
                                <a:solidFill>
                                  <a:srgbClr val="C00000"/>
                                </a:solidFill>
                                <a:latin typeface="Cambria Math" panose="02040503050406030204" pitchFamily="18" charset="0"/>
                              </a:rPr>
                              <m:t>+</m:t>
                            </m:r>
                            <m:d>
                              <m:dPr>
                                <m:begChr m:val="|"/>
                                <m:endChr m:val="|"/>
                                <m:ctrlPr>
                                  <a:rPr lang="en-US" altLang="zh-CN" sz="2800" b="1" i="1" dirty="0" smtClean="0">
                                    <a:solidFill>
                                      <a:srgbClr val="C00000"/>
                                    </a:solidFill>
                                    <a:latin typeface="Cambria Math" panose="02040503050406030204" pitchFamily="18" charset="0"/>
                                  </a:rPr>
                                </m:ctrlPr>
                              </m:dPr>
                              <m:e>
                                <m:r>
                                  <a:rPr lang="en-US" altLang="zh-CN" sz="2800" b="1" i="1" dirty="0" smtClean="0">
                                    <a:solidFill>
                                      <a:srgbClr val="C00000"/>
                                    </a:solidFill>
                                    <a:latin typeface="Cambria Math" panose="02040503050406030204" pitchFamily="18" charset="0"/>
                                  </a:rPr>
                                  <m:t>𝑬</m:t>
                                </m:r>
                              </m:e>
                            </m:d>
                          </m:e>
                        </m:d>
                      </m:e>
                    </m:d>
                  </m:oMath>
                </a14:m>
                <a:endParaRPr lang="en-US" altLang="zh-CN" sz="2800" b="1" dirty="0">
                  <a:solidFill>
                    <a:srgbClr val="C00000"/>
                  </a:solidFill>
                  <a:latin typeface="黑体" panose="02010609060101010101" pitchFamily="49" charset="-122"/>
                </a:endParaRPr>
              </a:p>
              <a:p>
                <a:pPr marL="457200" indent="-457200">
                  <a:lnSpc>
                    <a:spcPct val="150000"/>
                  </a:lnSpc>
                  <a:spcBef>
                    <a:spcPct val="0"/>
                  </a:spcBef>
                  <a:spcAft>
                    <a:spcPct val="0"/>
                  </a:spcAft>
                  <a:buClrTx/>
                </a:pPr>
                <a:r>
                  <a:rPr lang="en-US" altLang="zh-CN" sz="2800" b="0" dirty="0" err="1">
                    <a:latin typeface="Times New Roman" panose="02020603050405020304" pitchFamily="18" charset="0"/>
                    <a:ea typeface="黑体" panose="02010609060101010101" pitchFamily="49" charset="-122"/>
                    <a:cs typeface="Times New Roman" panose="02020603050405020304" pitchFamily="18" charset="0"/>
                  </a:rPr>
                  <a:t>Tarjan</a:t>
                </a:r>
                <a:r>
                  <a:rPr lang="zh-CN" altLang="en-US" sz="2800" b="0" dirty="0">
                    <a:latin typeface="黑体" panose="02010609060101010101" pitchFamily="49" charset="-122"/>
                    <a:ea typeface="黑体" panose="02010609060101010101" pitchFamily="49" charset="-122"/>
                  </a:rPr>
                  <a:t>算法复杂度为</a:t>
                </a:r>
                <a14:m>
                  <m:oMath xmlns:m="http://schemas.openxmlformats.org/officeDocument/2006/math">
                    <m:r>
                      <a:rPr lang="en-US" altLang="zh-CN" sz="2800" i="1" dirty="0">
                        <a:solidFill>
                          <a:srgbClr val="C00000"/>
                        </a:solidFill>
                        <a:latin typeface="Cambria Math" panose="02040503050406030204" pitchFamily="18" charset="0"/>
                      </a:rPr>
                      <m:t>𝑶</m:t>
                    </m:r>
                    <m:d>
                      <m:dPr>
                        <m:ctrlPr>
                          <a:rPr lang="en-US" altLang="zh-CN" sz="2800" i="1" dirty="0">
                            <a:solidFill>
                              <a:srgbClr val="C00000"/>
                            </a:solidFill>
                            <a:latin typeface="Cambria Math" panose="02040503050406030204" pitchFamily="18" charset="0"/>
                          </a:rPr>
                        </m:ctrlPr>
                      </m:dPr>
                      <m:e>
                        <m:d>
                          <m:dPr>
                            <m:begChr m:val="|"/>
                            <m:endChr m:val="|"/>
                            <m:ctrlPr>
                              <a:rPr lang="en-US" altLang="zh-CN" sz="2800" i="1" dirty="0">
                                <a:solidFill>
                                  <a:srgbClr val="C00000"/>
                                </a:solidFill>
                                <a:latin typeface="Cambria Math" panose="02040503050406030204" pitchFamily="18" charset="0"/>
                              </a:rPr>
                            </m:ctrlPr>
                          </m:dPr>
                          <m:e>
                            <m:r>
                              <a:rPr lang="en-US" altLang="zh-CN" sz="2800" i="1" dirty="0">
                                <a:solidFill>
                                  <a:srgbClr val="C00000"/>
                                </a:solidFill>
                                <a:latin typeface="Cambria Math" panose="02040503050406030204" pitchFamily="18" charset="0"/>
                              </a:rPr>
                              <m:t>𝑽</m:t>
                            </m:r>
                          </m:e>
                        </m:d>
                        <m:r>
                          <a:rPr lang="en-US" altLang="zh-CN" sz="2800" i="1" dirty="0">
                            <a:solidFill>
                              <a:srgbClr val="C00000"/>
                            </a:solidFill>
                            <a:latin typeface="Cambria Math" panose="02040503050406030204" pitchFamily="18" charset="0"/>
                          </a:rPr>
                          <m:t>+</m:t>
                        </m:r>
                        <m:d>
                          <m:dPr>
                            <m:begChr m:val="|"/>
                            <m:endChr m:val="|"/>
                            <m:ctrlPr>
                              <a:rPr lang="en-US" altLang="zh-CN" sz="2800" i="1" dirty="0">
                                <a:solidFill>
                                  <a:srgbClr val="C00000"/>
                                </a:solidFill>
                                <a:latin typeface="Cambria Math" panose="02040503050406030204" pitchFamily="18" charset="0"/>
                              </a:rPr>
                            </m:ctrlPr>
                          </m:dPr>
                          <m:e>
                            <m:r>
                              <a:rPr lang="en-US" altLang="zh-CN" sz="2800" i="1" dirty="0">
                                <a:solidFill>
                                  <a:srgbClr val="C00000"/>
                                </a:solidFill>
                                <a:latin typeface="Cambria Math" panose="02040503050406030204" pitchFamily="18" charset="0"/>
                              </a:rPr>
                              <m:t>𝑬</m:t>
                            </m:r>
                          </m:e>
                        </m:d>
                      </m:e>
                    </m:d>
                  </m:oMath>
                </a14:m>
                <a:endParaRPr lang="en-US" altLang="zh-CN" sz="2800" b="0" dirty="0">
                  <a:latin typeface="黑体" panose="02010609060101010101" pitchFamily="49" charset="-122"/>
                  <a:ea typeface="黑体" panose="02010609060101010101" pitchFamily="49" charset="-122"/>
                </a:endParaRPr>
              </a:p>
              <a:p>
                <a:pPr marL="457200" indent="-457200">
                  <a:lnSpc>
                    <a:spcPct val="150000"/>
                  </a:lnSpc>
                  <a:spcBef>
                    <a:spcPct val="0"/>
                  </a:spcBef>
                  <a:spcAft>
                    <a:spcPct val="0"/>
                  </a:spcAft>
                  <a:buClrTx/>
                </a:pPr>
                <a:r>
                  <a:rPr lang="en-US" altLang="zh-CN" sz="2800" b="0" dirty="0">
                    <a:latin typeface="Times New Roman" panose="02020603050405020304" pitchFamily="18" charset="0"/>
                    <a:cs typeface="Times New Roman" panose="02020603050405020304" pitchFamily="18" charset="0"/>
                  </a:rPr>
                  <a:t>1986</a:t>
                </a:r>
                <a:r>
                  <a:rPr lang="zh-CN" altLang="en-US" sz="2800" b="0" dirty="0">
                    <a:latin typeface="黑体" panose="02010609060101010101" pitchFamily="49" charset="-122"/>
                    <a:ea typeface="黑体" panose="02010609060101010101" pitchFamily="49" charset="-122"/>
                  </a:rPr>
                  <a:t>年图灵奖获得者</a:t>
                </a:r>
                <a:r>
                  <a:rPr lang="en-US" altLang="zh-CN" sz="2800" b="0" dirty="0">
                    <a:latin typeface="Times New Roman" panose="02020603050405020304" pitchFamily="18" charset="0"/>
                    <a:cs typeface="Times New Roman" panose="02020603050405020304" pitchFamily="18" charset="0"/>
                  </a:rPr>
                  <a:t>Robert </a:t>
                </a:r>
                <a:r>
                  <a:rPr lang="en-US" altLang="zh-CN" sz="2800" b="0" dirty="0" err="1">
                    <a:latin typeface="Times New Roman" panose="02020603050405020304" pitchFamily="18" charset="0"/>
                    <a:cs typeface="Times New Roman" panose="02020603050405020304" pitchFamily="18" charset="0"/>
                  </a:rPr>
                  <a:t>Tarjan</a:t>
                </a:r>
                <a:r>
                  <a:rPr lang="zh-CN" altLang="en-US" sz="2800" b="0" dirty="0">
                    <a:latin typeface="黑体" panose="02010609060101010101" pitchFamily="49" charset="-122"/>
                    <a:ea typeface="黑体" panose="02010609060101010101" pitchFamily="49" charset="-122"/>
                    <a:cs typeface="Times New Roman" panose="02020603050405020304" pitchFamily="18" charset="0"/>
                  </a:rPr>
                  <a:t>提出</a:t>
                </a:r>
                <a:endParaRPr lang="zh-CN" altLang="en-US" sz="2800" b="0" dirty="0">
                  <a:latin typeface="黑体" panose="02010609060101010101" pitchFamily="49" charset="-122"/>
                  <a:ea typeface="黑体" panose="02010609060101010101" pitchFamily="49" charset="-122"/>
                </a:endParaRPr>
              </a:p>
            </p:txBody>
          </p:sp>
        </mc:Choice>
        <mc:Fallback xmlns="">
          <p:sp>
            <p:nvSpPr>
              <p:cNvPr id="149506" name="Rectangle 1"/>
              <p:cNvSpPr>
                <a:spLocks noRot="1" noChangeAspect="1" noMove="1" noResize="1" noEditPoints="1" noAdjustHandles="1" noChangeArrowheads="1" noChangeShapeType="1" noTextEdit="1"/>
              </p:cNvSpPr>
              <p:nvPr/>
            </p:nvSpPr>
            <p:spPr bwMode="auto">
              <a:xfrm>
                <a:off x="236991" y="1323864"/>
                <a:ext cx="8907009" cy="2760884"/>
              </a:xfrm>
              <a:prstGeom prst="rect">
                <a:avLst/>
              </a:prstGeom>
              <a:blipFill>
                <a:blip r:embed="rId2"/>
                <a:stretch>
                  <a:fillRect l="-1232" b="-44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标题 1"/>
          <p:cNvSpPr txBox="1">
            <a:spLocks/>
          </p:cNvSpPr>
          <p:nvPr/>
        </p:nvSpPr>
        <p:spPr bwMode="auto">
          <a:xfrm>
            <a:off x="1176338" y="195263"/>
            <a:ext cx="74469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b="1">
                <a:solidFill>
                  <a:srgbClr val="FF0000"/>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2pPr>
            <a:lvl3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3pPr>
            <a:lvl4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4pPr>
            <a:lvl5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5pPr>
            <a:lvl6pPr marL="457200" algn="l" rtl="0" fontAlgn="base">
              <a:spcBef>
                <a:spcPct val="0"/>
              </a:spcBef>
              <a:spcAft>
                <a:spcPct val="0"/>
              </a:spcAft>
              <a:defRPr sz="4000" b="1">
                <a:solidFill>
                  <a:srgbClr val="FF0000"/>
                </a:solidFill>
                <a:latin typeface="华文中宋" pitchFamily="2" charset="-122"/>
                <a:ea typeface="华文中宋" pitchFamily="2" charset="-122"/>
              </a:defRPr>
            </a:lvl6pPr>
            <a:lvl7pPr marL="914400" algn="l" rtl="0" fontAlgn="base">
              <a:spcBef>
                <a:spcPct val="0"/>
              </a:spcBef>
              <a:spcAft>
                <a:spcPct val="0"/>
              </a:spcAft>
              <a:defRPr sz="4000" b="1">
                <a:solidFill>
                  <a:srgbClr val="FF0000"/>
                </a:solidFill>
                <a:latin typeface="华文中宋" pitchFamily="2" charset="-122"/>
                <a:ea typeface="华文中宋" pitchFamily="2" charset="-122"/>
              </a:defRPr>
            </a:lvl7pPr>
            <a:lvl8pPr marL="1371600" algn="l" rtl="0" fontAlgn="base">
              <a:spcBef>
                <a:spcPct val="0"/>
              </a:spcBef>
              <a:spcAft>
                <a:spcPct val="0"/>
              </a:spcAft>
              <a:defRPr sz="4000" b="1">
                <a:solidFill>
                  <a:srgbClr val="FF0000"/>
                </a:solidFill>
                <a:latin typeface="华文中宋" pitchFamily="2" charset="-122"/>
                <a:ea typeface="华文中宋" pitchFamily="2" charset="-122"/>
              </a:defRPr>
            </a:lvl8pPr>
            <a:lvl9pPr marL="1828800" algn="l" rtl="0" fontAlgn="base">
              <a:spcBef>
                <a:spcPct val="0"/>
              </a:spcBef>
              <a:spcAft>
                <a:spcPct val="0"/>
              </a:spcAft>
              <a:defRPr sz="4000" b="1">
                <a:solidFill>
                  <a:srgbClr val="FF0000"/>
                </a:solidFill>
                <a:latin typeface="华文中宋" pitchFamily="2" charset="-122"/>
                <a:ea typeface="华文中宋" pitchFamily="2" charset="-122"/>
              </a:defRPr>
            </a:lvl9pPr>
          </a:lstStyle>
          <a:p>
            <a:pPr>
              <a:lnSpc>
                <a:spcPct val="120000"/>
              </a:lnSpc>
              <a:spcAft>
                <a:spcPct val="20000"/>
              </a:spcAft>
              <a:buClr>
                <a:srgbClr val="336699"/>
              </a:buClr>
            </a:pPr>
            <a:r>
              <a:rPr lang="en-US" altLang="zh-CN" sz="3600" dirty="0" err="1">
                <a:latin typeface="Times New Roman" panose="02020603050405020304" pitchFamily="18" charset="0"/>
                <a:cs typeface="Times New Roman" panose="02020603050405020304" pitchFamily="18" charset="0"/>
              </a:rPr>
              <a:t>Tarjan</a:t>
            </a:r>
            <a:r>
              <a:rPr lang="zh-CN" altLang="en-US" sz="3600" dirty="0"/>
              <a:t>算法</a:t>
            </a:r>
            <a:endParaRPr lang="zh-CN" altLang="en-US" sz="3600" kern="0" dirty="0">
              <a:cs typeface="+mn-cs"/>
            </a:endParaRPr>
          </a:p>
        </p:txBody>
      </p:sp>
    </p:spTree>
    <p:extLst>
      <p:ext uri="{BB962C8B-B14F-4D97-AF65-F5344CB8AC3E}">
        <p14:creationId xmlns:p14="http://schemas.microsoft.com/office/powerpoint/2010/main" val="283848714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50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50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950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标题 1"/>
          <p:cNvSpPr txBox="1">
            <a:spLocks/>
          </p:cNvSpPr>
          <p:nvPr/>
        </p:nvSpPr>
        <p:spPr bwMode="auto">
          <a:xfrm>
            <a:off x="1176338" y="195263"/>
            <a:ext cx="74469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b="1">
                <a:solidFill>
                  <a:srgbClr val="FF0000"/>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2pPr>
            <a:lvl3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3pPr>
            <a:lvl4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4pPr>
            <a:lvl5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5pPr>
            <a:lvl6pPr marL="457200" algn="l" rtl="0" fontAlgn="base">
              <a:spcBef>
                <a:spcPct val="0"/>
              </a:spcBef>
              <a:spcAft>
                <a:spcPct val="0"/>
              </a:spcAft>
              <a:defRPr sz="4000" b="1">
                <a:solidFill>
                  <a:srgbClr val="FF0000"/>
                </a:solidFill>
                <a:latin typeface="华文中宋" pitchFamily="2" charset="-122"/>
                <a:ea typeface="华文中宋" pitchFamily="2" charset="-122"/>
              </a:defRPr>
            </a:lvl6pPr>
            <a:lvl7pPr marL="914400" algn="l" rtl="0" fontAlgn="base">
              <a:spcBef>
                <a:spcPct val="0"/>
              </a:spcBef>
              <a:spcAft>
                <a:spcPct val="0"/>
              </a:spcAft>
              <a:defRPr sz="4000" b="1">
                <a:solidFill>
                  <a:srgbClr val="FF0000"/>
                </a:solidFill>
                <a:latin typeface="华文中宋" pitchFamily="2" charset="-122"/>
                <a:ea typeface="华文中宋" pitchFamily="2" charset="-122"/>
              </a:defRPr>
            </a:lvl7pPr>
            <a:lvl8pPr marL="1371600" algn="l" rtl="0" fontAlgn="base">
              <a:spcBef>
                <a:spcPct val="0"/>
              </a:spcBef>
              <a:spcAft>
                <a:spcPct val="0"/>
              </a:spcAft>
              <a:defRPr sz="4000" b="1">
                <a:solidFill>
                  <a:srgbClr val="FF0000"/>
                </a:solidFill>
                <a:latin typeface="华文中宋" pitchFamily="2" charset="-122"/>
                <a:ea typeface="华文中宋" pitchFamily="2" charset="-122"/>
              </a:defRPr>
            </a:lvl8pPr>
            <a:lvl9pPr marL="1828800" algn="l" rtl="0" fontAlgn="base">
              <a:spcBef>
                <a:spcPct val="0"/>
              </a:spcBef>
              <a:spcAft>
                <a:spcPct val="0"/>
              </a:spcAft>
              <a:defRPr sz="4000" b="1">
                <a:solidFill>
                  <a:srgbClr val="FF0000"/>
                </a:solidFill>
                <a:latin typeface="华文中宋" pitchFamily="2" charset="-122"/>
                <a:ea typeface="华文中宋" pitchFamily="2" charset="-122"/>
              </a:defRPr>
            </a:lvl9pPr>
          </a:lstStyle>
          <a:p>
            <a:pPr>
              <a:lnSpc>
                <a:spcPct val="120000"/>
              </a:lnSpc>
              <a:spcAft>
                <a:spcPct val="20000"/>
              </a:spcAft>
              <a:buClr>
                <a:srgbClr val="336699"/>
              </a:buClr>
            </a:pPr>
            <a:r>
              <a:rPr lang="en-US" altLang="zh-CN" sz="3600" dirty="0" err="1">
                <a:latin typeface="Times New Roman" panose="02020603050405020304" pitchFamily="18" charset="0"/>
                <a:cs typeface="Times New Roman" panose="02020603050405020304" pitchFamily="18" charset="0"/>
              </a:rPr>
              <a:t>Tarjan</a:t>
            </a:r>
            <a:r>
              <a:rPr lang="zh-CN" altLang="en-US" sz="3600" dirty="0"/>
              <a:t>算法</a:t>
            </a:r>
            <a:endParaRPr lang="zh-CN" altLang="en-US" sz="3600" kern="0" dirty="0">
              <a:cs typeface="+mn-cs"/>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061" y="1004418"/>
            <a:ext cx="2772000" cy="2533476"/>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3261" y="1004418"/>
            <a:ext cx="2772000" cy="2498612"/>
          </a:xfrm>
          <a:prstGeom prst="rect">
            <a:avLst/>
          </a:prstGeom>
        </p:spPr>
      </p:pic>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FA5C799A-E3B3-43A5-889B-1695C02AC021}"/>
                  </a:ext>
                </a:extLst>
              </p:cNvPr>
              <p:cNvGraphicFramePr>
                <a:graphicFrameLocks noGrp="1"/>
              </p:cNvGraphicFramePr>
              <p:nvPr>
                <p:extLst>
                  <p:ext uri="{D42A27DB-BD31-4B8C-83A1-F6EECF244321}">
                    <p14:modId xmlns:p14="http://schemas.microsoft.com/office/powerpoint/2010/main" val="3416759475"/>
                  </p:ext>
                </p:extLst>
              </p:nvPr>
            </p:nvGraphicFramePr>
            <p:xfrm>
              <a:off x="3143770" y="3860954"/>
              <a:ext cx="6000230" cy="1143306"/>
            </p:xfrm>
            <a:graphic>
              <a:graphicData uri="http://schemas.openxmlformats.org/drawingml/2006/table">
                <a:tbl>
                  <a:tblPr firstRow="1" bandRow="1">
                    <a:tableStyleId>{5C22544A-7EE6-4342-B048-85BDC9FD1C3A}</a:tableStyleId>
                  </a:tblPr>
                  <a:tblGrid>
                    <a:gridCol w="600023">
                      <a:extLst>
                        <a:ext uri="{9D8B030D-6E8A-4147-A177-3AD203B41FA5}">
                          <a16:colId xmlns:a16="http://schemas.microsoft.com/office/drawing/2014/main" val="3884861444"/>
                        </a:ext>
                      </a:extLst>
                    </a:gridCol>
                    <a:gridCol w="600023">
                      <a:extLst>
                        <a:ext uri="{9D8B030D-6E8A-4147-A177-3AD203B41FA5}">
                          <a16:colId xmlns:a16="http://schemas.microsoft.com/office/drawing/2014/main" val="2975623961"/>
                        </a:ext>
                      </a:extLst>
                    </a:gridCol>
                    <a:gridCol w="600023">
                      <a:extLst>
                        <a:ext uri="{9D8B030D-6E8A-4147-A177-3AD203B41FA5}">
                          <a16:colId xmlns:a16="http://schemas.microsoft.com/office/drawing/2014/main" val="1223064291"/>
                        </a:ext>
                      </a:extLst>
                    </a:gridCol>
                    <a:gridCol w="600023">
                      <a:extLst>
                        <a:ext uri="{9D8B030D-6E8A-4147-A177-3AD203B41FA5}">
                          <a16:colId xmlns:a16="http://schemas.microsoft.com/office/drawing/2014/main" val="2394202375"/>
                        </a:ext>
                      </a:extLst>
                    </a:gridCol>
                    <a:gridCol w="600023">
                      <a:extLst>
                        <a:ext uri="{9D8B030D-6E8A-4147-A177-3AD203B41FA5}">
                          <a16:colId xmlns:a16="http://schemas.microsoft.com/office/drawing/2014/main" val="190495378"/>
                        </a:ext>
                      </a:extLst>
                    </a:gridCol>
                    <a:gridCol w="600023">
                      <a:extLst>
                        <a:ext uri="{9D8B030D-6E8A-4147-A177-3AD203B41FA5}">
                          <a16:colId xmlns:a16="http://schemas.microsoft.com/office/drawing/2014/main" val="2433170116"/>
                        </a:ext>
                      </a:extLst>
                    </a:gridCol>
                    <a:gridCol w="600023">
                      <a:extLst>
                        <a:ext uri="{9D8B030D-6E8A-4147-A177-3AD203B41FA5}">
                          <a16:colId xmlns:a16="http://schemas.microsoft.com/office/drawing/2014/main" val="3063558189"/>
                        </a:ext>
                      </a:extLst>
                    </a:gridCol>
                    <a:gridCol w="600023">
                      <a:extLst>
                        <a:ext uri="{9D8B030D-6E8A-4147-A177-3AD203B41FA5}">
                          <a16:colId xmlns:a16="http://schemas.microsoft.com/office/drawing/2014/main" val="1299083616"/>
                        </a:ext>
                      </a:extLst>
                    </a:gridCol>
                    <a:gridCol w="600023">
                      <a:extLst>
                        <a:ext uri="{9D8B030D-6E8A-4147-A177-3AD203B41FA5}">
                          <a16:colId xmlns:a16="http://schemas.microsoft.com/office/drawing/2014/main" val="2522461219"/>
                        </a:ext>
                      </a:extLst>
                    </a:gridCol>
                    <a:gridCol w="600023">
                      <a:extLst>
                        <a:ext uri="{9D8B030D-6E8A-4147-A177-3AD203B41FA5}">
                          <a16:colId xmlns:a16="http://schemas.microsoft.com/office/drawing/2014/main" val="2188692260"/>
                        </a:ext>
                      </a:extLst>
                    </a:gridCol>
                  </a:tblGrid>
                  <a:tr h="381102">
                    <a:tc>
                      <a:txBody>
                        <a:bodyPr/>
                        <a:lstStyle/>
                        <a:p>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364981624"/>
                      </a:ext>
                    </a:extLst>
                  </a:tr>
                  <a:tr h="381102">
                    <a:tc>
                      <a:txBody>
                        <a:bodyPr/>
                        <a:lstStyle/>
                        <a:p>
                          <a:pPr/>
                          <a14:m>
                            <m:oMathPara xmlns:m="http://schemas.openxmlformats.org/officeDocument/2006/math">
                              <m:oMathParaPr>
                                <m:jc m:val="centerGroup"/>
                              </m:oMathParaPr>
                              <m:oMath xmlns:m="http://schemas.openxmlformats.org/officeDocument/2006/math">
                                <m:r>
                                  <m:rPr>
                                    <m:sty m:val="p"/>
                                  </m:rPr>
                                  <a:rPr lang="en-US" altLang="zh-CN" sz="1800" i="0" smtClean="0">
                                    <a:solidFill>
                                      <a:srgbClr val="FF0000"/>
                                    </a:solidFill>
                                    <a:latin typeface="Cambria Math" panose="02040503050406030204" pitchFamily="18" charset="0"/>
                                  </a:rPr>
                                  <m:t>df</m:t>
                                </m:r>
                                <m:r>
                                  <m:rPr>
                                    <m:sty m:val="p"/>
                                  </m:rPr>
                                  <a:rPr lang="en-US" altLang="zh-CN" sz="1800" b="0" i="0" smtClean="0">
                                    <a:solidFill>
                                      <a:srgbClr val="FF0000"/>
                                    </a:solidFill>
                                    <a:latin typeface="Cambria Math" panose="02040503050406030204" pitchFamily="18" charset="0"/>
                                  </a:rPr>
                                  <m:t>s</m:t>
                                </m:r>
                              </m:oMath>
                            </m:oMathPara>
                          </a14:m>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429047108"/>
                      </a:ext>
                    </a:extLst>
                  </a:tr>
                  <a:tr h="381102">
                    <a:tc>
                      <a:txBody>
                        <a:bodyPr/>
                        <a:lstStyle/>
                        <a:p>
                          <a:pPr/>
                          <a14:m>
                            <m:oMathPara xmlns:m="http://schemas.openxmlformats.org/officeDocument/2006/math">
                              <m:oMathParaPr>
                                <m:jc m:val="centerGroup"/>
                              </m:oMathParaPr>
                              <m:oMath xmlns:m="http://schemas.openxmlformats.org/officeDocument/2006/math">
                                <m:r>
                                  <m:rPr>
                                    <m:sty m:val="p"/>
                                  </m:rPr>
                                  <a:rPr lang="en-US" altLang="zh-CN" sz="1800" smtClean="0">
                                    <a:solidFill>
                                      <a:srgbClr val="FF0000"/>
                                    </a:solidFill>
                                    <a:latin typeface="Cambria Math" panose="02040503050406030204" pitchFamily="18" charset="0"/>
                                  </a:rPr>
                                  <m:t>low</m:t>
                                </m:r>
                              </m:oMath>
                            </m:oMathPara>
                          </a14:m>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93251882"/>
                      </a:ext>
                    </a:extLst>
                  </a:tr>
                </a:tbl>
              </a:graphicData>
            </a:graphic>
          </p:graphicFrame>
        </mc:Choice>
        <mc:Fallback xmlns="">
          <p:graphicFrame>
            <p:nvGraphicFramePr>
              <p:cNvPr id="6" name="表格 5">
                <a:extLst>
                  <a:ext uri="{FF2B5EF4-FFF2-40B4-BE49-F238E27FC236}">
                    <a16:creationId xmlns:a16="http://schemas.microsoft.com/office/drawing/2014/main" id="{FA5C799A-E3B3-43A5-889B-1695C02AC021}"/>
                  </a:ext>
                </a:extLst>
              </p:cNvPr>
              <p:cNvGraphicFramePr>
                <a:graphicFrameLocks noGrp="1"/>
              </p:cNvGraphicFramePr>
              <p:nvPr>
                <p:extLst>
                  <p:ext uri="{D42A27DB-BD31-4B8C-83A1-F6EECF244321}">
                    <p14:modId xmlns:p14="http://schemas.microsoft.com/office/powerpoint/2010/main" val="3416759475"/>
                  </p:ext>
                </p:extLst>
              </p:nvPr>
            </p:nvGraphicFramePr>
            <p:xfrm>
              <a:off x="3143770" y="3860954"/>
              <a:ext cx="6000230" cy="1143306"/>
            </p:xfrm>
            <a:graphic>
              <a:graphicData uri="http://schemas.openxmlformats.org/drawingml/2006/table">
                <a:tbl>
                  <a:tblPr firstRow="1" bandRow="1">
                    <a:tableStyleId>{5C22544A-7EE6-4342-B048-85BDC9FD1C3A}</a:tableStyleId>
                  </a:tblPr>
                  <a:tblGrid>
                    <a:gridCol w="600023">
                      <a:extLst>
                        <a:ext uri="{9D8B030D-6E8A-4147-A177-3AD203B41FA5}">
                          <a16:colId xmlns:a16="http://schemas.microsoft.com/office/drawing/2014/main" val="3884861444"/>
                        </a:ext>
                      </a:extLst>
                    </a:gridCol>
                    <a:gridCol w="600023">
                      <a:extLst>
                        <a:ext uri="{9D8B030D-6E8A-4147-A177-3AD203B41FA5}">
                          <a16:colId xmlns:a16="http://schemas.microsoft.com/office/drawing/2014/main" val="2975623961"/>
                        </a:ext>
                      </a:extLst>
                    </a:gridCol>
                    <a:gridCol w="600023">
                      <a:extLst>
                        <a:ext uri="{9D8B030D-6E8A-4147-A177-3AD203B41FA5}">
                          <a16:colId xmlns:a16="http://schemas.microsoft.com/office/drawing/2014/main" val="1223064291"/>
                        </a:ext>
                      </a:extLst>
                    </a:gridCol>
                    <a:gridCol w="600023">
                      <a:extLst>
                        <a:ext uri="{9D8B030D-6E8A-4147-A177-3AD203B41FA5}">
                          <a16:colId xmlns:a16="http://schemas.microsoft.com/office/drawing/2014/main" val="2394202375"/>
                        </a:ext>
                      </a:extLst>
                    </a:gridCol>
                    <a:gridCol w="600023">
                      <a:extLst>
                        <a:ext uri="{9D8B030D-6E8A-4147-A177-3AD203B41FA5}">
                          <a16:colId xmlns:a16="http://schemas.microsoft.com/office/drawing/2014/main" val="190495378"/>
                        </a:ext>
                      </a:extLst>
                    </a:gridCol>
                    <a:gridCol w="600023">
                      <a:extLst>
                        <a:ext uri="{9D8B030D-6E8A-4147-A177-3AD203B41FA5}">
                          <a16:colId xmlns:a16="http://schemas.microsoft.com/office/drawing/2014/main" val="2433170116"/>
                        </a:ext>
                      </a:extLst>
                    </a:gridCol>
                    <a:gridCol w="600023">
                      <a:extLst>
                        <a:ext uri="{9D8B030D-6E8A-4147-A177-3AD203B41FA5}">
                          <a16:colId xmlns:a16="http://schemas.microsoft.com/office/drawing/2014/main" val="3063558189"/>
                        </a:ext>
                      </a:extLst>
                    </a:gridCol>
                    <a:gridCol w="600023">
                      <a:extLst>
                        <a:ext uri="{9D8B030D-6E8A-4147-A177-3AD203B41FA5}">
                          <a16:colId xmlns:a16="http://schemas.microsoft.com/office/drawing/2014/main" val="1299083616"/>
                        </a:ext>
                      </a:extLst>
                    </a:gridCol>
                    <a:gridCol w="600023">
                      <a:extLst>
                        <a:ext uri="{9D8B030D-6E8A-4147-A177-3AD203B41FA5}">
                          <a16:colId xmlns:a16="http://schemas.microsoft.com/office/drawing/2014/main" val="2522461219"/>
                        </a:ext>
                      </a:extLst>
                    </a:gridCol>
                    <a:gridCol w="600023">
                      <a:extLst>
                        <a:ext uri="{9D8B030D-6E8A-4147-A177-3AD203B41FA5}">
                          <a16:colId xmlns:a16="http://schemas.microsoft.com/office/drawing/2014/main" val="2188692260"/>
                        </a:ext>
                      </a:extLst>
                    </a:gridCol>
                  </a:tblGrid>
                  <a:tr h="381102">
                    <a:tc>
                      <a:txBody>
                        <a:bodyPr/>
                        <a:lstStyle/>
                        <a:p>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364981624"/>
                      </a:ext>
                    </a:extLst>
                  </a:tr>
                  <a:tr h="381102">
                    <a:tc>
                      <a:txBody>
                        <a:bodyPr/>
                        <a:lstStyle/>
                        <a:p>
                          <a:endParaRPr lang="zh-CN"/>
                        </a:p>
                      </a:txBody>
                      <a:tcPr>
                        <a:blipFill>
                          <a:blip r:embed="rId5"/>
                          <a:stretch>
                            <a:fillRect l="-1010" t="-108065" r="-900000" b="-104839"/>
                          </a:stretch>
                        </a:blipFill>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429047108"/>
                      </a:ext>
                    </a:extLst>
                  </a:tr>
                  <a:tr h="381102">
                    <a:tc>
                      <a:txBody>
                        <a:bodyPr/>
                        <a:lstStyle/>
                        <a:p>
                          <a:endParaRPr lang="zh-CN"/>
                        </a:p>
                      </a:txBody>
                      <a:tcPr>
                        <a:blipFill>
                          <a:blip r:embed="rId5"/>
                          <a:stretch>
                            <a:fillRect l="-1010" t="-204762" r="-900000" b="-3175"/>
                          </a:stretch>
                        </a:blipFill>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93251882"/>
                      </a:ext>
                    </a:extLst>
                  </a:tr>
                </a:tbl>
              </a:graphicData>
            </a:graphic>
          </p:graphicFrame>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13560FC-6635-4859-90CF-BEF324127CC7}"/>
                  </a:ext>
                </a:extLst>
              </p:cNvPr>
              <p:cNvSpPr txBox="1"/>
              <p:nvPr/>
            </p:nvSpPr>
            <p:spPr>
              <a:xfrm>
                <a:off x="58411" y="4432607"/>
                <a:ext cx="2977375" cy="830997"/>
              </a:xfrm>
              <a:prstGeom prst="rect">
                <a:avLst/>
              </a:prstGeom>
              <a:noFill/>
            </p:spPr>
            <p:txBody>
              <a:bodyPr wrap="square" rtlCol="0">
                <a:spAutoFit/>
              </a:bodyPr>
              <a:lstStyle/>
              <a:p>
                <a14:m>
                  <m:oMath xmlns:m="http://schemas.openxmlformats.org/officeDocument/2006/math">
                    <m:r>
                      <m:rPr>
                        <m:sty m:val="p"/>
                      </m:rPr>
                      <a:rPr lang="en-US" altLang="zh-CN" sz="1600" smtClean="0">
                        <a:solidFill>
                          <a:srgbClr val="FF0000"/>
                        </a:solidFill>
                        <a:latin typeface="Cambria Math" panose="02040503050406030204" pitchFamily="18" charset="0"/>
                      </a:rPr>
                      <m:t>low</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𝑢</m:t>
                    </m:r>
                    <m:r>
                      <a:rPr lang="en-US" altLang="zh-CN" sz="1600" b="0" i="1" smtClean="0">
                        <a:solidFill>
                          <a:srgbClr val="FF0000"/>
                        </a:solidFill>
                        <a:latin typeface="Cambria Math" panose="02040503050406030204" pitchFamily="18" charset="0"/>
                      </a:rPr>
                      <m:t>]</m:t>
                    </m:r>
                  </m:oMath>
                </a14:m>
                <a:r>
                  <a:rPr lang="en-US" altLang="zh-CN" sz="1600" dirty="0">
                    <a:solidFill>
                      <a:srgbClr val="FF0000"/>
                    </a:solidFill>
                  </a:rPr>
                  <a:t>: </a:t>
                </a:r>
                <a14:m>
                  <m:oMath xmlns:m="http://schemas.openxmlformats.org/officeDocument/2006/math">
                    <m:r>
                      <a:rPr lang="en-US" altLang="zh-CN" sz="1600" b="0" i="1">
                        <a:latin typeface="Cambria Math" panose="02040503050406030204" pitchFamily="18" charset="0"/>
                      </a:rPr>
                      <m:t>𝑢</m:t>
                    </m:r>
                  </m:oMath>
                </a14:m>
                <a:r>
                  <a:rPr lang="en-US" altLang="zh-CN" sz="1600" dirty="0"/>
                  <a:t> </a:t>
                </a:r>
                <a:r>
                  <a:rPr lang="zh-CN" altLang="en-US" sz="1600" dirty="0"/>
                  <a:t>的子树中所有点 和 这些点通过仅一条</a:t>
                </a:r>
                <a:r>
                  <a:rPr lang="zh-CN" altLang="en-US" sz="1600" b="1" dirty="0">
                    <a:solidFill>
                      <a:srgbClr val="3333CC"/>
                    </a:solidFill>
                  </a:rPr>
                  <a:t>返祖边</a:t>
                </a:r>
                <a:r>
                  <a:rPr lang="zh-CN" altLang="en-US" sz="1600" dirty="0"/>
                  <a:t>到达的点的</a:t>
                </a:r>
                <a:r>
                  <a:rPr lang="zh-CN" altLang="en-US" sz="1600" dirty="0">
                    <a:solidFill>
                      <a:srgbClr val="FF0000"/>
                    </a:solidFill>
                  </a:rPr>
                  <a:t>时间戳的最小值。</a:t>
                </a:r>
              </a:p>
            </p:txBody>
          </p:sp>
        </mc:Choice>
        <mc:Fallback xmlns="">
          <p:sp>
            <p:nvSpPr>
              <p:cNvPr id="8" name="文本框 7">
                <a:extLst>
                  <a:ext uri="{FF2B5EF4-FFF2-40B4-BE49-F238E27FC236}">
                    <a16:creationId xmlns:a16="http://schemas.microsoft.com/office/drawing/2014/main" id="{713560FC-6635-4859-90CF-BEF324127CC7}"/>
                  </a:ext>
                </a:extLst>
              </p:cNvPr>
              <p:cNvSpPr txBox="1">
                <a:spLocks noRot="1" noChangeAspect="1" noMove="1" noResize="1" noEditPoints="1" noAdjustHandles="1" noChangeArrowheads="1" noChangeShapeType="1" noTextEdit="1"/>
              </p:cNvSpPr>
              <p:nvPr/>
            </p:nvSpPr>
            <p:spPr>
              <a:xfrm>
                <a:off x="58411" y="4432607"/>
                <a:ext cx="2977375" cy="830997"/>
              </a:xfrm>
              <a:prstGeom prst="rect">
                <a:avLst/>
              </a:prstGeom>
              <a:blipFill>
                <a:blip r:embed="rId6"/>
                <a:stretch>
                  <a:fillRect l="-1230" t="-2941" b="-95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84E22B4-F734-4BB7-93A5-AD6453192C1D}"/>
                  </a:ext>
                </a:extLst>
              </p:cNvPr>
              <p:cNvSpPr txBox="1"/>
              <p:nvPr/>
            </p:nvSpPr>
            <p:spPr>
              <a:xfrm>
                <a:off x="68920" y="3860954"/>
                <a:ext cx="3064341" cy="584775"/>
              </a:xfrm>
              <a:prstGeom prst="rect">
                <a:avLst/>
              </a:prstGeom>
              <a:noFill/>
            </p:spPr>
            <p:txBody>
              <a:bodyPr wrap="square" rtlCol="0">
                <a:spAutoFit/>
              </a:bodyPr>
              <a:lstStyle/>
              <a:p>
                <a14:m>
                  <m:oMath xmlns:m="http://schemas.openxmlformats.org/officeDocument/2006/math">
                    <m:r>
                      <m:rPr>
                        <m:sty m:val="p"/>
                      </m:rPr>
                      <a:rPr lang="en-US" altLang="zh-CN" sz="1600" i="0" smtClean="0">
                        <a:solidFill>
                          <a:srgbClr val="FF0000"/>
                        </a:solidFill>
                        <a:latin typeface="Cambria Math" panose="02040503050406030204" pitchFamily="18" charset="0"/>
                      </a:rPr>
                      <m:t>df</m:t>
                    </m:r>
                    <m:r>
                      <m:rPr>
                        <m:sty m:val="p"/>
                      </m:rPr>
                      <a:rPr lang="en-US" altLang="zh-CN" sz="1600" b="0" i="0" smtClean="0">
                        <a:solidFill>
                          <a:srgbClr val="FF0000"/>
                        </a:solidFill>
                        <a:latin typeface="Cambria Math" panose="02040503050406030204" pitchFamily="18" charset="0"/>
                      </a:rPr>
                      <m:t>s</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𝑢</m:t>
                    </m:r>
                    <m:r>
                      <a:rPr lang="en-US" altLang="zh-CN" sz="1600" b="0" i="1" smtClean="0">
                        <a:solidFill>
                          <a:srgbClr val="FF0000"/>
                        </a:solidFill>
                        <a:latin typeface="Cambria Math" panose="02040503050406030204" pitchFamily="18" charset="0"/>
                      </a:rPr>
                      <m:t>]</m:t>
                    </m:r>
                  </m:oMath>
                </a14:m>
                <a:r>
                  <a:rPr lang="en-US" altLang="zh-CN" sz="1600" dirty="0">
                    <a:solidFill>
                      <a:srgbClr val="FF0000"/>
                    </a:solidFill>
                  </a:rPr>
                  <a:t>:</a:t>
                </a:r>
                <a:r>
                  <a:rPr lang="zh-CN" altLang="en-US" sz="1600" dirty="0"/>
                  <a:t>在</a:t>
                </a:r>
                <a:r>
                  <a:rPr lang="en-US" altLang="zh-CN" sz="1600" dirty="0"/>
                  <a:t>dfs </a:t>
                </a:r>
                <a:r>
                  <a:rPr lang="zh-CN" altLang="en-US" sz="1600" dirty="0"/>
                  <a:t>的过程中，每个节点的访问顺序，记为时间戳。</a:t>
                </a:r>
                <a:endParaRPr lang="zh-CN" altLang="en-US" sz="1600" dirty="0">
                  <a:solidFill>
                    <a:srgbClr val="FF0000"/>
                  </a:solidFill>
                </a:endParaRPr>
              </a:p>
            </p:txBody>
          </p:sp>
        </mc:Choice>
        <mc:Fallback xmlns="">
          <p:sp>
            <p:nvSpPr>
              <p:cNvPr id="9" name="文本框 8">
                <a:extLst>
                  <a:ext uri="{FF2B5EF4-FFF2-40B4-BE49-F238E27FC236}">
                    <a16:creationId xmlns:a16="http://schemas.microsoft.com/office/drawing/2014/main" id="{484E22B4-F734-4BB7-93A5-AD6453192C1D}"/>
                  </a:ext>
                </a:extLst>
              </p:cNvPr>
              <p:cNvSpPr txBox="1">
                <a:spLocks noRot="1" noChangeAspect="1" noMove="1" noResize="1" noEditPoints="1" noAdjustHandles="1" noChangeArrowheads="1" noChangeShapeType="1" noTextEdit="1"/>
              </p:cNvSpPr>
              <p:nvPr/>
            </p:nvSpPr>
            <p:spPr>
              <a:xfrm>
                <a:off x="68920" y="3860954"/>
                <a:ext cx="3064341" cy="584775"/>
              </a:xfrm>
              <a:prstGeom prst="rect">
                <a:avLst/>
              </a:prstGeom>
              <a:blipFill>
                <a:blip r:embed="rId7"/>
                <a:stretch>
                  <a:fillRect l="-994" t="-4167" b="-135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2159108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标题 1"/>
          <p:cNvSpPr txBox="1">
            <a:spLocks/>
          </p:cNvSpPr>
          <p:nvPr/>
        </p:nvSpPr>
        <p:spPr bwMode="auto">
          <a:xfrm>
            <a:off x="1176338" y="195263"/>
            <a:ext cx="74469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b="1">
                <a:solidFill>
                  <a:srgbClr val="FF0000"/>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2pPr>
            <a:lvl3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3pPr>
            <a:lvl4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4pPr>
            <a:lvl5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5pPr>
            <a:lvl6pPr marL="457200" algn="l" rtl="0" fontAlgn="base">
              <a:spcBef>
                <a:spcPct val="0"/>
              </a:spcBef>
              <a:spcAft>
                <a:spcPct val="0"/>
              </a:spcAft>
              <a:defRPr sz="4000" b="1">
                <a:solidFill>
                  <a:srgbClr val="FF0000"/>
                </a:solidFill>
                <a:latin typeface="华文中宋" pitchFamily="2" charset="-122"/>
                <a:ea typeface="华文中宋" pitchFamily="2" charset="-122"/>
              </a:defRPr>
            </a:lvl6pPr>
            <a:lvl7pPr marL="914400" algn="l" rtl="0" fontAlgn="base">
              <a:spcBef>
                <a:spcPct val="0"/>
              </a:spcBef>
              <a:spcAft>
                <a:spcPct val="0"/>
              </a:spcAft>
              <a:defRPr sz="4000" b="1">
                <a:solidFill>
                  <a:srgbClr val="FF0000"/>
                </a:solidFill>
                <a:latin typeface="华文中宋" pitchFamily="2" charset="-122"/>
                <a:ea typeface="华文中宋" pitchFamily="2" charset="-122"/>
              </a:defRPr>
            </a:lvl7pPr>
            <a:lvl8pPr marL="1371600" algn="l" rtl="0" fontAlgn="base">
              <a:spcBef>
                <a:spcPct val="0"/>
              </a:spcBef>
              <a:spcAft>
                <a:spcPct val="0"/>
              </a:spcAft>
              <a:defRPr sz="4000" b="1">
                <a:solidFill>
                  <a:srgbClr val="FF0000"/>
                </a:solidFill>
                <a:latin typeface="华文中宋" pitchFamily="2" charset="-122"/>
                <a:ea typeface="华文中宋" pitchFamily="2" charset="-122"/>
              </a:defRPr>
            </a:lvl8pPr>
            <a:lvl9pPr marL="1828800" algn="l" rtl="0" fontAlgn="base">
              <a:spcBef>
                <a:spcPct val="0"/>
              </a:spcBef>
              <a:spcAft>
                <a:spcPct val="0"/>
              </a:spcAft>
              <a:defRPr sz="4000" b="1">
                <a:solidFill>
                  <a:srgbClr val="FF0000"/>
                </a:solidFill>
                <a:latin typeface="华文中宋" pitchFamily="2" charset="-122"/>
                <a:ea typeface="华文中宋" pitchFamily="2" charset="-122"/>
              </a:defRPr>
            </a:lvl9pPr>
          </a:lstStyle>
          <a:p>
            <a:pPr>
              <a:lnSpc>
                <a:spcPct val="120000"/>
              </a:lnSpc>
              <a:spcAft>
                <a:spcPct val="20000"/>
              </a:spcAft>
              <a:buClr>
                <a:srgbClr val="336699"/>
              </a:buClr>
            </a:pPr>
            <a:r>
              <a:rPr lang="en-US" altLang="zh-CN" sz="3600" dirty="0" err="1">
                <a:latin typeface="Times New Roman" panose="02020603050405020304" pitchFamily="18" charset="0"/>
                <a:cs typeface="Times New Roman" panose="02020603050405020304" pitchFamily="18" charset="0"/>
              </a:rPr>
              <a:t>Tarjan</a:t>
            </a:r>
            <a:r>
              <a:rPr lang="zh-CN" altLang="en-US" sz="3600" dirty="0"/>
              <a:t>算法</a:t>
            </a:r>
            <a:endParaRPr lang="zh-CN" altLang="en-US" sz="3600" kern="0" dirty="0">
              <a:cs typeface="+mn-cs"/>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061" y="1004418"/>
            <a:ext cx="2772000" cy="2533476"/>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3261" y="1004418"/>
            <a:ext cx="2772000" cy="2498612"/>
          </a:xfrm>
          <a:prstGeom prst="rect">
            <a:avLst/>
          </a:prstGeom>
        </p:spPr>
      </p:pic>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FA5C799A-E3B3-43A5-889B-1695C02AC021}"/>
                  </a:ext>
                </a:extLst>
              </p:cNvPr>
              <p:cNvGraphicFramePr>
                <a:graphicFrameLocks noGrp="1"/>
              </p:cNvGraphicFramePr>
              <p:nvPr>
                <p:extLst>
                  <p:ext uri="{D42A27DB-BD31-4B8C-83A1-F6EECF244321}">
                    <p14:modId xmlns:p14="http://schemas.microsoft.com/office/powerpoint/2010/main" val="3043065433"/>
                  </p:ext>
                </p:extLst>
              </p:nvPr>
            </p:nvGraphicFramePr>
            <p:xfrm>
              <a:off x="3143770" y="3860954"/>
              <a:ext cx="6000230" cy="1143306"/>
            </p:xfrm>
            <a:graphic>
              <a:graphicData uri="http://schemas.openxmlformats.org/drawingml/2006/table">
                <a:tbl>
                  <a:tblPr firstRow="1" bandRow="1">
                    <a:tableStyleId>{5C22544A-7EE6-4342-B048-85BDC9FD1C3A}</a:tableStyleId>
                  </a:tblPr>
                  <a:tblGrid>
                    <a:gridCol w="600023">
                      <a:extLst>
                        <a:ext uri="{9D8B030D-6E8A-4147-A177-3AD203B41FA5}">
                          <a16:colId xmlns:a16="http://schemas.microsoft.com/office/drawing/2014/main" val="3884861444"/>
                        </a:ext>
                      </a:extLst>
                    </a:gridCol>
                    <a:gridCol w="600023">
                      <a:extLst>
                        <a:ext uri="{9D8B030D-6E8A-4147-A177-3AD203B41FA5}">
                          <a16:colId xmlns:a16="http://schemas.microsoft.com/office/drawing/2014/main" val="2975623961"/>
                        </a:ext>
                      </a:extLst>
                    </a:gridCol>
                    <a:gridCol w="600023">
                      <a:extLst>
                        <a:ext uri="{9D8B030D-6E8A-4147-A177-3AD203B41FA5}">
                          <a16:colId xmlns:a16="http://schemas.microsoft.com/office/drawing/2014/main" val="1223064291"/>
                        </a:ext>
                      </a:extLst>
                    </a:gridCol>
                    <a:gridCol w="600023">
                      <a:extLst>
                        <a:ext uri="{9D8B030D-6E8A-4147-A177-3AD203B41FA5}">
                          <a16:colId xmlns:a16="http://schemas.microsoft.com/office/drawing/2014/main" val="2394202375"/>
                        </a:ext>
                      </a:extLst>
                    </a:gridCol>
                    <a:gridCol w="600023">
                      <a:extLst>
                        <a:ext uri="{9D8B030D-6E8A-4147-A177-3AD203B41FA5}">
                          <a16:colId xmlns:a16="http://schemas.microsoft.com/office/drawing/2014/main" val="190495378"/>
                        </a:ext>
                      </a:extLst>
                    </a:gridCol>
                    <a:gridCol w="600023">
                      <a:extLst>
                        <a:ext uri="{9D8B030D-6E8A-4147-A177-3AD203B41FA5}">
                          <a16:colId xmlns:a16="http://schemas.microsoft.com/office/drawing/2014/main" val="2433170116"/>
                        </a:ext>
                      </a:extLst>
                    </a:gridCol>
                    <a:gridCol w="600023">
                      <a:extLst>
                        <a:ext uri="{9D8B030D-6E8A-4147-A177-3AD203B41FA5}">
                          <a16:colId xmlns:a16="http://schemas.microsoft.com/office/drawing/2014/main" val="3063558189"/>
                        </a:ext>
                      </a:extLst>
                    </a:gridCol>
                    <a:gridCol w="600023">
                      <a:extLst>
                        <a:ext uri="{9D8B030D-6E8A-4147-A177-3AD203B41FA5}">
                          <a16:colId xmlns:a16="http://schemas.microsoft.com/office/drawing/2014/main" val="1299083616"/>
                        </a:ext>
                      </a:extLst>
                    </a:gridCol>
                    <a:gridCol w="600023">
                      <a:extLst>
                        <a:ext uri="{9D8B030D-6E8A-4147-A177-3AD203B41FA5}">
                          <a16:colId xmlns:a16="http://schemas.microsoft.com/office/drawing/2014/main" val="2522461219"/>
                        </a:ext>
                      </a:extLst>
                    </a:gridCol>
                    <a:gridCol w="600023">
                      <a:extLst>
                        <a:ext uri="{9D8B030D-6E8A-4147-A177-3AD203B41FA5}">
                          <a16:colId xmlns:a16="http://schemas.microsoft.com/office/drawing/2014/main" val="2188692260"/>
                        </a:ext>
                      </a:extLst>
                    </a:gridCol>
                  </a:tblGrid>
                  <a:tr h="381102">
                    <a:tc>
                      <a:txBody>
                        <a:bodyPr/>
                        <a:lstStyle/>
                        <a:p>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364981624"/>
                      </a:ext>
                    </a:extLst>
                  </a:tr>
                  <a:tr h="381102">
                    <a:tc>
                      <a:txBody>
                        <a:bodyPr/>
                        <a:lstStyle/>
                        <a:p>
                          <a:pPr/>
                          <a14:m>
                            <m:oMathPara xmlns:m="http://schemas.openxmlformats.org/officeDocument/2006/math">
                              <m:oMathParaPr>
                                <m:jc m:val="centerGroup"/>
                              </m:oMathParaPr>
                              <m:oMath xmlns:m="http://schemas.openxmlformats.org/officeDocument/2006/math">
                                <m:r>
                                  <m:rPr>
                                    <m:sty m:val="p"/>
                                  </m:rPr>
                                  <a:rPr lang="en-US" altLang="zh-CN" sz="1800" i="0" smtClean="0">
                                    <a:solidFill>
                                      <a:srgbClr val="FF0000"/>
                                    </a:solidFill>
                                    <a:latin typeface="Cambria Math" panose="02040503050406030204" pitchFamily="18" charset="0"/>
                                  </a:rPr>
                                  <m:t>df</m:t>
                                </m:r>
                                <m:r>
                                  <m:rPr>
                                    <m:sty m:val="p"/>
                                  </m:rPr>
                                  <a:rPr lang="en-US" altLang="zh-CN" sz="1800" b="0" i="0" smtClean="0">
                                    <a:solidFill>
                                      <a:srgbClr val="FF0000"/>
                                    </a:solidFill>
                                    <a:latin typeface="Cambria Math" panose="02040503050406030204" pitchFamily="18" charset="0"/>
                                  </a:rPr>
                                  <m:t>s</m:t>
                                </m:r>
                              </m:oMath>
                            </m:oMathPara>
                          </a14:m>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9</a:t>
                          </a:r>
                          <a:endParaRPr lang="zh-CN" altLang="en-US" dirty="0"/>
                        </a:p>
                      </a:txBody>
                      <a:tcPr/>
                    </a:tc>
                    <a:tc>
                      <a:txBody>
                        <a:bodyPr/>
                        <a:lstStyle/>
                        <a:p>
                          <a:pPr algn="ctr"/>
                          <a:r>
                            <a:rPr lang="en-US" altLang="zh-CN" dirty="0"/>
                            <a:t>8</a:t>
                          </a:r>
                          <a:endParaRPr lang="zh-CN" altLang="en-US" dirty="0"/>
                        </a:p>
                      </a:txBody>
                      <a:tcPr/>
                    </a:tc>
                    <a:extLst>
                      <a:ext uri="{0D108BD9-81ED-4DB2-BD59-A6C34878D82A}">
                        <a16:rowId xmlns:a16="http://schemas.microsoft.com/office/drawing/2014/main" val="2429047108"/>
                      </a:ext>
                    </a:extLst>
                  </a:tr>
                  <a:tr h="381102">
                    <a:tc>
                      <a:txBody>
                        <a:bodyPr/>
                        <a:lstStyle/>
                        <a:p>
                          <a:pPr/>
                          <a14:m>
                            <m:oMathPara xmlns:m="http://schemas.openxmlformats.org/officeDocument/2006/math">
                              <m:oMathParaPr>
                                <m:jc m:val="centerGroup"/>
                              </m:oMathParaPr>
                              <m:oMath xmlns:m="http://schemas.openxmlformats.org/officeDocument/2006/math">
                                <m:r>
                                  <m:rPr>
                                    <m:sty m:val="p"/>
                                  </m:rPr>
                                  <a:rPr lang="en-US" altLang="zh-CN" sz="1800" smtClean="0">
                                    <a:solidFill>
                                      <a:srgbClr val="FF0000"/>
                                    </a:solidFill>
                                    <a:latin typeface="Cambria Math" panose="02040503050406030204" pitchFamily="18" charset="0"/>
                                  </a:rPr>
                                  <m:t>low</m:t>
                                </m:r>
                              </m:oMath>
                            </m:oMathPara>
                          </a14:m>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93251882"/>
                      </a:ext>
                    </a:extLst>
                  </a:tr>
                </a:tbl>
              </a:graphicData>
            </a:graphic>
          </p:graphicFrame>
        </mc:Choice>
        <mc:Fallback xmlns="">
          <p:graphicFrame>
            <p:nvGraphicFramePr>
              <p:cNvPr id="6" name="表格 5">
                <a:extLst>
                  <a:ext uri="{FF2B5EF4-FFF2-40B4-BE49-F238E27FC236}">
                    <a16:creationId xmlns:a16="http://schemas.microsoft.com/office/drawing/2014/main" id="{FA5C799A-E3B3-43A5-889B-1695C02AC021}"/>
                  </a:ext>
                </a:extLst>
              </p:cNvPr>
              <p:cNvGraphicFramePr>
                <a:graphicFrameLocks noGrp="1"/>
              </p:cNvGraphicFramePr>
              <p:nvPr>
                <p:extLst>
                  <p:ext uri="{D42A27DB-BD31-4B8C-83A1-F6EECF244321}">
                    <p14:modId xmlns:p14="http://schemas.microsoft.com/office/powerpoint/2010/main" val="3043065433"/>
                  </p:ext>
                </p:extLst>
              </p:nvPr>
            </p:nvGraphicFramePr>
            <p:xfrm>
              <a:off x="3143770" y="3860954"/>
              <a:ext cx="6000230" cy="1143306"/>
            </p:xfrm>
            <a:graphic>
              <a:graphicData uri="http://schemas.openxmlformats.org/drawingml/2006/table">
                <a:tbl>
                  <a:tblPr firstRow="1" bandRow="1">
                    <a:tableStyleId>{5C22544A-7EE6-4342-B048-85BDC9FD1C3A}</a:tableStyleId>
                  </a:tblPr>
                  <a:tblGrid>
                    <a:gridCol w="600023">
                      <a:extLst>
                        <a:ext uri="{9D8B030D-6E8A-4147-A177-3AD203B41FA5}">
                          <a16:colId xmlns:a16="http://schemas.microsoft.com/office/drawing/2014/main" val="3884861444"/>
                        </a:ext>
                      </a:extLst>
                    </a:gridCol>
                    <a:gridCol w="600023">
                      <a:extLst>
                        <a:ext uri="{9D8B030D-6E8A-4147-A177-3AD203B41FA5}">
                          <a16:colId xmlns:a16="http://schemas.microsoft.com/office/drawing/2014/main" val="2975623961"/>
                        </a:ext>
                      </a:extLst>
                    </a:gridCol>
                    <a:gridCol w="600023">
                      <a:extLst>
                        <a:ext uri="{9D8B030D-6E8A-4147-A177-3AD203B41FA5}">
                          <a16:colId xmlns:a16="http://schemas.microsoft.com/office/drawing/2014/main" val="1223064291"/>
                        </a:ext>
                      </a:extLst>
                    </a:gridCol>
                    <a:gridCol w="600023">
                      <a:extLst>
                        <a:ext uri="{9D8B030D-6E8A-4147-A177-3AD203B41FA5}">
                          <a16:colId xmlns:a16="http://schemas.microsoft.com/office/drawing/2014/main" val="2394202375"/>
                        </a:ext>
                      </a:extLst>
                    </a:gridCol>
                    <a:gridCol w="600023">
                      <a:extLst>
                        <a:ext uri="{9D8B030D-6E8A-4147-A177-3AD203B41FA5}">
                          <a16:colId xmlns:a16="http://schemas.microsoft.com/office/drawing/2014/main" val="190495378"/>
                        </a:ext>
                      </a:extLst>
                    </a:gridCol>
                    <a:gridCol w="600023">
                      <a:extLst>
                        <a:ext uri="{9D8B030D-6E8A-4147-A177-3AD203B41FA5}">
                          <a16:colId xmlns:a16="http://schemas.microsoft.com/office/drawing/2014/main" val="2433170116"/>
                        </a:ext>
                      </a:extLst>
                    </a:gridCol>
                    <a:gridCol w="600023">
                      <a:extLst>
                        <a:ext uri="{9D8B030D-6E8A-4147-A177-3AD203B41FA5}">
                          <a16:colId xmlns:a16="http://schemas.microsoft.com/office/drawing/2014/main" val="3063558189"/>
                        </a:ext>
                      </a:extLst>
                    </a:gridCol>
                    <a:gridCol w="600023">
                      <a:extLst>
                        <a:ext uri="{9D8B030D-6E8A-4147-A177-3AD203B41FA5}">
                          <a16:colId xmlns:a16="http://schemas.microsoft.com/office/drawing/2014/main" val="1299083616"/>
                        </a:ext>
                      </a:extLst>
                    </a:gridCol>
                    <a:gridCol w="600023">
                      <a:extLst>
                        <a:ext uri="{9D8B030D-6E8A-4147-A177-3AD203B41FA5}">
                          <a16:colId xmlns:a16="http://schemas.microsoft.com/office/drawing/2014/main" val="2522461219"/>
                        </a:ext>
                      </a:extLst>
                    </a:gridCol>
                    <a:gridCol w="600023">
                      <a:extLst>
                        <a:ext uri="{9D8B030D-6E8A-4147-A177-3AD203B41FA5}">
                          <a16:colId xmlns:a16="http://schemas.microsoft.com/office/drawing/2014/main" val="2188692260"/>
                        </a:ext>
                      </a:extLst>
                    </a:gridCol>
                  </a:tblGrid>
                  <a:tr h="381102">
                    <a:tc>
                      <a:txBody>
                        <a:bodyPr/>
                        <a:lstStyle/>
                        <a:p>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364981624"/>
                      </a:ext>
                    </a:extLst>
                  </a:tr>
                  <a:tr h="381102">
                    <a:tc>
                      <a:txBody>
                        <a:bodyPr/>
                        <a:lstStyle/>
                        <a:p>
                          <a:endParaRPr lang="zh-CN"/>
                        </a:p>
                      </a:txBody>
                      <a:tcPr>
                        <a:blipFill>
                          <a:blip r:embed="rId5"/>
                          <a:stretch>
                            <a:fillRect l="-1010" t="-108065" r="-900000" b="-104839"/>
                          </a:stretch>
                        </a:blipFill>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9</a:t>
                          </a:r>
                          <a:endParaRPr lang="zh-CN" altLang="en-US" dirty="0"/>
                        </a:p>
                      </a:txBody>
                      <a:tcPr/>
                    </a:tc>
                    <a:tc>
                      <a:txBody>
                        <a:bodyPr/>
                        <a:lstStyle/>
                        <a:p>
                          <a:pPr algn="ctr"/>
                          <a:r>
                            <a:rPr lang="en-US" altLang="zh-CN" dirty="0"/>
                            <a:t>8</a:t>
                          </a:r>
                          <a:endParaRPr lang="zh-CN" altLang="en-US" dirty="0"/>
                        </a:p>
                      </a:txBody>
                      <a:tcPr/>
                    </a:tc>
                    <a:extLst>
                      <a:ext uri="{0D108BD9-81ED-4DB2-BD59-A6C34878D82A}">
                        <a16:rowId xmlns:a16="http://schemas.microsoft.com/office/drawing/2014/main" val="2429047108"/>
                      </a:ext>
                    </a:extLst>
                  </a:tr>
                  <a:tr h="381102">
                    <a:tc>
                      <a:txBody>
                        <a:bodyPr/>
                        <a:lstStyle/>
                        <a:p>
                          <a:endParaRPr lang="zh-CN"/>
                        </a:p>
                      </a:txBody>
                      <a:tcPr>
                        <a:blipFill>
                          <a:blip r:embed="rId5"/>
                          <a:stretch>
                            <a:fillRect l="-1010" t="-204762" r="-900000" b="-3175"/>
                          </a:stretch>
                        </a:blipFill>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93251882"/>
                      </a:ext>
                    </a:extLst>
                  </a:tr>
                </a:tbl>
              </a:graphicData>
            </a:graphic>
          </p:graphicFrame>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13560FC-6635-4859-90CF-BEF324127CC7}"/>
                  </a:ext>
                </a:extLst>
              </p:cNvPr>
              <p:cNvSpPr txBox="1"/>
              <p:nvPr/>
            </p:nvSpPr>
            <p:spPr>
              <a:xfrm>
                <a:off x="58411" y="4432607"/>
                <a:ext cx="2977375" cy="830997"/>
              </a:xfrm>
              <a:prstGeom prst="rect">
                <a:avLst/>
              </a:prstGeom>
              <a:noFill/>
            </p:spPr>
            <p:txBody>
              <a:bodyPr wrap="square" rtlCol="0">
                <a:spAutoFit/>
              </a:bodyPr>
              <a:lstStyle/>
              <a:p>
                <a14:m>
                  <m:oMath xmlns:m="http://schemas.openxmlformats.org/officeDocument/2006/math">
                    <m:r>
                      <m:rPr>
                        <m:sty m:val="p"/>
                      </m:rPr>
                      <a:rPr lang="en-US" altLang="zh-CN" sz="1600" smtClean="0">
                        <a:solidFill>
                          <a:srgbClr val="FF0000"/>
                        </a:solidFill>
                        <a:latin typeface="Cambria Math" panose="02040503050406030204" pitchFamily="18" charset="0"/>
                      </a:rPr>
                      <m:t>low</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𝑢</m:t>
                    </m:r>
                    <m:r>
                      <a:rPr lang="en-US" altLang="zh-CN" sz="1600" b="0" i="1" smtClean="0">
                        <a:solidFill>
                          <a:srgbClr val="FF0000"/>
                        </a:solidFill>
                        <a:latin typeface="Cambria Math" panose="02040503050406030204" pitchFamily="18" charset="0"/>
                      </a:rPr>
                      <m:t>]</m:t>
                    </m:r>
                  </m:oMath>
                </a14:m>
                <a:r>
                  <a:rPr lang="en-US" altLang="zh-CN" sz="1600" dirty="0">
                    <a:solidFill>
                      <a:srgbClr val="FF0000"/>
                    </a:solidFill>
                  </a:rPr>
                  <a:t>: </a:t>
                </a:r>
                <a14:m>
                  <m:oMath xmlns:m="http://schemas.openxmlformats.org/officeDocument/2006/math">
                    <m:r>
                      <a:rPr lang="en-US" altLang="zh-CN" sz="1600" b="0" i="1">
                        <a:latin typeface="Cambria Math" panose="02040503050406030204" pitchFamily="18" charset="0"/>
                      </a:rPr>
                      <m:t>𝑢</m:t>
                    </m:r>
                  </m:oMath>
                </a14:m>
                <a:r>
                  <a:rPr lang="en-US" altLang="zh-CN" sz="1600" dirty="0"/>
                  <a:t> </a:t>
                </a:r>
                <a:r>
                  <a:rPr lang="zh-CN" altLang="en-US" sz="1600" dirty="0"/>
                  <a:t>的子树中所有点 和 这些点通过仅一条</a:t>
                </a:r>
                <a:r>
                  <a:rPr lang="zh-CN" altLang="en-US" sz="1600" b="1" dirty="0">
                    <a:solidFill>
                      <a:srgbClr val="3333CC"/>
                    </a:solidFill>
                  </a:rPr>
                  <a:t>返祖边</a:t>
                </a:r>
                <a:r>
                  <a:rPr lang="zh-CN" altLang="en-US" sz="1600" dirty="0"/>
                  <a:t>到达的点的</a:t>
                </a:r>
                <a:r>
                  <a:rPr lang="zh-CN" altLang="en-US" sz="1600" dirty="0">
                    <a:solidFill>
                      <a:srgbClr val="FF0000"/>
                    </a:solidFill>
                  </a:rPr>
                  <a:t>时间戳的最小值。</a:t>
                </a:r>
              </a:p>
            </p:txBody>
          </p:sp>
        </mc:Choice>
        <mc:Fallback xmlns="">
          <p:sp>
            <p:nvSpPr>
              <p:cNvPr id="8" name="文本框 7">
                <a:extLst>
                  <a:ext uri="{FF2B5EF4-FFF2-40B4-BE49-F238E27FC236}">
                    <a16:creationId xmlns:a16="http://schemas.microsoft.com/office/drawing/2014/main" id="{713560FC-6635-4859-90CF-BEF324127CC7}"/>
                  </a:ext>
                </a:extLst>
              </p:cNvPr>
              <p:cNvSpPr txBox="1">
                <a:spLocks noRot="1" noChangeAspect="1" noMove="1" noResize="1" noEditPoints="1" noAdjustHandles="1" noChangeArrowheads="1" noChangeShapeType="1" noTextEdit="1"/>
              </p:cNvSpPr>
              <p:nvPr/>
            </p:nvSpPr>
            <p:spPr>
              <a:xfrm>
                <a:off x="58411" y="4432607"/>
                <a:ext cx="2977375" cy="830997"/>
              </a:xfrm>
              <a:prstGeom prst="rect">
                <a:avLst/>
              </a:prstGeom>
              <a:blipFill>
                <a:blip r:embed="rId6"/>
                <a:stretch>
                  <a:fillRect l="-1230" t="-2941" b="-95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84E22B4-F734-4BB7-93A5-AD6453192C1D}"/>
                  </a:ext>
                </a:extLst>
              </p:cNvPr>
              <p:cNvSpPr txBox="1"/>
              <p:nvPr/>
            </p:nvSpPr>
            <p:spPr>
              <a:xfrm>
                <a:off x="68920" y="3860954"/>
                <a:ext cx="3064341" cy="584775"/>
              </a:xfrm>
              <a:prstGeom prst="rect">
                <a:avLst/>
              </a:prstGeom>
              <a:noFill/>
            </p:spPr>
            <p:txBody>
              <a:bodyPr wrap="square" rtlCol="0">
                <a:spAutoFit/>
              </a:bodyPr>
              <a:lstStyle/>
              <a:p>
                <a14:m>
                  <m:oMath xmlns:m="http://schemas.openxmlformats.org/officeDocument/2006/math">
                    <m:r>
                      <m:rPr>
                        <m:sty m:val="p"/>
                      </m:rPr>
                      <a:rPr lang="en-US" altLang="zh-CN" sz="1600" i="0" smtClean="0">
                        <a:solidFill>
                          <a:srgbClr val="FF0000"/>
                        </a:solidFill>
                        <a:latin typeface="Cambria Math" panose="02040503050406030204" pitchFamily="18" charset="0"/>
                      </a:rPr>
                      <m:t>df</m:t>
                    </m:r>
                    <m:r>
                      <m:rPr>
                        <m:sty m:val="p"/>
                      </m:rPr>
                      <a:rPr lang="en-US" altLang="zh-CN" sz="1600" b="0" i="0" smtClean="0">
                        <a:solidFill>
                          <a:srgbClr val="FF0000"/>
                        </a:solidFill>
                        <a:latin typeface="Cambria Math" panose="02040503050406030204" pitchFamily="18" charset="0"/>
                      </a:rPr>
                      <m:t>s</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𝑢</m:t>
                    </m:r>
                    <m:r>
                      <a:rPr lang="en-US" altLang="zh-CN" sz="1600" b="0" i="1" smtClean="0">
                        <a:solidFill>
                          <a:srgbClr val="FF0000"/>
                        </a:solidFill>
                        <a:latin typeface="Cambria Math" panose="02040503050406030204" pitchFamily="18" charset="0"/>
                      </a:rPr>
                      <m:t>]</m:t>
                    </m:r>
                  </m:oMath>
                </a14:m>
                <a:r>
                  <a:rPr lang="en-US" altLang="zh-CN" sz="1600" dirty="0">
                    <a:solidFill>
                      <a:srgbClr val="FF0000"/>
                    </a:solidFill>
                  </a:rPr>
                  <a:t>:</a:t>
                </a:r>
                <a:r>
                  <a:rPr lang="zh-CN" altLang="en-US" sz="1600" dirty="0"/>
                  <a:t>在</a:t>
                </a:r>
                <a:r>
                  <a:rPr lang="en-US" altLang="zh-CN" sz="1600" dirty="0"/>
                  <a:t>dfs </a:t>
                </a:r>
                <a:r>
                  <a:rPr lang="zh-CN" altLang="en-US" sz="1600" dirty="0"/>
                  <a:t>的过程中，每个节点的访问顺序，记为时间戳。</a:t>
                </a:r>
                <a:endParaRPr lang="zh-CN" altLang="en-US" sz="1600" dirty="0">
                  <a:solidFill>
                    <a:srgbClr val="FF0000"/>
                  </a:solidFill>
                </a:endParaRPr>
              </a:p>
            </p:txBody>
          </p:sp>
        </mc:Choice>
        <mc:Fallback xmlns="">
          <p:sp>
            <p:nvSpPr>
              <p:cNvPr id="9" name="文本框 8">
                <a:extLst>
                  <a:ext uri="{FF2B5EF4-FFF2-40B4-BE49-F238E27FC236}">
                    <a16:creationId xmlns:a16="http://schemas.microsoft.com/office/drawing/2014/main" id="{484E22B4-F734-4BB7-93A5-AD6453192C1D}"/>
                  </a:ext>
                </a:extLst>
              </p:cNvPr>
              <p:cNvSpPr txBox="1">
                <a:spLocks noRot="1" noChangeAspect="1" noMove="1" noResize="1" noEditPoints="1" noAdjustHandles="1" noChangeArrowheads="1" noChangeShapeType="1" noTextEdit="1"/>
              </p:cNvSpPr>
              <p:nvPr/>
            </p:nvSpPr>
            <p:spPr>
              <a:xfrm>
                <a:off x="68920" y="3860954"/>
                <a:ext cx="3064341" cy="584775"/>
              </a:xfrm>
              <a:prstGeom prst="rect">
                <a:avLst/>
              </a:prstGeom>
              <a:blipFill>
                <a:blip r:embed="rId7"/>
                <a:stretch>
                  <a:fillRect l="-994" t="-4167" b="-13542"/>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EFE7541F-AFE2-4A11-92E9-8AAB1EF5D0CC}"/>
              </a:ext>
            </a:extLst>
          </p:cNvPr>
          <p:cNvSpPr/>
          <p:nvPr/>
        </p:nvSpPr>
        <p:spPr bwMode="auto">
          <a:xfrm>
            <a:off x="793376" y="4432607"/>
            <a:ext cx="1721224" cy="336182"/>
          </a:xfrm>
          <a:prstGeom prst="rect">
            <a:avLst/>
          </a:prstGeom>
          <a:noFill/>
          <a:ln w="3810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1686348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标题 1"/>
          <p:cNvSpPr txBox="1">
            <a:spLocks/>
          </p:cNvSpPr>
          <p:nvPr/>
        </p:nvSpPr>
        <p:spPr bwMode="auto">
          <a:xfrm>
            <a:off x="1176338" y="195263"/>
            <a:ext cx="74469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b="1">
                <a:solidFill>
                  <a:srgbClr val="FF0000"/>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2pPr>
            <a:lvl3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3pPr>
            <a:lvl4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4pPr>
            <a:lvl5pPr algn="l" rtl="0" eaLnBrk="0" fontAlgn="base" hangingPunct="0">
              <a:spcBef>
                <a:spcPct val="0"/>
              </a:spcBef>
              <a:spcAft>
                <a:spcPct val="0"/>
              </a:spcAft>
              <a:defRPr sz="4000" b="1">
                <a:solidFill>
                  <a:srgbClr val="FF0000"/>
                </a:solidFill>
                <a:latin typeface="华文中宋" pitchFamily="2" charset="-122"/>
                <a:ea typeface="华文中宋" pitchFamily="2" charset="-122"/>
              </a:defRPr>
            </a:lvl5pPr>
            <a:lvl6pPr marL="457200" algn="l" rtl="0" fontAlgn="base">
              <a:spcBef>
                <a:spcPct val="0"/>
              </a:spcBef>
              <a:spcAft>
                <a:spcPct val="0"/>
              </a:spcAft>
              <a:defRPr sz="4000" b="1">
                <a:solidFill>
                  <a:srgbClr val="FF0000"/>
                </a:solidFill>
                <a:latin typeface="华文中宋" pitchFamily="2" charset="-122"/>
                <a:ea typeface="华文中宋" pitchFamily="2" charset="-122"/>
              </a:defRPr>
            </a:lvl6pPr>
            <a:lvl7pPr marL="914400" algn="l" rtl="0" fontAlgn="base">
              <a:spcBef>
                <a:spcPct val="0"/>
              </a:spcBef>
              <a:spcAft>
                <a:spcPct val="0"/>
              </a:spcAft>
              <a:defRPr sz="4000" b="1">
                <a:solidFill>
                  <a:srgbClr val="FF0000"/>
                </a:solidFill>
                <a:latin typeface="华文中宋" pitchFamily="2" charset="-122"/>
                <a:ea typeface="华文中宋" pitchFamily="2" charset="-122"/>
              </a:defRPr>
            </a:lvl7pPr>
            <a:lvl8pPr marL="1371600" algn="l" rtl="0" fontAlgn="base">
              <a:spcBef>
                <a:spcPct val="0"/>
              </a:spcBef>
              <a:spcAft>
                <a:spcPct val="0"/>
              </a:spcAft>
              <a:defRPr sz="4000" b="1">
                <a:solidFill>
                  <a:srgbClr val="FF0000"/>
                </a:solidFill>
                <a:latin typeface="华文中宋" pitchFamily="2" charset="-122"/>
                <a:ea typeface="华文中宋" pitchFamily="2" charset="-122"/>
              </a:defRPr>
            </a:lvl8pPr>
            <a:lvl9pPr marL="1828800" algn="l" rtl="0" fontAlgn="base">
              <a:spcBef>
                <a:spcPct val="0"/>
              </a:spcBef>
              <a:spcAft>
                <a:spcPct val="0"/>
              </a:spcAft>
              <a:defRPr sz="4000" b="1">
                <a:solidFill>
                  <a:srgbClr val="FF0000"/>
                </a:solidFill>
                <a:latin typeface="华文中宋" pitchFamily="2" charset="-122"/>
                <a:ea typeface="华文中宋" pitchFamily="2" charset="-122"/>
              </a:defRPr>
            </a:lvl9pPr>
          </a:lstStyle>
          <a:p>
            <a:pPr>
              <a:lnSpc>
                <a:spcPct val="120000"/>
              </a:lnSpc>
              <a:spcAft>
                <a:spcPct val="20000"/>
              </a:spcAft>
              <a:buClr>
                <a:srgbClr val="336699"/>
              </a:buClr>
            </a:pPr>
            <a:r>
              <a:rPr lang="en-US" altLang="zh-CN" sz="3600" dirty="0" err="1">
                <a:latin typeface="Times New Roman" panose="02020603050405020304" pitchFamily="18" charset="0"/>
                <a:cs typeface="Times New Roman" panose="02020603050405020304" pitchFamily="18" charset="0"/>
              </a:rPr>
              <a:t>Tarjan</a:t>
            </a:r>
            <a:r>
              <a:rPr lang="zh-CN" altLang="en-US" sz="3600" dirty="0"/>
              <a:t>算法</a:t>
            </a:r>
            <a:endParaRPr lang="zh-CN" altLang="en-US" sz="3600" kern="0" dirty="0">
              <a:cs typeface="+mn-cs"/>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061" y="1004418"/>
            <a:ext cx="2772000" cy="2533476"/>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3261" y="1004418"/>
            <a:ext cx="2772000" cy="2498612"/>
          </a:xfrm>
          <a:prstGeom prst="rect">
            <a:avLst/>
          </a:prstGeom>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6461" y="1004418"/>
            <a:ext cx="2772000" cy="2533476"/>
          </a:xfrm>
          <a:prstGeom prst="rect">
            <a:avLst/>
          </a:prstGeom>
        </p:spPr>
      </p:pic>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FA5C799A-E3B3-43A5-889B-1695C02AC021}"/>
                  </a:ext>
                </a:extLst>
              </p:cNvPr>
              <p:cNvGraphicFramePr>
                <a:graphicFrameLocks noGrp="1"/>
              </p:cNvGraphicFramePr>
              <p:nvPr>
                <p:extLst>
                  <p:ext uri="{D42A27DB-BD31-4B8C-83A1-F6EECF244321}">
                    <p14:modId xmlns:p14="http://schemas.microsoft.com/office/powerpoint/2010/main" val="3352512644"/>
                  </p:ext>
                </p:extLst>
              </p:nvPr>
            </p:nvGraphicFramePr>
            <p:xfrm>
              <a:off x="3143770" y="3860954"/>
              <a:ext cx="6000230" cy="1143306"/>
            </p:xfrm>
            <a:graphic>
              <a:graphicData uri="http://schemas.openxmlformats.org/drawingml/2006/table">
                <a:tbl>
                  <a:tblPr firstRow="1" bandRow="1">
                    <a:tableStyleId>{5C22544A-7EE6-4342-B048-85BDC9FD1C3A}</a:tableStyleId>
                  </a:tblPr>
                  <a:tblGrid>
                    <a:gridCol w="600023">
                      <a:extLst>
                        <a:ext uri="{9D8B030D-6E8A-4147-A177-3AD203B41FA5}">
                          <a16:colId xmlns:a16="http://schemas.microsoft.com/office/drawing/2014/main" val="3884861444"/>
                        </a:ext>
                      </a:extLst>
                    </a:gridCol>
                    <a:gridCol w="600023">
                      <a:extLst>
                        <a:ext uri="{9D8B030D-6E8A-4147-A177-3AD203B41FA5}">
                          <a16:colId xmlns:a16="http://schemas.microsoft.com/office/drawing/2014/main" val="2975623961"/>
                        </a:ext>
                      </a:extLst>
                    </a:gridCol>
                    <a:gridCol w="600023">
                      <a:extLst>
                        <a:ext uri="{9D8B030D-6E8A-4147-A177-3AD203B41FA5}">
                          <a16:colId xmlns:a16="http://schemas.microsoft.com/office/drawing/2014/main" val="1223064291"/>
                        </a:ext>
                      </a:extLst>
                    </a:gridCol>
                    <a:gridCol w="600023">
                      <a:extLst>
                        <a:ext uri="{9D8B030D-6E8A-4147-A177-3AD203B41FA5}">
                          <a16:colId xmlns:a16="http://schemas.microsoft.com/office/drawing/2014/main" val="2394202375"/>
                        </a:ext>
                      </a:extLst>
                    </a:gridCol>
                    <a:gridCol w="600023">
                      <a:extLst>
                        <a:ext uri="{9D8B030D-6E8A-4147-A177-3AD203B41FA5}">
                          <a16:colId xmlns:a16="http://schemas.microsoft.com/office/drawing/2014/main" val="190495378"/>
                        </a:ext>
                      </a:extLst>
                    </a:gridCol>
                    <a:gridCol w="600023">
                      <a:extLst>
                        <a:ext uri="{9D8B030D-6E8A-4147-A177-3AD203B41FA5}">
                          <a16:colId xmlns:a16="http://schemas.microsoft.com/office/drawing/2014/main" val="2433170116"/>
                        </a:ext>
                      </a:extLst>
                    </a:gridCol>
                    <a:gridCol w="600023">
                      <a:extLst>
                        <a:ext uri="{9D8B030D-6E8A-4147-A177-3AD203B41FA5}">
                          <a16:colId xmlns:a16="http://schemas.microsoft.com/office/drawing/2014/main" val="3063558189"/>
                        </a:ext>
                      </a:extLst>
                    </a:gridCol>
                    <a:gridCol w="600023">
                      <a:extLst>
                        <a:ext uri="{9D8B030D-6E8A-4147-A177-3AD203B41FA5}">
                          <a16:colId xmlns:a16="http://schemas.microsoft.com/office/drawing/2014/main" val="1299083616"/>
                        </a:ext>
                      </a:extLst>
                    </a:gridCol>
                    <a:gridCol w="600023">
                      <a:extLst>
                        <a:ext uri="{9D8B030D-6E8A-4147-A177-3AD203B41FA5}">
                          <a16:colId xmlns:a16="http://schemas.microsoft.com/office/drawing/2014/main" val="2522461219"/>
                        </a:ext>
                      </a:extLst>
                    </a:gridCol>
                    <a:gridCol w="600023">
                      <a:extLst>
                        <a:ext uri="{9D8B030D-6E8A-4147-A177-3AD203B41FA5}">
                          <a16:colId xmlns:a16="http://schemas.microsoft.com/office/drawing/2014/main" val="2188692260"/>
                        </a:ext>
                      </a:extLst>
                    </a:gridCol>
                  </a:tblGrid>
                  <a:tr h="381102">
                    <a:tc>
                      <a:txBody>
                        <a:bodyPr/>
                        <a:lstStyle/>
                        <a:p>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364981624"/>
                      </a:ext>
                    </a:extLst>
                  </a:tr>
                  <a:tr h="381102">
                    <a:tc>
                      <a:txBody>
                        <a:bodyPr/>
                        <a:lstStyle/>
                        <a:p>
                          <a:pPr/>
                          <a14:m>
                            <m:oMathPara xmlns:m="http://schemas.openxmlformats.org/officeDocument/2006/math">
                              <m:oMathParaPr>
                                <m:jc m:val="centerGroup"/>
                              </m:oMathParaPr>
                              <m:oMath xmlns:m="http://schemas.openxmlformats.org/officeDocument/2006/math">
                                <m:r>
                                  <m:rPr>
                                    <m:sty m:val="p"/>
                                  </m:rPr>
                                  <a:rPr lang="en-US" altLang="zh-CN" sz="1800" i="0" smtClean="0">
                                    <a:solidFill>
                                      <a:srgbClr val="FF0000"/>
                                    </a:solidFill>
                                    <a:latin typeface="Cambria Math" panose="02040503050406030204" pitchFamily="18" charset="0"/>
                                  </a:rPr>
                                  <m:t>df</m:t>
                                </m:r>
                                <m:r>
                                  <m:rPr>
                                    <m:sty m:val="p"/>
                                  </m:rPr>
                                  <a:rPr lang="en-US" altLang="zh-CN" sz="1800" b="0" i="0" smtClean="0">
                                    <a:solidFill>
                                      <a:srgbClr val="FF0000"/>
                                    </a:solidFill>
                                    <a:latin typeface="Cambria Math" panose="02040503050406030204" pitchFamily="18" charset="0"/>
                                  </a:rPr>
                                  <m:t>s</m:t>
                                </m:r>
                              </m:oMath>
                            </m:oMathPara>
                          </a14:m>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9</a:t>
                          </a:r>
                          <a:endParaRPr lang="zh-CN" altLang="en-US" dirty="0"/>
                        </a:p>
                      </a:txBody>
                      <a:tcPr/>
                    </a:tc>
                    <a:tc>
                      <a:txBody>
                        <a:bodyPr/>
                        <a:lstStyle/>
                        <a:p>
                          <a:pPr algn="ctr"/>
                          <a:r>
                            <a:rPr lang="en-US" altLang="zh-CN" dirty="0"/>
                            <a:t>8</a:t>
                          </a:r>
                          <a:endParaRPr lang="zh-CN" altLang="en-US" dirty="0"/>
                        </a:p>
                      </a:txBody>
                      <a:tcPr/>
                    </a:tc>
                    <a:extLst>
                      <a:ext uri="{0D108BD9-81ED-4DB2-BD59-A6C34878D82A}">
                        <a16:rowId xmlns:a16="http://schemas.microsoft.com/office/drawing/2014/main" val="2429047108"/>
                      </a:ext>
                    </a:extLst>
                  </a:tr>
                  <a:tr h="381102">
                    <a:tc>
                      <a:txBody>
                        <a:bodyPr/>
                        <a:lstStyle/>
                        <a:p>
                          <a:pPr/>
                          <a14:m>
                            <m:oMathPara xmlns:m="http://schemas.openxmlformats.org/officeDocument/2006/math">
                              <m:oMathParaPr>
                                <m:jc m:val="centerGroup"/>
                              </m:oMathParaPr>
                              <m:oMath xmlns:m="http://schemas.openxmlformats.org/officeDocument/2006/math">
                                <m:r>
                                  <m:rPr>
                                    <m:sty m:val="p"/>
                                  </m:rPr>
                                  <a:rPr lang="en-US" altLang="zh-CN" sz="1800" smtClean="0">
                                    <a:solidFill>
                                      <a:srgbClr val="FF0000"/>
                                    </a:solidFill>
                                    <a:latin typeface="Cambria Math" panose="02040503050406030204" pitchFamily="18" charset="0"/>
                                  </a:rPr>
                                  <m:t>low</m:t>
                                </m:r>
                              </m:oMath>
                            </m:oMathPara>
                          </a14:m>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b="1" dirty="0">
                              <a:solidFill>
                                <a:srgbClr val="FF0000"/>
                              </a:solidFill>
                            </a:rPr>
                            <a:t>6</a:t>
                          </a:r>
                          <a:endParaRPr lang="zh-CN" altLang="en-US" b="1" dirty="0">
                            <a:solidFill>
                              <a:srgbClr val="FF0000"/>
                            </a:solidFill>
                          </a:endParaRPr>
                        </a:p>
                      </a:txBody>
                      <a:tcPr/>
                    </a:tc>
                    <a:tc>
                      <a:txBody>
                        <a:bodyPr/>
                        <a:lstStyle/>
                        <a:p>
                          <a:pPr algn="ctr"/>
                          <a:r>
                            <a:rPr lang="en-US" altLang="zh-CN" b="1" dirty="0">
                              <a:solidFill>
                                <a:srgbClr val="FF0000"/>
                              </a:solidFill>
                            </a:rPr>
                            <a:t>7</a:t>
                          </a:r>
                          <a:endParaRPr lang="zh-CN" altLang="en-US" b="1" dirty="0">
                            <a:solidFill>
                              <a:srgbClr val="FF0000"/>
                            </a:solidFill>
                          </a:endParaRPr>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293251882"/>
                      </a:ext>
                    </a:extLst>
                  </a:tr>
                </a:tbl>
              </a:graphicData>
            </a:graphic>
          </p:graphicFrame>
        </mc:Choice>
        <mc:Fallback xmlns="">
          <p:graphicFrame>
            <p:nvGraphicFramePr>
              <p:cNvPr id="6" name="表格 5">
                <a:extLst>
                  <a:ext uri="{FF2B5EF4-FFF2-40B4-BE49-F238E27FC236}">
                    <a16:creationId xmlns:a16="http://schemas.microsoft.com/office/drawing/2014/main" id="{FA5C799A-E3B3-43A5-889B-1695C02AC021}"/>
                  </a:ext>
                </a:extLst>
              </p:cNvPr>
              <p:cNvGraphicFramePr>
                <a:graphicFrameLocks noGrp="1"/>
              </p:cNvGraphicFramePr>
              <p:nvPr>
                <p:extLst>
                  <p:ext uri="{D42A27DB-BD31-4B8C-83A1-F6EECF244321}">
                    <p14:modId xmlns:p14="http://schemas.microsoft.com/office/powerpoint/2010/main" val="3352512644"/>
                  </p:ext>
                </p:extLst>
              </p:nvPr>
            </p:nvGraphicFramePr>
            <p:xfrm>
              <a:off x="3143770" y="3860954"/>
              <a:ext cx="6000230" cy="1143306"/>
            </p:xfrm>
            <a:graphic>
              <a:graphicData uri="http://schemas.openxmlformats.org/drawingml/2006/table">
                <a:tbl>
                  <a:tblPr firstRow="1" bandRow="1">
                    <a:tableStyleId>{5C22544A-7EE6-4342-B048-85BDC9FD1C3A}</a:tableStyleId>
                  </a:tblPr>
                  <a:tblGrid>
                    <a:gridCol w="600023">
                      <a:extLst>
                        <a:ext uri="{9D8B030D-6E8A-4147-A177-3AD203B41FA5}">
                          <a16:colId xmlns:a16="http://schemas.microsoft.com/office/drawing/2014/main" val="3884861444"/>
                        </a:ext>
                      </a:extLst>
                    </a:gridCol>
                    <a:gridCol w="600023">
                      <a:extLst>
                        <a:ext uri="{9D8B030D-6E8A-4147-A177-3AD203B41FA5}">
                          <a16:colId xmlns:a16="http://schemas.microsoft.com/office/drawing/2014/main" val="2975623961"/>
                        </a:ext>
                      </a:extLst>
                    </a:gridCol>
                    <a:gridCol w="600023">
                      <a:extLst>
                        <a:ext uri="{9D8B030D-6E8A-4147-A177-3AD203B41FA5}">
                          <a16:colId xmlns:a16="http://schemas.microsoft.com/office/drawing/2014/main" val="1223064291"/>
                        </a:ext>
                      </a:extLst>
                    </a:gridCol>
                    <a:gridCol w="600023">
                      <a:extLst>
                        <a:ext uri="{9D8B030D-6E8A-4147-A177-3AD203B41FA5}">
                          <a16:colId xmlns:a16="http://schemas.microsoft.com/office/drawing/2014/main" val="2394202375"/>
                        </a:ext>
                      </a:extLst>
                    </a:gridCol>
                    <a:gridCol w="600023">
                      <a:extLst>
                        <a:ext uri="{9D8B030D-6E8A-4147-A177-3AD203B41FA5}">
                          <a16:colId xmlns:a16="http://schemas.microsoft.com/office/drawing/2014/main" val="190495378"/>
                        </a:ext>
                      </a:extLst>
                    </a:gridCol>
                    <a:gridCol w="600023">
                      <a:extLst>
                        <a:ext uri="{9D8B030D-6E8A-4147-A177-3AD203B41FA5}">
                          <a16:colId xmlns:a16="http://schemas.microsoft.com/office/drawing/2014/main" val="2433170116"/>
                        </a:ext>
                      </a:extLst>
                    </a:gridCol>
                    <a:gridCol w="600023">
                      <a:extLst>
                        <a:ext uri="{9D8B030D-6E8A-4147-A177-3AD203B41FA5}">
                          <a16:colId xmlns:a16="http://schemas.microsoft.com/office/drawing/2014/main" val="3063558189"/>
                        </a:ext>
                      </a:extLst>
                    </a:gridCol>
                    <a:gridCol w="600023">
                      <a:extLst>
                        <a:ext uri="{9D8B030D-6E8A-4147-A177-3AD203B41FA5}">
                          <a16:colId xmlns:a16="http://schemas.microsoft.com/office/drawing/2014/main" val="1299083616"/>
                        </a:ext>
                      </a:extLst>
                    </a:gridCol>
                    <a:gridCol w="600023">
                      <a:extLst>
                        <a:ext uri="{9D8B030D-6E8A-4147-A177-3AD203B41FA5}">
                          <a16:colId xmlns:a16="http://schemas.microsoft.com/office/drawing/2014/main" val="2522461219"/>
                        </a:ext>
                      </a:extLst>
                    </a:gridCol>
                    <a:gridCol w="600023">
                      <a:extLst>
                        <a:ext uri="{9D8B030D-6E8A-4147-A177-3AD203B41FA5}">
                          <a16:colId xmlns:a16="http://schemas.microsoft.com/office/drawing/2014/main" val="2188692260"/>
                        </a:ext>
                      </a:extLst>
                    </a:gridCol>
                  </a:tblGrid>
                  <a:tr h="381102">
                    <a:tc>
                      <a:txBody>
                        <a:bodyPr/>
                        <a:lstStyle/>
                        <a:p>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364981624"/>
                      </a:ext>
                    </a:extLst>
                  </a:tr>
                  <a:tr h="381102">
                    <a:tc>
                      <a:txBody>
                        <a:bodyPr/>
                        <a:lstStyle/>
                        <a:p>
                          <a:endParaRPr lang="zh-CN"/>
                        </a:p>
                      </a:txBody>
                      <a:tcPr>
                        <a:blipFill>
                          <a:blip r:embed="rId6"/>
                          <a:stretch>
                            <a:fillRect l="-1010" t="-108065" r="-900000" b="-124194"/>
                          </a:stretch>
                        </a:blipFill>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9</a:t>
                          </a:r>
                          <a:endParaRPr lang="zh-CN" altLang="en-US" dirty="0"/>
                        </a:p>
                      </a:txBody>
                      <a:tcPr/>
                    </a:tc>
                    <a:tc>
                      <a:txBody>
                        <a:bodyPr/>
                        <a:lstStyle/>
                        <a:p>
                          <a:pPr algn="ctr"/>
                          <a:r>
                            <a:rPr lang="en-US" altLang="zh-CN" dirty="0"/>
                            <a:t>8</a:t>
                          </a:r>
                          <a:endParaRPr lang="zh-CN" altLang="en-US" dirty="0"/>
                        </a:p>
                      </a:txBody>
                      <a:tcPr/>
                    </a:tc>
                    <a:extLst>
                      <a:ext uri="{0D108BD9-81ED-4DB2-BD59-A6C34878D82A}">
                        <a16:rowId xmlns:a16="http://schemas.microsoft.com/office/drawing/2014/main" val="2429047108"/>
                      </a:ext>
                    </a:extLst>
                  </a:tr>
                  <a:tr h="381102">
                    <a:tc>
                      <a:txBody>
                        <a:bodyPr/>
                        <a:lstStyle/>
                        <a:p>
                          <a:endParaRPr lang="zh-CN"/>
                        </a:p>
                      </a:txBody>
                      <a:tcPr>
                        <a:blipFill>
                          <a:blip r:embed="rId6"/>
                          <a:stretch>
                            <a:fillRect l="-1010" t="-204762" r="-900000" b="-22222"/>
                          </a:stretch>
                        </a:blipFill>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b="1" dirty="0">
                              <a:solidFill>
                                <a:srgbClr val="FF0000"/>
                              </a:solidFill>
                            </a:rPr>
                            <a:t>6</a:t>
                          </a:r>
                          <a:endParaRPr lang="zh-CN" altLang="en-US" b="1" dirty="0">
                            <a:solidFill>
                              <a:srgbClr val="FF0000"/>
                            </a:solidFill>
                          </a:endParaRPr>
                        </a:p>
                      </a:txBody>
                      <a:tcPr/>
                    </a:tc>
                    <a:tc>
                      <a:txBody>
                        <a:bodyPr/>
                        <a:lstStyle/>
                        <a:p>
                          <a:pPr algn="ctr"/>
                          <a:r>
                            <a:rPr lang="en-US" altLang="zh-CN" b="1" dirty="0">
                              <a:solidFill>
                                <a:srgbClr val="FF0000"/>
                              </a:solidFill>
                            </a:rPr>
                            <a:t>7</a:t>
                          </a:r>
                          <a:endParaRPr lang="zh-CN" altLang="en-US" b="1" dirty="0">
                            <a:solidFill>
                              <a:srgbClr val="FF0000"/>
                            </a:solidFill>
                          </a:endParaRPr>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293251882"/>
                      </a:ext>
                    </a:extLst>
                  </a:tr>
                </a:tbl>
              </a:graphicData>
            </a:graphic>
          </p:graphicFrame>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779E52B-B6BD-4B2A-8964-B30E9BF07269}"/>
                  </a:ext>
                </a:extLst>
              </p:cNvPr>
              <p:cNvSpPr txBox="1"/>
              <p:nvPr/>
            </p:nvSpPr>
            <p:spPr>
              <a:xfrm>
                <a:off x="138927" y="5542318"/>
                <a:ext cx="8952451" cy="461665"/>
              </a:xfrm>
              <a:prstGeom prst="rect">
                <a:avLst/>
              </a:prstGeom>
              <a:noFill/>
            </p:spPr>
            <p:txBody>
              <a:bodyPr wrap="none" rtlCol="0">
                <a:spAutoFit/>
              </a:bodyPr>
              <a:lstStyle/>
              <a:p>
                <a14:m>
                  <m:oMath xmlns:m="http://schemas.openxmlformats.org/officeDocument/2006/math">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𝑣</m:t>
                    </m:r>
                    <m:r>
                      <a:rPr lang="en-US" altLang="zh-CN" sz="2400" b="0" i="1" smtClean="0">
                        <a:latin typeface="Cambria Math" panose="02040503050406030204" pitchFamily="18" charset="0"/>
                      </a:rPr>
                      <m:t>)</m:t>
                    </m:r>
                  </m:oMath>
                </a14:m>
                <a:r>
                  <a:rPr lang="zh-CN" altLang="en-US" sz="2400" dirty="0"/>
                  <a:t>是一个割边当且仅当</a:t>
                </a:r>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𝑢</m:t>
                    </m:r>
                    <m:r>
                      <a:rPr lang="en-US" altLang="zh-CN" sz="2400" i="1">
                        <a:latin typeface="Cambria Math" panose="02040503050406030204" pitchFamily="18" charset="0"/>
                      </a:rPr>
                      <m:t>,</m:t>
                    </m:r>
                    <m:r>
                      <a:rPr lang="en-US" altLang="zh-CN" sz="2400" i="1">
                        <a:latin typeface="Cambria Math" panose="02040503050406030204" pitchFamily="18" charset="0"/>
                      </a:rPr>
                      <m:t>𝑣</m:t>
                    </m:r>
                    <m:r>
                      <a:rPr lang="en-US" altLang="zh-CN" sz="2400" i="1">
                        <a:latin typeface="Cambria Math" panose="02040503050406030204" pitchFamily="18" charset="0"/>
                      </a:rPr>
                      <m:t>)</m:t>
                    </m:r>
                  </m:oMath>
                </a14:m>
                <a:r>
                  <a:rPr lang="zh-CN" altLang="en-US" sz="2400" dirty="0"/>
                  <a:t>是树枝边，且满足</a:t>
                </a:r>
                <a14:m>
                  <m:oMath xmlns:m="http://schemas.openxmlformats.org/officeDocument/2006/math">
                    <m:r>
                      <m:rPr>
                        <m:sty m:val="p"/>
                      </m:rPr>
                      <a:rPr lang="en-US" altLang="zh-CN" sz="2400" i="0" dirty="0" smtClean="0">
                        <a:latin typeface="Cambria Math" panose="02040503050406030204" pitchFamily="18" charset="0"/>
                      </a:rPr>
                      <m:t>d</m:t>
                    </m:r>
                    <m:r>
                      <m:rPr>
                        <m:sty m:val="p"/>
                      </m:rPr>
                      <a:rPr lang="en-US" altLang="zh-CN" sz="2400" b="0" i="0" dirty="0" smtClean="0">
                        <a:latin typeface="Cambria Math" panose="02040503050406030204" pitchFamily="18" charset="0"/>
                      </a:rPr>
                      <m:t>fs</m:t>
                    </m:r>
                    <m:d>
                      <m:dPr>
                        <m:begChr m:val="["/>
                        <m:endChr m:val="]"/>
                        <m:ctrlPr>
                          <a:rPr lang="en-US" altLang="zh-CN" sz="2400" b="0" i="1" dirty="0" smtClean="0">
                            <a:latin typeface="Cambria Math" panose="02040503050406030204" pitchFamily="18" charset="0"/>
                          </a:rPr>
                        </m:ctrlPr>
                      </m:dPr>
                      <m:e>
                        <m:r>
                          <a:rPr lang="en-US" altLang="zh-CN" sz="2400" i="1">
                            <a:latin typeface="Cambria Math" panose="02040503050406030204" pitchFamily="18" charset="0"/>
                          </a:rPr>
                          <m:t>𝑢</m:t>
                        </m:r>
                      </m:e>
                    </m:d>
                    <m:r>
                      <a:rPr lang="en-US" altLang="zh-CN" sz="2400" b="0" i="1" smtClean="0">
                        <a:latin typeface="Cambria Math" panose="02040503050406030204" pitchFamily="18" charset="0"/>
                      </a:rPr>
                      <m:t>&lt;</m:t>
                    </m:r>
                    <m:r>
                      <m:rPr>
                        <m:sty m:val="p"/>
                      </m:rPr>
                      <a:rPr lang="en-US" altLang="zh-CN" sz="2400" b="0" i="0" smtClean="0">
                        <a:latin typeface="Cambria Math" panose="02040503050406030204" pitchFamily="18" charset="0"/>
                      </a:rPr>
                      <m:t>low</m:t>
                    </m:r>
                    <m:r>
                      <a:rPr lang="en-US" altLang="zh-CN" sz="2400" b="0" i="1" smtClean="0">
                        <a:latin typeface="Cambria Math" panose="02040503050406030204" pitchFamily="18" charset="0"/>
                      </a:rPr>
                      <m:t>[</m:t>
                    </m:r>
                    <m:r>
                      <a:rPr lang="en-US" altLang="zh-CN" sz="2400" i="1">
                        <a:latin typeface="Cambria Math" panose="02040503050406030204" pitchFamily="18" charset="0"/>
                      </a:rPr>
                      <m:t>𝑣</m:t>
                    </m:r>
                    <m:r>
                      <a:rPr lang="en-US" altLang="zh-CN" sz="2400" b="0" i="1" smtClean="0">
                        <a:latin typeface="Cambria Math" panose="02040503050406030204" pitchFamily="18" charset="0"/>
                      </a:rPr>
                      <m:t>]</m:t>
                    </m:r>
                  </m:oMath>
                </a14:m>
                <a:endParaRPr lang="zh-CN" altLang="en-US" sz="2400" dirty="0"/>
              </a:p>
            </p:txBody>
          </p:sp>
        </mc:Choice>
        <mc:Fallback xmlns="">
          <p:sp>
            <p:nvSpPr>
              <p:cNvPr id="7" name="文本框 6">
                <a:extLst>
                  <a:ext uri="{FF2B5EF4-FFF2-40B4-BE49-F238E27FC236}">
                    <a16:creationId xmlns:a16="http://schemas.microsoft.com/office/drawing/2014/main" id="{E779E52B-B6BD-4B2A-8964-B30E9BF07269}"/>
                  </a:ext>
                </a:extLst>
              </p:cNvPr>
              <p:cNvSpPr txBox="1">
                <a:spLocks noRot="1" noChangeAspect="1" noMove="1" noResize="1" noEditPoints="1" noAdjustHandles="1" noChangeArrowheads="1" noChangeShapeType="1" noTextEdit="1"/>
              </p:cNvSpPr>
              <p:nvPr/>
            </p:nvSpPr>
            <p:spPr>
              <a:xfrm>
                <a:off x="138927" y="5542318"/>
                <a:ext cx="8952451" cy="461665"/>
              </a:xfrm>
              <a:prstGeom prst="rect">
                <a:avLst/>
              </a:prstGeom>
              <a:blipFill>
                <a:blip r:embed="rId7"/>
                <a:stretch>
                  <a:fillRect l="-613"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13560FC-6635-4859-90CF-BEF324127CC7}"/>
                  </a:ext>
                </a:extLst>
              </p:cNvPr>
              <p:cNvSpPr txBox="1"/>
              <p:nvPr/>
            </p:nvSpPr>
            <p:spPr>
              <a:xfrm>
                <a:off x="58411" y="4432607"/>
                <a:ext cx="2977375" cy="830997"/>
              </a:xfrm>
              <a:prstGeom prst="rect">
                <a:avLst/>
              </a:prstGeom>
              <a:noFill/>
            </p:spPr>
            <p:txBody>
              <a:bodyPr wrap="square" rtlCol="0">
                <a:spAutoFit/>
              </a:bodyPr>
              <a:lstStyle/>
              <a:p>
                <a14:m>
                  <m:oMath xmlns:m="http://schemas.openxmlformats.org/officeDocument/2006/math">
                    <m:r>
                      <m:rPr>
                        <m:sty m:val="p"/>
                      </m:rPr>
                      <a:rPr lang="en-US" altLang="zh-CN" sz="1600" smtClean="0">
                        <a:solidFill>
                          <a:srgbClr val="FF0000"/>
                        </a:solidFill>
                        <a:latin typeface="Cambria Math" panose="02040503050406030204" pitchFamily="18" charset="0"/>
                      </a:rPr>
                      <m:t>low</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𝑢</m:t>
                    </m:r>
                    <m:r>
                      <a:rPr lang="en-US" altLang="zh-CN" sz="1600" b="0" i="1" smtClean="0">
                        <a:solidFill>
                          <a:srgbClr val="FF0000"/>
                        </a:solidFill>
                        <a:latin typeface="Cambria Math" panose="02040503050406030204" pitchFamily="18" charset="0"/>
                      </a:rPr>
                      <m:t>]</m:t>
                    </m:r>
                  </m:oMath>
                </a14:m>
                <a:r>
                  <a:rPr lang="en-US" altLang="zh-CN" sz="1600" dirty="0">
                    <a:solidFill>
                      <a:srgbClr val="FF0000"/>
                    </a:solidFill>
                  </a:rPr>
                  <a:t>: </a:t>
                </a:r>
                <a14:m>
                  <m:oMath xmlns:m="http://schemas.openxmlformats.org/officeDocument/2006/math">
                    <m:r>
                      <a:rPr lang="en-US" altLang="zh-CN" sz="1600" b="0" i="1">
                        <a:latin typeface="Cambria Math" panose="02040503050406030204" pitchFamily="18" charset="0"/>
                      </a:rPr>
                      <m:t>𝑢</m:t>
                    </m:r>
                  </m:oMath>
                </a14:m>
                <a:r>
                  <a:rPr lang="en-US" altLang="zh-CN" sz="1600" dirty="0"/>
                  <a:t> </a:t>
                </a:r>
                <a:r>
                  <a:rPr lang="zh-CN" altLang="en-US" sz="1600" dirty="0"/>
                  <a:t>的子树中所有点 和 这些点通过仅一条</a:t>
                </a:r>
                <a:r>
                  <a:rPr lang="zh-CN" altLang="en-US" sz="1600" b="1" dirty="0">
                    <a:solidFill>
                      <a:srgbClr val="3333CC"/>
                    </a:solidFill>
                  </a:rPr>
                  <a:t>返祖边</a:t>
                </a:r>
                <a:r>
                  <a:rPr lang="zh-CN" altLang="en-US" sz="1600" dirty="0"/>
                  <a:t>到达的点的</a:t>
                </a:r>
                <a:r>
                  <a:rPr lang="zh-CN" altLang="en-US" sz="1600" dirty="0">
                    <a:solidFill>
                      <a:srgbClr val="FF0000"/>
                    </a:solidFill>
                  </a:rPr>
                  <a:t>时间戳的最小值。</a:t>
                </a:r>
              </a:p>
            </p:txBody>
          </p:sp>
        </mc:Choice>
        <mc:Fallback xmlns="">
          <p:sp>
            <p:nvSpPr>
              <p:cNvPr id="8" name="文本框 7">
                <a:extLst>
                  <a:ext uri="{FF2B5EF4-FFF2-40B4-BE49-F238E27FC236}">
                    <a16:creationId xmlns:a16="http://schemas.microsoft.com/office/drawing/2014/main" id="{713560FC-6635-4859-90CF-BEF324127CC7}"/>
                  </a:ext>
                </a:extLst>
              </p:cNvPr>
              <p:cNvSpPr txBox="1">
                <a:spLocks noRot="1" noChangeAspect="1" noMove="1" noResize="1" noEditPoints="1" noAdjustHandles="1" noChangeArrowheads="1" noChangeShapeType="1" noTextEdit="1"/>
              </p:cNvSpPr>
              <p:nvPr/>
            </p:nvSpPr>
            <p:spPr>
              <a:xfrm>
                <a:off x="58411" y="4432607"/>
                <a:ext cx="2977375" cy="830997"/>
              </a:xfrm>
              <a:prstGeom prst="rect">
                <a:avLst/>
              </a:prstGeom>
              <a:blipFill>
                <a:blip r:embed="rId8"/>
                <a:stretch>
                  <a:fillRect l="-1230" t="-2941" b="-95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84E22B4-F734-4BB7-93A5-AD6453192C1D}"/>
                  </a:ext>
                </a:extLst>
              </p:cNvPr>
              <p:cNvSpPr txBox="1"/>
              <p:nvPr/>
            </p:nvSpPr>
            <p:spPr>
              <a:xfrm>
                <a:off x="68920" y="3860954"/>
                <a:ext cx="3064341" cy="584775"/>
              </a:xfrm>
              <a:prstGeom prst="rect">
                <a:avLst/>
              </a:prstGeom>
              <a:noFill/>
            </p:spPr>
            <p:txBody>
              <a:bodyPr wrap="square" rtlCol="0">
                <a:spAutoFit/>
              </a:bodyPr>
              <a:lstStyle/>
              <a:p>
                <a14:m>
                  <m:oMath xmlns:m="http://schemas.openxmlformats.org/officeDocument/2006/math">
                    <m:r>
                      <m:rPr>
                        <m:sty m:val="p"/>
                      </m:rPr>
                      <a:rPr lang="en-US" altLang="zh-CN" sz="1600" i="0" smtClean="0">
                        <a:solidFill>
                          <a:srgbClr val="FF0000"/>
                        </a:solidFill>
                        <a:latin typeface="Cambria Math" panose="02040503050406030204" pitchFamily="18" charset="0"/>
                      </a:rPr>
                      <m:t>df</m:t>
                    </m:r>
                    <m:r>
                      <m:rPr>
                        <m:sty m:val="p"/>
                      </m:rPr>
                      <a:rPr lang="en-US" altLang="zh-CN" sz="1600" b="0" i="0" smtClean="0">
                        <a:solidFill>
                          <a:srgbClr val="FF0000"/>
                        </a:solidFill>
                        <a:latin typeface="Cambria Math" panose="02040503050406030204" pitchFamily="18" charset="0"/>
                      </a:rPr>
                      <m:t>s</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𝑢</m:t>
                    </m:r>
                    <m:r>
                      <a:rPr lang="en-US" altLang="zh-CN" sz="1600" b="0" i="1" smtClean="0">
                        <a:solidFill>
                          <a:srgbClr val="FF0000"/>
                        </a:solidFill>
                        <a:latin typeface="Cambria Math" panose="02040503050406030204" pitchFamily="18" charset="0"/>
                      </a:rPr>
                      <m:t>]</m:t>
                    </m:r>
                  </m:oMath>
                </a14:m>
                <a:r>
                  <a:rPr lang="en-US" altLang="zh-CN" sz="1600" dirty="0">
                    <a:solidFill>
                      <a:srgbClr val="FF0000"/>
                    </a:solidFill>
                  </a:rPr>
                  <a:t>:</a:t>
                </a:r>
                <a:r>
                  <a:rPr lang="zh-CN" altLang="en-US" sz="1600" dirty="0"/>
                  <a:t>在</a:t>
                </a:r>
                <a:r>
                  <a:rPr lang="en-US" altLang="zh-CN" sz="1600" dirty="0"/>
                  <a:t>dfs </a:t>
                </a:r>
                <a:r>
                  <a:rPr lang="zh-CN" altLang="en-US" sz="1600" dirty="0"/>
                  <a:t>的过程中，每个节点的访问顺序，记为时间戳。</a:t>
                </a:r>
                <a:endParaRPr lang="zh-CN" altLang="en-US" sz="1600" dirty="0">
                  <a:solidFill>
                    <a:srgbClr val="FF0000"/>
                  </a:solidFill>
                </a:endParaRPr>
              </a:p>
            </p:txBody>
          </p:sp>
        </mc:Choice>
        <mc:Fallback xmlns="">
          <p:sp>
            <p:nvSpPr>
              <p:cNvPr id="9" name="文本框 8">
                <a:extLst>
                  <a:ext uri="{FF2B5EF4-FFF2-40B4-BE49-F238E27FC236}">
                    <a16:creationId xmlns:a16="http://schemas.microsoft.com/office/drawing/2014/main" id="{484E22B4-F734-4BB7-93A5-AD6453192C1D}"/>
                  </a:ext>
                </a:extLst>
              </p:cNvPr>
              <p:cNvSpPr txBox="1">
                <a:spLocks noRot="1" noChangeAspect="1" noMove="1" noResize="1" noEditPoints="1" noAdjustHandles="1" noChangeArrowheads="1" noChangeShapeType="1" noTextEdit="1"/>
              </p:cNvSpPr>
              <p:nvPr/>
            </p:nvSpPr>
            <p:spPr>
              <a:xfrm>
                <a:off x="68920" y="3860954"/>
                <a:ext cx="3064341" cy="584775"/>
              </a:xfrm>
              <a:prstGeom prst="rect">
                <a:avLst/>
              </a:prstGeom>
              <a:blipFill>
                <a:blip r:embed="rId9"/>
                <a:stretch>
                  <a:fillRect l="-994" t="-4167" b="-13542"/>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48640920-5C9A-4C6B-A37F-446782D5B220}"/>
              </a:ext>
            </a:extLst>
          </p:cNvPr>
          <p:cNvSpPr txBox="1"/>
          <p:nvPr/>
        </p:nvSpPr>
        <p:spPr>
          <a:xfrm>
            <a:off x="6069786" y="3015119"/>
            <a:ext cx="148197" cy="307777"/>
          </a:xfrm>
          <a:prstGeom prst="rect">
            <a:avLst/>
          </a:prstGeom>
          <a:solidFill>
            <a:schemeClr val="bg1"/>
          </a:solidFill>
        </p:spPr>
        <p:txBody>
          <a:bodyPr wrap="square" rtlCol="0">
            <a:spAutoFit/>
          </a:bodyPr>
          <a:lstStyle/>
          <a:p>
            <a:r>
              <a:rPr lang="en-US" altLang="zh-CN" sz="1400" dirty="0">
                <a:solidFill>
                  <a:srgbClr val="FF0000"/>
                </a:solidFill>
              </a:rPr>
              <a:t>7</a:t>
            </a:r>
            <a:endParaRPr lang="zh-CN" altLang="en-US" sz="1400" dirty="0">
              <a:solidFill>
                <a:srgbClr val="FF0000"/>
              </a:solidFill>
            </a:endParaRPr>
          </a:p>
        </p:txBody>
      </p:sp>
      <p:sp>
        <p:nvSpPr>
          <p:cNvPr id="11" name="文本框 10">
            <a:extLst>
              <a:ext uri="{FF2B5EF4-FFF2-40B4-BE49-F238E27FC236}">
                <a16:creationId xmlns:a16="http://schemas.microsoft.com/office/drawing/2014/main" id="{7E56BDEE-8AA4-40A5-88D2-7765DDDD4220}"/>
              </a:ext>
            </a:extLst>
          </p:cNvPr>
          <p:cNvSpPr txBox="1"/>
          <p:nvPr/>
        </p:nvSpPr>
        <p:spPr>
          <a:xfrm>
            <a:off x="6366787" y="2614062"/>
            <a:ext cx="181496" cy="307777"/>
          </a:xfrm>
          <a:prstGeom prst="rect">
            <a:avLst/>
          </a:prstGeom>
          <a:solidFill>
            <a:schemeClr val="bg1"/>
          </a:solidFill>
          <a:effectLst>
            <a:outerShdw blurRad="50800" dist="50800" dir="5400000" algn="ctr" rotWithShape="0">
              <a:schemeClr val="bg1"/>
            </a:outerShdw>
          </a:effectLst>
        </p:spPr>
        <p:txBody>
          <a:bodyPr wrap="square" rtlCol="0">
            <a:spAutoFit/>
          </a:bodyPr>
          <a:lstStyle/>
          <a:p>
            <a:r>
              <a:rPr lang="en-US" altLang="zh-CN" sz="1400" dirty="0">
                <a:solidFill>
                  <a:srgbClr val="FF0000"/>
                </a:solidFill>
              </a:rPr>
              <a:t>6</a:t>
            </a:r>
            <a:endParaRPr lang="zh-CN" altLang="en-US" sz="1400" dirty="0">
              <a:solidFill>
                <a:srgbClr val="FF0000"/>
              </a:solidFill>
            </a:endParaRPr>
          </a:p>
        </p:txBody>
      </p:sp>
    </p:spTree>
    <p:extLst>
      <p:ext uri="{BB962C8B-B14F-4D97-AF65-F5344CB8AC3E}">
        <p14:creationId xmlns:p14="http://schemas.microsoft.com/office/powerpoint/2010/main" val="33886030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5" descr="1"/>
          <p:cNvPicPr>
            <a:picLocks noChangeAspect="1" noChangeArrowheads="1"/>
          </p:cNvPicPr>
          <p:nvPr/>
        </p:nvPicPr>
        <p:blipFill>
          <a:blip r:embed="rId2">
            <a:lum bright="36000" contrast="-60000"/>
            <a:extLst>
              <a:ext uri="{28A0092B-C50C-407E-A947-70E740481C1C}">
                <a14:useLocalDpi xmlns:a14="http://schemas.microsoft.com/office/drawing/2010/main" val="0"/>
              </a:ext>
            </a:extLst>
          </a:blip>
          <a:srcRect t="9599" b="5481"/>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WordArt 4"/>
          <p:cNvSpPr>
            <a:spLocks noChangeArrowheads="1" noChangeShapeType="1" noTextEdit="1"/>
          </p:cNvSpPr>
          <p:nvPr/>
        </p:nvSpPr>
        <p:spPr bwMode="auto">
          <a:xfrm>
            <a:off x="3540125" y="4511675"/>
            <a:ext cx="5073650" cy="1965325"/>
          </a:xfrm>
          <a:prstGeom prst="rect">
            <a:avLst/>
          </a:prstGeom>
        </p:spPr>
        <p:txBody>
          <a:bodyPr wrap="none" fromWordArt="1">
            <a:prstTxWarp prst="textCascadeUp">
              <a:avLst>
                <a:gd name="adj" fmla="val 44444"/>
              </a:avLst>
            </a:prstTxWarp>
            <a:scene3d>
              <a:camera prst="legacyPerspectiveFront">
                <a:rot lat="20519958" lon="1080000" rev="0"/>
              </a:camera>
              <a:lightRig rig="legacyHarsh2" dir="b"/>
            </a:scene3d>
            <a:sp3d extrusionH="430200" prstMaterial="legacyMatte">
              <a:extrusionClr>
                <a:srgbClr val="FF6600"/>
              </a:extrusionClr>
              <a:contourClr>
                <a:srgbClr val="FFE701"/>
              </a:contourClr>
            </a:sp3d>
          </a:bodyPr>
          <a:lstStyle/>
          <a:p>
            <a:pPr algn="ctr"/>
            <a:r>
              <a:rPr lang="zh-CN" altLang="en-US" kern="10" dirty="0">
                <a:ln w="9525">
                  <a:round/>
                  <a:headEnd/>
                  <a:tailEnd/>
                </a:ln>
                <a:gradFill rotWithShape="1">
                  <a:gsLst>
                    <a:gs pos="0">
                      <a:srgbClr val="FFE701"/>
                    </a:gs>
                    <a:gs pos="100000">
                      <a:srgbClr val="FE3E02"/>
                    </a:gs>
                  </a:gsLst>
                  <a:lin ang="5400000" scaled="1"/>
                </a:gradFill>
                <a:latin typeface="黑体" panose="02010609060101010101" pitchFamily="49" charset="-122"/>
                <a:ea typeface="黑体" panose="02010609060101010101" pitchFamily="49" charset="-122"/>
              </a:rPr>
              <a:t>谢谢</a:t>
            </a:r>
          </a:p>
        </p:txBody>
      </p:sp>
    </p:spTree>
    <p:extLst>
      <p:ext uri="{BB962C8B-B14F-4D97-AF65-F5344CB8AC3E}">
        <p14:creationId xmlns:p14="http://schemas.microsoft.com/office/powerpoint/2010/main" val="2559282176"/>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ctrTitle"/>
          </p:nvPr>
        </p:nvSpPr>
        <p:spPr>
          <a:xfrm>
            <a:off x="623888" y="217488"/>
            <a:ext cx="8266112" cy="1876425"/>
          </a:xfrm>
        </p:spPr>
        <p:txBody>
          <a:bodyPr/>
          <a:lstStyle/>
          <a:p>
            <a:pPr eaLnBrk="1" hangingPunct="1">
              <a:lnSpc>
                <a:spcPct val="120000"/>
              </a:lnSpc>
            </a:pPr>
            <a:r>
              <a:rPr lang="zh-CN" altLang="en-US" sz="4800" dirty="0">
                <a:latin typeface="黑体" panose="02010609060101010101" pitchFamily="49" charset="-122"/>
                <a:ea typeface="黑体" panose="02010609060101010101" pitchFamily="49" charset="-122"/>
              </a:rPr>
              <a:t>支配集、覆盖集与独立集</a:t>
            </a:r>
          </a:p>
        </p:txBody>
      </p:sp>
      <p:sp>
        <p:nvSpPr>
          <p:cNvPr id="73731" name="Rectangle 6"/>
          <p:cNvSpPr>
            <a:spLocks noGrp="1" noChangeArrowheads="1"/>
          </p:cNvSpPr>
          <p:nvPr>
            <p:ph type="subTitle" idx="1"/>
          </p:nvPr>
        </p:nvSpPr>
        <p:spPr>
          <a:xfrm>
            <a:off x="5486400" y="4816475"/>
            <a:ext cx="3425825" cy="1385888"/>
          </a:xfrm>
          <a:noFill/>
        </p:spPr>
        <p:txBody>
          <a:bodyPr/>
          <a:lstStyle/>
          <a:p>
            <a:pPr eaLnBrk="1" hangingPunct="1">
              <a:lnSpc>
                <a:spcPct val="120000"/>
              </a:lnSpc>
              <a:spcBef>
                <a:spcPct val="20000"/>
              </a:spcBef>
              <a:spcAft>
                <a:spcPct val="0"/>
              </a:spcAft>
              <a:buClrTx/>
            </a:pPr>
            <a:r>
              <a:rPr lang="zh-CN" altLang="en-US" sz="2800">
                <a:solidFill>
                  <a:schemeClr val="bg1"/>
                </a:solidFill>
                <a:latin typeface="黑体" panose="02010609060101010101" pitchFamily="49" charset="-122"/>
                <a:ea typeface="黑体" panose="02010609060101010101" pitchFamily="49" charset="-122"/>
              </a:rPr>
              <a:t>北京航空航天大学</a:t>
            </a:r>
            <a:endParaRPr lang="en-US" altLang="zh-CN" sz="2800">
              <a:solidFill>
                <a:schemeClr val="bg1"/>
              </a:solidFill>
              <a:latin typeface="黑体" panose="02010609060101010101" pitchFamily="49" charset="-122"/>
              <a:ea typeface="黑体" panose="02010609060101010101" pitchFamily="49" charset="-122"/>
            </a:endParaRPr>
          </a:p>
          <a:p>
            <a:pPr eaLnBrk="1" hangingPunct="1">
              <a:lnSpc>
                <a:spcPct val="120000"/>
              </a:lnSpc>
              <a:spcBef>
                <a:spcPct val="20000"/>
              </a:spcBef>
              <a:spcAft>
                <a:spcPct val="0"/>
              </a:spcAft>
              <a:buClrTx/>
            </a:pPr>
            <a:r>
              <a:rPr lang="en-US" altLang="zh-CN" sz="2800">
                <a:solidFill>
                  <a:schemeClr val="bg1"/>
                </a:solidFill>
                <a:latin typeface="黑体" panose="02010609060101010101" pitchFamily="49" charset="-122"/>
                <a:ea typeface="黑体" panose="02010609060101010101" pitchFamily="49" charset="-122"/>
              </a:rPr>
              <a:t>《</a:t>
            </a:r>
            <a:r>
              <a:rPr lang="zh-CN" altLang="en-US" sz="2800">
                <a:solidFill>
                  <a:schemeClr val="bg1"/>
                </a:solidFill>
                <a:latin typeface="黑体" panose="02010609060101010101" pitchFamily="49" charset="-122"/>
                <a:ea typeface="黑体" panose="02010609060101010101" pitchFamily="49" charset="-122"/>
              </a:rPr>
              <a:t>离散数学</a:t>
            </a:r>
            <a:r>
              <a:rPr lang="en-US" altLang="zh-CN" sz="2800">
                <a:solidFill>
                  <a:schemeClr val="bg1"/>
                </a:solidFill>
                <a:latin typeface="黑体" panose="02010609060101010101" pitchFamily="49" charset="-122"/>
                <a:ea typeface="黑体" panose="02010609060101010101" pitchFamily="49" charset="-122"/>
              </a:rPr>
              <a:t>》</a:t>
            </a:r>
            <a:r>
              <a:rPr lang="zh-CN" altLang="en-US" sz="2800">
                <a:solidFill>
                  <a:schemeClr val="bg1"/>
                </a:solidFill>
                <a:latin typeface="黑体" panose="02010609060101010101" pitchFamily="49" charset="-122"/>
                <a:ea typeface="黑体" panose="02010609060101010101" pitchFamily="49" charset="-122"/>
              </a:rPr>
              <a:t>课程组20</a:t>
            </a:r>
            <a:r>
              <a:rPr lang="en-US" altLang="zh-CN" sz="2800">
                <a:solidFill>
                  <a:schemeClr val="bg1"/>
                </a:solidFill>
                <a:latin typeface="黑体" panose="02010609060101010101" pitchFamily="49" charset="-122"/>
                <a:ea typeface="黑体" panose="02010609060101010101" pitchFamily="49" charset="-122"/>
              </a:rPr>
              <a:t>22-7</a:t>
            </a:r>
          </a:p>
        </p:txBody>
      </p:sp>
    </p:spTree>
    <p:extLst>
      <p:ext uri="{BB962C8B-B14F-4D97-AF65-F5344CB8AC3E}">
        <p14:creationId xmlns:p14="http://schemas.microsoft.com/office/powerpoint/2010/main" val="1733359036"/>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1"/>
          <p:cNvSpPr>
            <a:spLocks noGrp="1"/>
          </p:cNvSpPr>
          <p:nvPr>
            <p:ph type="title" idx="4294967295"/>
          </p:nvPr>
        </p:nvSpPr>
        <p:spPr/>
        <p:txBody>
          <a:bodyPr/>
          <a:lstStyle/>
          <a:p>
            <a:pPr>
              <a:lnSpc>
                <a:spcPct val="120000"/>
              </a:lnSpc>
              <a:spcAft>
                <a:spcPct val="20000"/>
              </a:spcAft>
              <a:buClr>
                <a:srgbClr val="336699"/>
              </a:buClr>
            </a:pPr>
            <a:r>
              <a:rPr lang="zh-CN" altLang="en-US" sz="3600" dirty="0">
                <a:latin typeface="黑体" panose="02010609060101010101" pitchFamily="49" charset="-122"/>
                <a:ea typeface="黑体" panose="02010609060101010101" pitchFamily="49" charset="-122"/>
                <a:cs typeface="+mn-cs"/>
              </a:rPr>
              <a:t>提纲</a:t>
            </a:r>
          </a:p>
        </p:txBody>
      </p:sp>
      <p:sp>
        <p:nvSpPr>
          <p:cNvPr id="17411" name="内容占位符 2"/>
          <p:cNvSpPr>
            <a:spLocks noGrp="1"/>
          </p:cNvSpPr>
          <p:nvPr>
            <p:ph idx="1"/>
          </p:nvPr>
        </p:nvSpPr>
        <p:spPr/>
        <p:txBody>
          <a:bodyPr/>
          <a:lstStyle/>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10.1</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引言</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10.2</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无向图及有向图</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10.3</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特殊图</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10.4</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子图</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10.5</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图的矩阵表示</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10.6</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通路和回路</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10.7</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割集与圈</a:t>
            </a:r>
            <a:endParaRPr lang="en-US" altLang="zh-CN" sz="2800" b="0" dirty="0">
              <a:latin typeface="黑体" panose="02010609060101010101" pitchFamily="49" charset="-122"/>
              <a:ea typeface="黑体" panose="02010609060101010101" pitchFamily="49" charset="-122"/>
            </a:endParaRPr>
          </a:p>
          <a:p>
            <a:pPr>
              <a:lnSpc>
                <a:spcPct val="120000"/>
              </a:lnSpc>
              <a:defRPr/>
            </a:pPr>
            <a:r>
              <a:rPr lang="en-US" altLang="zh-CN" sz="2800"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10.8</a:t>
            </a:r>
            <a:r>
              <a:rPr lang="en-US" altLang="zh-CN" sz="2800" b="0" dirty="0">
                <a:solidFill>
                  <a:srgbClr val="FF0000"/>
                </a:solidFill>
                <a:latin typeface="黑体" panose="02010609060101010101" pitchFamily="49" charset="-122"/>
                <a:ea typeface="黑体" panose="02010609060101010101" pitchFamily="49" charset="-122"/>
              </a:rPr>
              <a:t> </a:t>
            </a:r>
            <a:r>
              <a:rPr lang="zh-CN" altLang="en-US" sz="2800" b="0" dirty="0">
                <a:solidFill>
                  <a:srgbClr val="FF0000"/>
                </a:solidFill>
                <a:latin typeface="黑体" panose="02010609060101010101" pitchFamily="49" charset="-122"/>
                <a:ea typeface="黑体" panose="02010609060101010101" pitchFamily="49" charset="-122"/>
              </a:rPr>
              <a:t>支配集、覆盖集与独立集</a:t>
            </a:r>
            <a:endParaRPr lang="en-US" altLang="zh-CN" sz="2800" b="0" dirty="0">
              <a:solidFill>
                <a:srgbClr val="FF0000"/>
              </a:solidFill>
              <a:latin typeface="黑体" panose="02010609060101010101" pitchFamily="49" charset="-122"/>
              <a:ea typeface="黑体" panose="02010609060101010101" pitchFamily="49" charset="-122"/>
            </a:endParaRPr>
          </a:p>
          <a:p>
            <a:pPr marL="0" indent="0">
              <a:lnSpc>
                <a:spcPct val="120000"/>
              </a:lnSpc>
              <a:buFont typeface="Wingdings" panose="05000000000000000000" pitchFamily="2" charset="2"/>
              <a:buNone/>
              <a:defRPr/>
            </a:pPr>
            <a:endParaRPr lang="en-US" altLang="zh-CN" sz="2800" b="0" dirty="0">
              <a:latin typeface="黑体" panose="02010609060101010101" pitchFamily="49" charset="-122"/>
              <a:ea typeface="黑体" panose="02010609060101010101" pitchFamily="49" charset="-122"/>
            </a:endParaRPr>
          </a:p>
          <a:p>
            <a:pPr>
              <a:lnSpc>
                <a:spcPct val="120000"/>
              </a:lnSpc>
              <a:defRPr/>
            </a:pPr>
            <a:endParaRPr lang="en-US" altLang="zh-CN" sz="2800" b="0" dirty="0">
              <a:latin typeface="黑体" panose="02010609060101010101" pitchFamily="49" charset="-122"/>
              <a:ea typeface="黑体" panose="02010609060101010101" pitchFamily="49" charset="-122"/>
            </a:endParaRPr>
          </a:p>
          <a:p>
            <a:pPr>
              <a:lnSpc>
                <a:spcPct val="120000"/>
              </a:lnSpc>
              <a:defRPr/>
            </a:pPr>
            <a:endParaRPr lang="zh-CN" altLang="en-US" sz="2800" b="0" dirty="0">
              <a:latin typeface="黑体" panose="02010609060101010101" pitchFamily="49" charset="-122"/>
              <a:ea typeface="黑体" panose="02010609060101010101" pitchFamily="49" charset="-122"/>
            </a:endParaRPr>
          </a:p>
        </p:txBody>
      </p:sp>
    </p:spTree>
  </p:cSld>
  <p:clrMapOvr>
    <a:masterClrMapping/>
  </p:clrMapOvr>
  <p:transition advTm="15028">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p:txBody>
          <a:bodyPr/>
          <a:lstStyle/>
          <a:p>
            <a:r>
              <a:rPr lang="en-US" altLang="zh-CN" sz="3600" dirty="0">
                <a:latin typeface="Times New Roman" panose="02020603050405020304" pitchFamily="18" charset="0"/>
                <a:cs typeface="Times New Roman" panose="02020603050405020304" pitchFamily="18" charset="0"/>
              </a:rPr>
              <a:t>POJ 3041: Asteroids</a:t>
            </a:r>
          </a:p>
        </p:txBody>
      </p:sp>
      <p:sp>
        <p:nvSpPr>
          <p:cNvPr id="8" name="内容占位符 2"/>
          <p:cNvSpPr>
            <a:spLocks noGrp="1"/>
          </p:cNvSpPr>
          <p:nvPr>
            <p:ph idx="1"/>
          </p:nvPr>
        </p:nvSpPr>
        <p:spPr>
          <a:xfrm>
            <a:off x="61912" y="2827202"/>
            <a:ext cx="7053263" cy="1763848"/>
          </a:xfrm>
        </p:spPr>
        <p:txBody>
          <a:bodyPr/>
          <a:lstStyle/>
          <a:p>
            <a:pPr>
              <a:lnSpc>
                <a:spcPct val="120000"/>
              </a:lnSpc>
            </a:pPr>
            <a:r>
              <a:rPr lang="zh-CN" altLang="en-US" sz="2800" dirty="0"/>
              <a:t>输入</a:t>
            </a:r>
            <a:r>
              <a:rPr lang="en-US" altLang="zh-CN" sz="2800" dirty="0">
                <a:sym typeface="Wingdings" panose="05000000000000000000" pitchFamily="2" charset="2"/>
              </a:rPr>
              <a:t>: </a:t>
            </a:r>
            <a:r>
              <a:rPr lang="en-US" altLang="zh-CN" sz="2800" dirty="0">
                <a:latin typeface="Times New Roman" panose="02020603050405020304" pitchFamily="18" charset="0"/>
                <a:cs typeface="Times New Roman" panose="02020603050405020304" pitchFamily="18" charset="0"/>
                <a:sym typeface="Wingdings" panose="05000000000000000000" pitchFamily="2" charset="2"/>
              </a:rPr>
              <a:t>(1,1), (1,3), (2,2), (3,2)</a:t>
            </a:r>
            <a:endParaRPr lang="zh-CN" altLang="en-US" sz="2800" dirty="0">
              <a:latin typeface="Times New Roman" panose="02020603050405020304" pitchFamily="18" charset="0"/>
              <a:cs typeface="Times New Roman" panose="02020603050405020304" pitchFamily="18" charset="0"/>
            </a:endParaRPr>
          </a:p>
        </p:txBody>
      </p:sp>
      <p:cxnSp>
        <p:nvCxnSpPr>
          <p:cNvPr id="3" name="直接箭头连接符 2">
            <a:extLst>
              <a:ext uri="{FF2B5EF4-FFF2-40B4-BE49-F238E27FC236}">
                <a16:creationId xmlns:a16="http://schemas.microsoft.com/office/drawing/2014/main" id="{F3E6B452-475D-446A-A950-D82F12E28D21}"/>
              </a:ext>
            </a:extLst>
          </p:cNvPr>
          <p:cNvCxnSpPr/>
          <p:nvPr/>
        </p:nvCxnSpPr>
        <p:spPr bwMode="auto">
          <a:xfrm>
            <a:off x="5791200" y="2634343"/>
            <a:ext cx="2558143" cy="0"/>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cxnSp>
        <p:nvCxnSpPr>
          <p:cNvPr id="9" name="直接箭头连接符 8">
            <a:extLst>
              <a:ext uri="{FF2B5EF4-FFF2-40B4-BE49-F238E27FC236}">
                <a16:creationId xmlns:a16="http://schemas.microsoft.com/office/drawing/2014/main" id="{534614E9-C916-439E-B3CF-2CE3CB6FB9F5}"/>
              </a:ext>
            </a:extLst>
          </p:cNvPr>
          <p:cNvCxnSpPr/>
          <p:nvPr/>
        </p:nvCxnSpPr>
        <p:spPr bwMode="auto">
          <a:xfrm>
            <a:off x="5791200" y="2953919"/>
            <a:ext cx="2558143" cy="0"/>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cxnSp>
        <p:nvCxnSpPr>
          <p:cNvPr id="10" name="直接箭头连接符 9">
            <a:extLst>
              <a:ext uri="{FF2B5EF4-FFF2-40B4-BE49-F238E27FC236}">
                <a16:creationId xmlns:a16="http://schemas.microsoft.com/office/drawing/2014/main" id="{D0CE9457-C599-4B33-B604-40D506E04A29}"/>
              </a:ext>
            </a:extLst>
          </p:cNvPr>
          <p:cNvCxnSpPr/>
          <p:nvPr/>
        </p:nvCxnSpPr>
        <p:spPr bwMode="auto">
          <a:xfrm>
            <a:off x="5791200" y="3273495"/>
            <a:ext cx="2558143" cy="0"/>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cxnSp>
        <p:nvCxnSpPr>
          <p:cNvPr id="11" name="直接箭头连接符 10">
            <a:extLst>
              <a:ext uri="{FF2B5EF4-FFF2-40B4-BE49-F238E27FC236}">
                <a16:creationId xmlns:a16="http://schemas.microsoft.com/office/drawing/2014/main" id="{D46F97BD-29D1-4C4D-9DA7-B88BD4C3E914}"/>
              </a:ext>
            </a:extLst>
          </p:cNvPr>
          <p:cNvCxnSpPr/>
          <p:nvPr/>
        </p:nvCxnSpPr>
        <p:spPr bwMode="auto">
          <a:xfrm>
            <a:off x="5791200" y="3593071"/>
            <a:ext cx="2558143" cy="0"/>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cxnSp>
        <p:nvCxnSpPr>
          <p:cNvPr id="12" name="直接箭头连接符 11">
            <a:extLst>
              <a:ext uri="{FF2B5EF4-FFF2-40B4-BE49-F238E27FC236}">
                <a16:creationId xmlns:a16="http://schemas.microsoft.com/office/drawing/2014/main" id="{1F6B9411-276E-4E62-9136-24675E4AB12A}"/>
              </a:ext>
            </a:extLst>
          </p:cNvPr>
          <p:cNvCxnSpPr/>
          <p:nvPr/>
        </p:nvCxnSpPr>
        <p:spPr bwMode="auto">
          <a:xfrm>
            <a:off x="5791200" y="3912647"/>
            <a:ext cx="2558143" cy="0"/>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cxnSp>
        <p:nvCxnSpPr>
          <p:cNvPr id="13" name="直接箭头连接符 12">
            <a:extLst>
              <a:ext uri="{FF2B5EF4-FFF2-40B4-BE49-F238E27FC236}">
                <a16:creationId xmlns:a16="http://schemas.microsoft.com/office/drawing/2014/main" id="{CC8FFB1A-45DE-49CA-A544-C81C63436091}"/>
              </a:ext>
            </a:extLst>
          </p:cNvPr>
          <p:cNvCxnSpPr>
            <a:cxnSpLocks/>
          </p:cNvCxnSpPr>
          <p:nvPr/>
        </p:nvCxnSpPr>
        <p:spPr bwMode="auto">
          <a:xfrm>
            <a:off x="5800042" y="2634343"/>
            <a:ext cx="0" cy="1278304"/>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cxnSp>
        <p:nvCxnSpPr>
          <p:cNvPr id="14" name="直接箭头连接符 13">
            <a:extLst>
              <a:ext uri="{FF2B5EF4-FFF2-40B4-BE49-F238E27FC236}">
                <a16:creationId xmlns:a16="http://schemas.microsoft.com/office/drawing/2014/main" id="{11A6720B-A78E-4421-ACFB-06950303EC3B}"/>
              </a:ext>
            </a:extLst>
          </p:cNvPr>
          <p:cNvCxnSpPr>
            <a:cxnSpLocks/>
          </p:cNvCxnSpPr>
          <p:nvPr/>
        </p:nvCxnSpPr>
        <p:spPr bwMode="auto">
          <a:xfrm>
            <a:off x="6431413" y="2634343"/>
            <a:ext cx="0" cy="1278304"/>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cxnSp>
        <p:nvCxnSpPr>
          <p:cNvPr id="15" name="直接箭头连接符 14">
            <a:extLst>
              <a:ext uri="{FF2B5EF4-FFF2-40B4-BE49-F238E27FC236}">
                <a16:creationId xmlns:a16="http://schemas.microsoft.com/office/drawing/2014/main" id="{AC48436D-7E1F-4C1B-9B78-0F56CDAD1721}"/>
              </a:ext>
            </a:extLst>
          </p:cNvPr>
          <p:cNvCxnSpPr>
            <a:cxnSpLocks/>
          </p:cNvCxnSpPr>
          <p:nvPr/>
        </p:nvCxnSpPr>
        <p:spPr bwMode="auto">
          <a:xfrm>
            <a:off x="7062785" y="2634343"/>
            <a:ext cx="0" cy="1278304"/>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cxnSp>
        <p:nvCxnSpPr>
          <p:cNvPr id="16" name="直接箭头连接符 15">
            <a:extLst>
              <a:ext uri="{FF2B5EF4-FFF2-40B4-BE49-F238E27FC236}">
                <a16:creationId xmlns:a16="http://schemas.microsoft.com/office/drawing/2014/main" id="{7491CEFE-8FF1-4426-886D-56535CC02B37}"/>
              </a:ext>
            </a:extLst>
          </p:cNvPr>
          <p:cNvCxnSpPr>
            <a:cxnSpLocks/>
          </p:cNvCxnSpPr>
          <p:nvPr/>
        </p:nvCxnSpPr>
        <p:spPr bwMode="auto">
          <a:xfrm>
            <a:off x="7694157" y="2634343"/>
            <a:ext cx="0" cy="1278304"/>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cxnSp>
        <p:nvCxnSpPr>
          <p:cNvPr id="17" name="直接箭头连接符 16">
            <a:extLst>
              <a:ext uri="{FF2B5EF4-FFF2-40B4-BE49-F238E27FC236}">
                <a16:creationId xmlns:a16="http://schemas.microsoft.com/office/drawing/2014/main" id="{41102805-B295-41FD-98AF-FE294982EC0F}"/>
              </a:ext>
            </a:extLst>
          </p:cNvPr>
          <p:cNvCxnSpPr>
            <a:cxnSpLocks/>
          </p:cNvCxnSpPr>
          <p:nvPr/>
        </p:nvCxnSpPr>
        <p:spPr bwMode="auto">
          <a:xfrm>
            <a:off x="8340497" y="2634343"/>
            <a:ext cx="0" cy="1278304"/>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25400" cap="flat" cmpd="sng" algn="ctr">
            <a:solidFill>
              <a:schemeClr val="accent1"/>
            </a:solidFill>
            <a:prstDash val="solid"/>
            <a:round/>
            <a:headEnd type="none" w="med" len="med"/>
            <a:tailEnd type="none"/>
          </a:ln>
          <a:effectLst/>
        </p:spPr>
      </p:cxnSp>
      <p:sp>
        <p:nvSpPr>
          <p:cNvPr id="52" name="椭圆 51">
            <a:extLst>
              <a:ext uri="{FF2B5EF4-FFF2-40B4-BE49-F238E27FC236}">
                <a16:creationId xmlns:a16="http://schemas.microsoft.com/office/drawing/2014/main" id="{823DDE64-6570-4B31-8514-02EB14086E9F}"/>
              </a:ext>
            </a:extLst>
          </p:cNvPr>
          <p:cNvSpPr/>
          <p:nvPr/>
        </p:nvSpPr>
        <p:spPr bwMode="auto">
          <a:xfrm>
            <a:off x="6017759" y="2743882"/>
            <a:ext cx="180969" cy="142874"/>
          </a:xfrm>
          <a:prstGeom prst="ellipse">
            <a:avLst/>
          </a:prstGeom>
          <a:gradFill rotWithShape="1">
            <a:gsLst>
              <a:gs pos="0">
                <a:srgbClr val="FFCC00">
                  <a:gamma/>
                  <a:shade val="46275"/>
                  <a:invGamma/>
                </a:srgbClr>
              </a:gs>
              <a:gs pos="50000">
                <a:srgbClr val="FFCC00"/>
              </a:gs>
              <a:gs pos="100000">
                <a:srgbClr val="FFCC00">
                  <a:gamma/>
                  <a:shade val="46275"/>
                  <a:invGamma/>
                </a:srgbClr>
              </a:gs>
            </a:gsLst>
            <a:lin ang="0" scaled="1"/>
          </a:gra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54" name="椭圆 53">
            <a:extLst>
              <a:ext uri="{FF2B5EF4-FFF2-40B4-BE49-F238E27FC236}">
                <a16:creationId xmlns:a16="http://schemas.microsoft.com/office/drawing/2014/main" id="{414152B0-A939-4DAB-857E-E3D578B66748}"/>
              </a:ext>
            </a:extLst>
          </p:cNvPr>
          <p:cNvSpPr/>
          <p:nvPr/>
        </p:nvSpPr>
        <p:spPr bwMode="auto">
          <a:xfrm>
            <a:off x="7295471" y="2743882"/>
            <a:ext cx="180969" cy="142874"/>
          </a:xfrm>
          <a:prstGeom prst="ellipse">
            <a:avLst/>
          </a:prstGeom>
          <a:gradFill rotWithShape="1">
            <a:gsLst>
              <a:gs pos="0">
                <a:srgbClr val="FFCC00">
                  <a:gamma/>
                  <a:shade val="46275"/>
                  <a:invGamma/>
                </a:srgbClr>
              </a:gs>
              <a:gs pos="50000">
                <a:srgbClr val="FFCC00"/>
              </a:gs>
              <a:gs pos="100000">
                <a:srgbClr val="FFCC00">
                  <a:gamma/>
                  <a:shade val="46275"/>
                  <a:invGamma/>
                </a:srgbClr>
              </a:gs>
            </a:gsLst>
            <a:lin ang="0" scaled="1"/>
          </a:gra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55" name="椭圆 54">
            <a:extLst>
              <a:ext uri="{FF2B5EF4-FFF2-40B4-BE49-F238E27FC236}">
                <a16:creationId xmlns:a16="http://schemas.microsoft.com/office/drawing/2014/main" id="{9BDF6421-4DEB-4716-A6CC-937D0694F35F}"/>
              </a:ext>
            </a:extLst>
          </p:cNvPr>
          <p:cNvSpPr/>
          <p:nvPr/>
        </p:nvSpPr>
        <p:spPr bwMode="auto">
          <a:xfrm>
            <a:off x="6630425" y="3059532"/>
            <a:ext cx="180969" cy="142874"/>
          </a:xfrm>
          <a:prstGeom prst="ellipse">
            <a:avLst/>
          </a:prstGeom>
          <a:gradFill rotWithShape="1">
            <a:gsLst>
              <a:gs pos="0">
                <a:srgbClr val="FFCC00">
                  <a:gamma/>
                  <a:shade val="46275"/>
                  <a:invGamma/>
                </a:srgbClr>
              </a:gs>
              <a:gs pos="50000">
                <a:srgbClr val="FFCC00"/>
              </a:gs>
              <a:gs pos="100000">
                <a:srgbClr val="FFCC00">
                  <a:gamma/>
                  <a:shade val="46275"/>
                  <a:invGamma/>
                </a:srgbClr>
              </a:gs>
            </a:gsLst>
            <a:lin ang="0" scaled="1"/>
          </a:gra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56" name="椭圆 55">
            <a:extLst>
              <a:ext uri="{FF2B5EF4-FFF2-40B4-BE49-F238E27FC236}">
                <a16:creationId xmlns:a16="http://schemas.microsoft.com/office/drawing/2014/main" id="{06BCDC0C-BB72-4A64-9B29-0CBE9E407CD9}"/>
              </a:ext>
            </a:extLst>
          </p:cNvPr>
          <p:cNvSpPr/>
          <p:nvPr/>
        </p:nvSpPr>
        <p:spPr bwMode="auto">
          <a:xfrm>
            <a:off x="6629950" y="3379108"/>
            <a:ext cx="180969" cy="142874"/>
          </a:xfrm>
          <a:prstGeom prst="ellipse">
            <a:avLst/>
          </a:prstGeom>
          <a:gradFill rotWithShape="1">
            <a:gsLst>
              <a:gs pos="0">
                <a:srgbClr val="FFCC00">
                  <a:gamma/>
                  <a:shade val="46275"/>
                  <a:invGamma/>
                </a:srgbClr>
              </a:gs>
              <a:gs pos="50000">
                <a:srgbClr val="FFCC00"/>
              </a:gs>
              <a:gs pos="100000">
                <a:srgbClr val="FFCC00">
                  <a:gamma/>
                  <a:shade val="46275"/>
                  <a:invGamma/>
                </a:srgbClr>
              </a:gs>
            </a:gsLst>
            <a:lin ang="0" scaled="1"/>
          </a:gra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cxnSp>
        <p:nvCxnSpPr>
          <p:cNvPr id="57" name="直接箭头连接符 56">
            <a:extLst>
              <a:ext uri="{FF2B5EF4-FFF2-40B4-BE49-F238E27FC236}">
                <a16:creationId xmlns:a16="http://schemas.microsoft.com/office/drawing/2014/main" id="{27B292F2-E027-4A1E-8E18-8148D1A76ABE}"/>
              </a:ext>
            </a:extLst>
          </p:cNvPr>
          <p:cNvCxnSpPr/>
          <p:nvPr/>
        </p:nvCxnSpPr>
        <p:spPr bwMode="auto">
          <a:xfrm>
            <a:off x="5783713" y="2827202"/>
            <a:ext cx="2558143" cy="0"/>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50800" cap="flat" cmpd="sng" algn="ctr">
            <a:solidFill>
              <a:srgbClr val="FF0000"/>
            </a:solidFill>
            <a:prstDash val="solid"/>
            <a:round/>
            <a:headEnd type="none" w="med" len="med"/>
            <a:tailEnd type="none"/>
          </a:ln>
          <a:effectLst/>
        </p:spPr>
      </p:cxnSp>
      <p:cxnSp>
        <p:nvCxnSpPr>
          <p:cNvPr id="58" name="直接箭头连接符 57">
            <a:extLst>
              <a:ext uri="{FF2B5EF4-FFF2-40B4-BE49-F238E27FC236}">
                <a16:creationId xmlns:a16="http://schemas.microsoft.com/office/drawing/2014/main" id="{98F8408D-49B9-405E-A902-D9051EA51A87}"/>
              </a:ext>
            </a:extLst>
          </p:cNvPr>
          <p:cNvCxnSpPr>
            <a:cxnSpLocks/>
          </p:cNvCxnSpPr>
          <p:nvPr/>
        </p:nvCxnSpPr>
        <p:spPr bwMode="auto">
          <a:xfrm>
            <a:off x="6720434" y="2634343"/>
            <a:ext cx="0" cy="1278304"/>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50800" cap="flat" cmpd="sng" algn="ctr">
            <a:solidFill>
              <a:srgbClr val="FF0000"/>
            </a:solidFill>
            <a:prstDash val="solid"/>
            <a:round/>
            <a:headEnd type="none" w="med" len="med"/>
            <a:tailEnd type="none"/>
          </a:ln>
          <a:effectLst/>
        </p:spPr>
      </p:cxnSp>
      <p:sp>
        <p:nvSpPr>
          <p:cNvPr id="22" name="椭圆 21">
            <a:extLst>
              <a:ext uri="{FF2B5EF4-FFF2-40B4-BE49-F238E27FC236}">
                <a16:creationId xmlns:a16="http://schemas.microsoft.com/office/drawing/2014/main" id="{A88CEA13-CEB5-4D32-A999-C2F24B77F6AA}"/>
              </a:ext>
            </a:extLst>
          </p:cNvPr>
          <p:cNvSpPr/>
          <p:nvPr/>
        </p:nvSpPr>
        <p:spPr bwMode="auto">
          <a:xfrm>
            <a:off x="2180558" y="4519613"/>
            <a:ext cx="180969" cy="142874"/>
          </a:xfrm>
          <a:prstGeom prst="ellipse">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23" name="椭圆 22">
            <a:extLst>
              <a:ext uri="{FF2B5EF4-FFF2-40B4-BE49-F238E27FC236}">
                <a16:creationId xmlns:a16="http://schemas.microsoft.com/office/drawing/2014/main" id="{3535E7DB-D378-4E92-A529-63A180DC53FB}"/>
              </a:ext>
            </a:extLst>
          </p:cNvPr>
          <p:cNvSpPr/>
          <p:nvPr/>
        </p:nvSpPr>
        <p:spPr bwMode="auto">
          <a:xfrm>
            <a:off x="2793218" y="4519613"/>
            <a:ext cx="180969" cy="142874"/>
          </a:xfrm>
          <a:prstGeom prst="ellipse">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24" name="椭圆 23">
            <a:extLst>
              <a:ext uri="{FF2B5EF4-FFF2-40B4-BE49-F238E27FC236}">
                <a16:creationId xmlns:a16="http://schemas.microsoft.com/office/drawing/2014/main" id="{B330E0D9-D921-4FEB-9C2A-CD6CEC3D3FF3}"/>
              </a:ext>
            </a:extLst>
          </p:cNvPr>
          <p:cNvSpPr/>
          <p:nvPr/>
        </p:nvSpPr>
        <p:spPr bwMode="auto">
          <a:xfrm>
            <a:off x="3407574" y="4519613"/>
            <a:ext cx="180969" cy="142874"/>
          </a:xfrm>
          <a:prstGeom prst="ellipse">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25" name="椭圆 24">
            <a:extLst>
              <a:ext uri="{FF2B5EF4-FFF2-40B4-BE49-F238E27FC236}">
                <a16:creationId xmlns:a16="http://schemas.microsoft.com/office/drawing/2014/main" id="{E3BDC274-844A-4FAF-B1DA-2D4BFD01AA49}"/>
              </a:ext>
            </a:extLst>
          </p:cNvPr>
          <p:cNvSpPr/>
          <p:nvPr/>
        </p:nvSpPr>
        <p:spPr bwMode="auto">
          <a:xfrm>
            <a:off x="4149331" y="4519613"/>
            <a:ext cx="180969" cy="142874"/>
          </a:xfrm>
          <a:prstGeom prst="ellipse">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26" name="椭圆 25">
            <a:extLst>
              <a:ext uri="{FF2B5EF4-FFF2-40B4-BE49-F238E27FC236}">
                <a16:creationId xmlns:a16="http://schemas.microsoft.com/office/drawing/2014/main" id="{8403CF18-DE25-45DA-8D4D-068134E971A1}"/>
              </a:ext>
            </a:extLst>
          </p:cNvPr>
          <p:cNvSpPr/>
          <p:nvPr/>
        </p:nvSpPr>
        <p:spPr bwMode="auto">
          <a:xfrm>
            <a:off x="2153324" y="5758218"/>
            <a:ext cx="180969" cy="142874"/>
          </a:xfrm>
          <a:prstGeom prst="ellipse">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27" name="椭圆 26">
            <a:extLst>
              <a:ext uri="{FF2B5EF4-FFF2-40B4-BE49-F238E27FC236}">
                <a16:creationId xmlns:a16="http://schemas.microsoft.com/office/drawing/2014/main" id="{2FC2C57A-6C75-42B9-8BCB-6FDE4BF34CBC}"/>
              </a:ext>
            </a:extLst>
          </p:cNvPr>
          <p:cNvSpPr/>
          <p:nvPr/>
        </p:nvSpPr>
        <p:spPr bwMode="auto">
          <a:xfrm>
            <a:off x="2765984" y="5758218"/>
            <a:ext cx="180969" cy="142874"/>
          </a:xfrm>
          <a:prstGeom prst="ellipse">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28" name="椭圆 27">
            <a:extLst>
              <a:ext uri="{FF2B5EF4-FFF2-40B4-BE49-F238E27FC236}">
                <a16:creationId xmlns:a16="http://schemas.microsoft.com/office/drawing/2014/main" id="{8CB4912B-81CC-4206-A70C-CF5CC1C7B688}"/>
              </a:ext>
            </a:extLst>
          </p:cNvPr>
          <p:cNvSpPr/>
          <p:nvPr/>
        </p:nvSpPr>
        <p:spPr bwMode="auto">
          <a:xfrm>
            <a:off x="3407574" y="5758218"/>
            <a:ext cx="180969" cy="142874"/>
          </a:xfrm>
          <a:prstGeom prst="ellipse">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29" name="椭圆 28">
            <a:extLst>
              <a:ext uri="{FF2B5EF4-FFF2-40B4-BE49-F238E27FC236}">
                <a16:creationId xmlns:a16="http://schemas.microsoft.com/office/drawing/2014/main" id="{C070A287-04CC-4584-B83A-20C3C1DF73B5}"/>
              </a:ext>
            </a:extLst>
          </p:cNvPr>
          <p:cNvSpPr/>
          <p:nvPr/>
        </p:nvSpPr>
        <p:spPr bwMode="auto">
          <a:xfrm>
            <a:off x="4149331" y="5758218"/>
            <a:ext cx="180969" cy="142874"/>
          </a:xfrm>
          <a:prstGeom prst="ellipse">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a:ln>
                <a:noFill/>
              </a:ln>
              <a:solidFill>
                <a:schemeClr val="tx1"/>
              </a:solidFill>
              <a:effectLst/>
              <a:latin typeface="Times New Roman" pitchFamily="18" charset="0"/>
            </a:endParaRPr>
          </a:p>
        </p:txBody>
      </p:sp>
      <p:sp>
        <p:nvSpPr>
          <p:cNvPr id="2" name="矩形 1">
            <a:extLst>
              <a:ext uri="{FF2B5EF4-FFF2-40B4-BE49-F238E27FC236}">
                <a16:creationId xmlns:a16="http://schemas.microsoft.com/office/drawing/2014/main" id="{E45B4AAD-2A9A-492C-826B-AA6A25823934}"/>
              </a:ext>
            </a:extLst>
          </p:cNvPr>
          <p:cNvSpPr/>
          <p:nvPr/>
        </p:nvSpPr>
        <p:spPr>
          <a:xfrm>
            <a:off x="2105240" y="4010227"/>
            <a:ext cx="277136" cy="464396"/>
          </a:xfrm>
          <a:prstGeom prst="rect">
            <a:avLst/>
          </a:prstGeom>
        </p:spPr>
        <p:txBody>
          <a:bodyPr wrap="square">
            <a:spAutoFit/>
          </a:bodyPr>
          <a:lstStyle/>
          <a:p>
            <a:r>
              <a:rPr lang="en-US" altLang="zh-CN" sz="2400" dirty="0">
                <a:cs typeface="Times New Roman" panose="02020603050405020304" pitchFamily="18" charset="0"/>
                <a:sym typeface="Wingdings" panose="05000000000000000000" pitchFamily="2" charset="2"/>
              </a:rPr>
              <a:t>1</a:t>
            </a:r>
            <a:endParaRPr lang="zh-CN" altLang="en-US" sz="2400" dirty="0"/>
          </a:p>
        </p:txBody>
      </p:sp>
      <p:sp>
        <p:nvSpPr>
          <p:cNvPr id="31" name="矩形 30">
            <a:extLst>
              <a:ext uri="{FF2B5EF4-FFF2-40B4-BE49-F238E27FC236}">
                <a16:creationId xmlns:a16="http://schemas.microsoft.com/office/drawing/2014/main" id="{1F2D7382-9D29-4F2E-AB26-8D48047E4F04}"/>
              </a:ext>
            </a:extLst>
          </p:cNvPr>
          <p:cNvSpPr/>
          <p:nvPr/>
        </p:nvSpPr>
        <p:spPr>
          <a:xfrm>
            <a:off x="2730059" y="4010227"/>
            <a:ext cx="277136" cy="464396"/>
          </a:xfrm>
          <a:prstGeom prst="rect">
            <a:avLst/>
          </a:prstGeom>
        </p:spPr>
        <p:txBody>
          <a:bodyPr wrap="square">
            <a:spAutoFit/>
          </a:bodyPr>
          <a:lstStyle/>
          <a:p>
            <a:r>
              <a:rPr lang="en-US" altLang="zh-CN" sz="2400" dirty="0">
                <a:cs typeface="Times New Roman" panose="02020603050405020304" pitchFamily="18" charset="0"/>
                <a:sym typeface="Wingdings" panose="05000000000000000000" pitchFamily="2" charset="2"/>
              </a:rPr>
              <a:t>2</a:t>
            </a:r>
            <a:endParaRPr lang="zh-CN" altLang="en-US" sz="2400" dirty="0"/>
          </a:p>
        </p:txBody>
      </p:sp>
      <p:sp>
        <p:nvSpPr>
          <p:cNvPr id="32" name="矩形 31">
            <a:extLst>
              <a:ext uri="{FF2B5EF4-FFF2-40B4-BE49-F238E27FC236}">
                <a16:creationId xmlns:a16="http://schemas.microsoft.com/office/drawing/2014/main" id="{987BFEDF-6AB1-4D2D-BE02-6FE2707E6309}"/>
              </a:ext>
            </a:extLst>
          </p:cNvPr>
          <p:cNvSpPr/>
          <p:nvPr/>
        </p:nvSpPr>
        <p:spPr>
          <a:xfrm>
            <a:off x="3357384" y="4010227"/>
            <a:ext cx="277136" cy="464396"/>
          </a:xfrm>
          <a:prstGeom prst="rect">
            <a:avLst/>
          </a:prstGeom>
        </p:spPr>
        <p:txBody>
          <a:bodyPr wrap="square">
            <a:spAutoFit/>
          </a:bodyPr>
          <a:lstStyle/>
          <a:p>
            <a:r>
              <a:rPr lang="en-US" altLang="zh-CN" sz="2400" dirty="0">
                <a:cs typeface="Times New Roman" panose="02020603050405020304" pitchFamily="18" charset="0"/>
                <a:sym typeface="Wingdings" panose="05000000000000000000" pitchFamily="2" charset="2"/>
              </a:rPr>
              <a:t>3</a:t>
            </a:r>
            <a:endParaRPr lang="zh-CN" altLang="en-US" sz="2400" dirty="0"/>
          </a:p>
        </p:txBody>
      </p:sp>
      <p:sp>
        <p:nvSpPr>
          <p:cNvPr id="33" name="矩形 32">
            <a:extLst>
              <a:ext uri="{FF2B5EF4-FFF2-40B4-BE49-F238E27FC236}">
                <a16:creationId xmlns:a16="http://schemas.microsoft.com/office/drawing/2014/main" id="{95BE6FD3-DEC8-46D7-8E72-CF59F88379C7}"/>
              </a:ext>
            </a:extLst>
          </p:cNvPr>
          <p:cNvSpPr/>
          <p:nvPr/>
        </p:nvSpPr>
        <p:spPr>
          <a:xfrm>
            <a:off x="4082421" y="4010227"/>
            <a:ext cx="277136" cy="464396"/>
          </a:xfrm>
          <a:prstGeom prst="rect">
            <a:avLst/>
          </a:prstGeom>
        </p:spPr>
        <p:txBody>
          <a:bodyPr wrap="square">
            <a:spAutoFit/>
          </a:bodyPr>
          <a:lstStyle/>
          <a:p>
            <a:r>
              <a:rPr lang="en-US" altLang="zh-CN" sz="2400" dirty="0">
                <a:cs typeface="Times New Roman" panose="02020603050405020304" pitchFamily="18" charset="0"/>
                <a:sym typeface="Wingdings" panose="05000000000000000000" pitchFamily="2" charset="2"/>
              </a:rPr>
              <a:t>4</a:t>
            </a:r>
            <a:endParaRPr lang="zh-CN" altLang="en-US" sz="2400" dirty="0"/>
          </a:p>
        </p:txBody>
      </p:sp>
      <p:sp>
        <p:nvSpPr>
          <p:cNvPr id="34" name="矩形 33">
            <a:extLst>
              <a:ext uri="{FF2B5EF4-FFF2-40B4-BE49-F238E27FC236}">
                <a16:creationId xmlns:a16="http://schemas.microsoft.com/office/drawing/2014/main" id="{9EE47836-11C2-4834-97A8-AA98C13EBFA7}"/>
              </a:ext>
            </a:extLst>
          </p:cNvPr>
          <p:cNvSpPr/>
          <p:nvPr/>
        </p:nvSpPr>
        <p:spPr>
          <a:xfrm>
            <a:off x="2099576" y="6056741"/>
            <a:ext cx="277136" cy="464396"/>
          </a:xfrm>
          <a:prstGeom prst="rect">
            <a:avLst/>
          </a:prstGeom>
        </p:spPr>
        <p:txBody>
          <a:bodyPr wrap="square">
            <a:spAutoFit/>
          </a:bodyPr>
          <a:lstStyle/>
          <a:p>
            <a:r>
              <a:rPr lang="en-US" altLang="zh-CN" sz="2400" dirty="0">
                <a:cs typeface="Times New Roman" panose="02020603050405020304" pitchFamily="18" charset="0"/>
                <a:sym typeface="Wingdings" panose="05000000000000000000" pitchFamily="2" charset="2"/>
              </a:rPr>
              <a:t>1</a:t>
            </a:r>
            <a:endParaRPr lang="zh-CN" altLang="en-US" sz="2400" dirty="0"/>
          </a:p>
        </p:txBody>
      </p:sp>
      <p:sp>
        <p:nvSpPr>
          <p:cNvPr id="35" name="矩形 34">
            <a:extLst>
              <a:ext uri="{FF2B5EF4-FFF2-40B4-BE49-F238E27FC236}">
                <a16:creationId xmlns:a16="http://schemas.microsoft.com/office/drawing/2014/main" id="{49CD2AC8-08AF-4DF1-B279-8EDFF59AA0FC}"/>
              </a:ext>
            </a:extLst>
          </p:cNvPr>
          <p:cNvSpPr/>
          <p:nvPr/>
        </p:nvSpPr>
        <p:spPr>
          <a:xfrm>
            <a:off x="2724395" y="6056741"/>
            <a:ext cx="277136" cy="464396"/>
          </a:xfrm>
          <a:prstGeom prst="rect">
            <a:avLst/>
          </a:prstGeom>
        </p:spPr>
        <p:txBody>
          <a:bodyPr wrap="square">
            <a:spAutoFit/>
          </a:bodyPr>
          <a:lstStyle/>
          <a:p>
            <a:r>
              <a:rPr lang="en-US" altLang="zh-CN" sz="2400" dirty="0">
                <a:cs typeface="Times New Roman" panose="02020603050405020304" pitchFamily="18" charset="0"/>
                <a:sym typeface="Wingdings" panose="05000000000000000000" pitchFamily="2" charset="2"/>
              </a:rPr>
              <a:t>2</a:t>
            </a:r>
            <a:endParaRPr lang="zh-CN" altLang="en-US" sz="2400" dirty="0"/>
          </a:p>
        </p:txBody>
      </p:sp>
      <p:sp>
        <p:nvSpPr>
          <p:cNvPr id="36" name="矩形 35">
            <a:extLst>
              <a:ext uri="{FF2B5EF4-FFF2-40B4-BE49-F238E27FC236}">
                <a16:creationId xmlns:a16="http://schemas.microsoft.com/office/drawing/2014/main" id="{C215EC15-512F-4ED3-B6B9-395BC8A42400}"/>
              </a:ext>
            </a:extLst>
          </p:cNvPr>
          <p:cNvSpPr/>
          <p:nvPr/>
        </p:nvSpPr>
        <p:spPr>
          <a:xfrm>
            <a:off x="3351720" y="6056741"/>
            <a:ext cx="277136" cy="464396"/>
          </a:xfrm>
          <a:prstGeom prst="rect">
            <a:avLst/>
          </a:prstGeom>
        </p:spPr>
        <p:txBody>
          <a:bodyPr wrap="square">
            <a:spAutoFit/>
          </a:bodyPr>
          <a:lstStyle/>
          <a:p>
            <a:r>
              <a:rPr lang="en-US" altLang="zh-CN" sz="2400" dirty="0">
                <a:cs typeface="Times New Roman" panose="02020603050405020304" pitchFamily="18" charset="0"/>
                <a:sym typeface="Wingdings" panose="05000000000000000000" pitchFamily="2" charset="2"/>
              </a:rPr>
              <a:t>3</a:t>
            </a:r>
            <a:endParaRPr lang="zh-CN" altLang="en-US" sz="2400" dirty="0"/>
          </a:p>
        </p:txBody>
      </p:sp>
      <p:sp>
        <p:nvSpPr>
          <p:cNvPr id="37" name="矩形 36">
            <a:extLst>
              <a:ext uri="{FF2B5EF4-FFF2-40B4-BE49-F238E27FC236}">
                <a16:creationId xmlns:a16="http://schemas.microsoft.com/office/drawing/2014/main" id="{8CA5F1C2-ED50-41C8-90F1-655816EB62CD}"/>
              </a:ext>
            </a:extLst>
          </p:cNvPr>
          <p:cNvSpPr/>
          <p:nvPr/>
        </p:nvSpPr>
        <p:spPr>
          <a:xfrm>
            <a:off x="4076757" y="6056741"/>
            <a:ext cx="277136" cy="464396"/>
          </a:xfrm>
          <a:prstGeom prst="rect">
            <a:avLst/>
          </a:prstGeom>
        </p:spPr>
        <p:txBody>
          <a:bodyPr wrap="square">
            <a:spAutoFit/>
          </a:bodyPr>
          <a:lstStyle/>
          <a:p>
            <a:r>
              <a:rPr lang="en-US" altLang="zh-CN" sz="2400" dirty="0">
                <a:cs typeface="Times New Roman" panose="02020603050405020304" pitchFamily="18" charset="0"/>
                <a:sym typeface="Wingdings" panose="05000000000000000000" pitchFamily="2" charset="2"/>
              </a:rPr>
              <a:t>4</a:t>
            </a:r>
            <a:endParaRPr lang="zh-CN" altLang="en-US" sz="2400" dirty="0"/>
          </a:p>
        </p:txBody>
      </p:sp>
      <p:cxnSp>
        <p:nvCxnSpPr>
          <p:cNvPr id="38" name="直接箭头连接符 37">
            <a:extLst>
              <a:ext uri="{FF2B5EF4-FFF2-40B4-BE49-F238E27FC236}">
                <a16:creationId xmlns:a16="http://schemas.microsoft.com/office/drawing/2014/main" id="{32BB8223-4E64-49CD-B5E6-98F6B0ABA519}"/>
              </a:ext>
            </a:extLst>
          </p:cNvPr>
          <p:cNvCxnSpPr>
            <a:cxnSpLocks/>
          </p:cNvCxnSpPr>
          <p:nvPr/>
        </p:nvCxnSpPr>
        <p:spPr bwMode="auto">
          <a:xfrm>
            <a:off x="2261134" y="4591050"/>
            <a:ext cx="0" cy="1278304"/>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19050" cap="flat" cmpd="sng" algn="ctr">
            <a:solidFill>
              <a:schemeClr val="tx1"/>
            </a:solidFill>
            <a:prstDash val="solid"/>
            <a:round/>
            <a:headEnd type="none" w="med" len="med"/>
            <a:tailEnd type="none"/>
          </a:ln>
          <a:effectLst/>
        </p:spPr>
      </p:cxnSp>
      <p:cxnSp>
        <p:nvCxnSpPr>
          <p:cNvPr id="39" name="直接箭头连接符 38">
            <a:extLst>
              <a:ext uri="{FF2B5EF4-FFF2-40B4-BE49-F238E27FC236}">
                <a16:creationId xmlns:a16="http://schemas.microsoft.com/office/drawing/2014/main" id="{31AF7C1B-7B60-4B4D-87F3-B134F933EFD2}"/>
              </a:ext>
            </a:extLst>
          </p:cNvPr>
          <p:cNvCxnSpPr>
            <a:cxnSpLocks/>
            <a:stCxn id="22" idx="4"/>
          </p:cNvCxnSpPr>
          <p:nvPr/>
        </p:nvCxnSpPr>
        <p:spPr bwMode="auto">
          <a:xfrm>
            <a:off x="2271043" y="4662487"/>
            <a:ext cx="1241041" cy="1206867"/>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19050" cap="flat" cmpd="sng" algn="ctr">
            <a:solidFill>
              <a:schemeClr val="tx1"/>
            </a:solidFill>
            <a:prstDash val="solid"/>
            <a:round/>
            <a:headEnd type="none" w="med" len="med"/>
            <a:tailEnd type="none"/>
          </a:ln>
          <a:effectLst/>
        </p:spPr>
      </p:cxnSp>
      <p:cxnSp>
        <p:nvCxnSpPr>
          <p:cNvPr id="43" name="直接箭头连接符 42">
            <a:extLst>
              <a:ext uri="{FF2B5EF4-FFF2-40B4-BE49-F238E27FC236}">
                <a16:creationId xmlns:a16="http://schemas.microsoft.com/office/drawing/2014/main" id="{BCE5EB62-C40B-4F3F-B2CF-03C7FBCD4849}"/>
              </a:ext>
            </a:extLst>
          </p:cNvPr>
          <p:cNvCxnSpPr>
            <a:cxnSpLocks/>
          </p:cNvCxnSpPr>
          <p:nvPr/>
        </p:nvCxnSpPr>
        <p:spPr bwMode="auto">
          <a:xfrm>
            <a:off x="2883434" y="4591050"/>
            <a:ext cx="0" cy="1278304"/>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19050" cap="flat" cmpd="sng" algn="ctr">
            <a:solidFill>
              <a:schemeClr val="tx1"/>
            </a:solidFill>
            <a:prstDash val="solid"/>
            <a:round/>
            <a:headEnd type="none" w="med" len="med"/>
            <a:tailEnd type="none"/>
          </a:ln>
          <a:effectLst/>
        </p:spPr>
      </p:cxnSp>
      <p:cxnSp>
        <p:nvCxnSpPr>
          <p:cNvPr id="44" name="直接箭头连接符 43">
            <a:extLst>
              <a:ext uri="{FF2B5EF4-FFF2-40B4-BE49-F238E27FC236}">
                <a16:creationId xmlns:a16="http://schemas.microsoft.com/office/drawing/2014/main" id="{4BBA02F6-F13F-4D1E-A386-50233585F5A2}"/>
              </a:ext>
            </a:extLst>
          </p:cNvPr>
          <p:cNvCxnSpPr>
            <a:cxnSpLocks/>
            <a:endCxn id="27" idx="7"/>
          </p:cNvCxnSpPr>
          <p:nvPr/>
        </p:nvCxnSpPr>
        <p:spPr bwMode="auto">
          <a:xfrm flipH="1">
            <a:off x="2920451" y="4591050"/>
            <a:ext cx="611218" cy="1188091"/>
          </a:xfrm>
          <a:prstGeom prst="straightConnector1">
            <a:avLst/>
          </a:prstGeom>
          <a:gradFill rotWithShape="1">
            <a:gsLst>
              <a:gs pos="0">
                <a:srgbClr val="FFCC00">
                  <a:gamma/>
                  <a:shade val="46275"/>
                  <a:invGamma/>
                </a:srgbClr>
              </a:gs>
              <a:gs pos="50000">
                <a:srgbClr val="FFCC00"/>
              </a:gs>
              <a:gs pos="100000">
                <a:srgbClr val="FFCC00">
                  <a:gamma/>
                  <a:shade val="46275"/>
                  <a:invGamma/>
                </a:srgbClr>
              </a:gs>
            </a:gsLst>
            <a:lin ang="0" scaled="1"/>
          </a:gradFill>
          <a:ln w="19050" cap="flat" cmpd="sng" algn="ctr">
            <a:solidFill>
              <a:schemeClr val="tx1"/>
            </a:solidFill>
            <a:prstDash val="solid"/>
            <a:round/>
            <a:headEnd type="none" w="med" len="med"/>
            <a:tailEnd type="none"/>
          </a:ln>
          <a:effectLst/>
        </p:spPr>
      </p:cxnSp>
      <p:sp>
        <p:nvSpPr>
          <p:cNvPr id="46" name="椭圆 45">
            <a:extLst>
              <a:ext uri="{FF2B5EF4-FFF2-40B4-BE49-F238E27FC236}">
                <a16:creationId xmlns:a16="http://schemas.microsoft.com/office/drawing/2014/main" id="{429914EF-6418-4B97-8571-DCA78FBFD05D}"/>
              </a:ext>
            </a:extLst>
          </p:cNvPr>
          <p:cNvSpPr/>
          <p:nvPr/>
        </p:nvSpPr>
        <p:spPr bwMode="auto">
          <a:xfrm>
            <a:off x="2086895" y="4441838"/>
            <a:ext cx="390525" cy="343415"/>
          </a:xfrm>
          <a:prstGeom prst="ellipse">
            <a:avLst/>
          </a:prstGeom>
          <a:noFill/>
          <a:ln w="317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dirty="0">
              <a:ln>
                <a:noFill/>
              </a:ln>
              <a:solidFill>
                <a:schemeClr val="tx1"/>
              </a:solidFill>
              <a:effectLst/>
              <a:latin typeface="Times New Roman" pitchFamily="18" charset="0"/>
            </a:endParaRPr>
          </a:p>
        </p:txBody>
      </p:sp>
      <p:sp>
        <p:nvSpPr>
          <p:cNvPr id="47" name="椭圆 46">
            <a:extLst>
              <a:ext uri="{FF2B5EF4-FFF2-40B4-BE49-F238E27FC236}">
                <a16:creationId xmlns:a16="http://schemas.microsoft.com/office/drawing/2014/main" id="{E6C02E69-63F5-41E3-88D4-9A3F394D1149}"/>
              </a:ext>
            </a:extLst>
          </p:cNvPr>
          <p:cNvSpPr/>
          <p:nvPr/>
        </p:nvSpPr>
        <p:spPr bwMode="auto">
          <a:xfrm>
            <a:off x="2656286" y="5648208"/>
            <a:ext cx="381000" cy="314840"/>
          </a:xfrm>
          <a:prstGeom prst="ellipse">
            <a:avLst/>
          </a:prstGeom>
          <a:noFill/>
          <a:ln w="317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3600" b="0" i="0" u="none" strike="noStrike" cap="none" normalizeH="0" baseline="0" dirty="0">
              <a:ln>
                <a:noFill/>
              </a:ln>
              <a:solidFill>
                <a:schemeClr val="tx1"/>
              </a:solidFill>
              <a:effectLst/>
              <a:latin typeface="Times New Roman" pitchFamily="18"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3DB237E-E707-4161-9930-50D800752082}"/>
                  </a:ext>
                </a:extLst>
              </p:cNvPr>
              <p:cNvSpPr txBox="1"/>
              <p:nvPr/>
            </p:nvSpPr>
            <p:spPr>
              <a:xfrm>
                <a:off x="0" y="997536"/>
                <a:ext cx="9331558" cy="1107996"/>
              </a:xfrm>
              <a:prstGeom prst="rect">
                <a:avLst/>
              </a:prstGeom>
              <a:noFill/>
            </p:spPr>
            <p:txBody>
              <a:bodyPr wrap="square" rtlCol="0">
                <a:spAutoFit/>
              </a:bodyPr>
              <a:lstStyle/>
              <a:p>
                <a:r>
                  <a:rPr lang="zh-CN" altLang="en-US" sz="2200" dirty="0">
                    <a:latin typeface="黑体" panose="02010609060101010101" pitchFamily="49" charset="-122"/>
                    <a:ea typeface="黑体" panose="02010609060101010101" pitchFamily="49" charset="-122"/>
                  </a:rPr>
                  <a:t>在</a:t>
                </a:r>
                <a14:m>
                  <m:oMath xmlns:m="http://schemas.openxmlformats.org/officeDocument/2006/math">
                    <m:r>
                      <a:rPr lang="en-US" altLang="zh-CN" sz="2200" b="1" i="1" smtClean="0">
                        <a:latin typeface="Cambria Math" panose="02040503050406030204" pitchFamily="18" charset="0"/>
                        <a:ea typeface="黑体" panose="02010609060101010101" pitchFamily="49" charset="-122"/>
                      </a:rPr>
                      <m:t>𝑵</m:t>
                    </m:r>
                    <m:r>
                      <a:rPr lang="en-US" altLang="zh-CN" sz="2200" b="1"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𝑵</m:t>
                    </m:r>
                  </m:oMath>
                </a14:m>
                <a:r>
                  <a:rPr lang="zh-CN" altLang="en-US" sz="2200" dirty="0">
                    <a:latin typeface="黑体" panose="02010609060101010101" pitchFamily="49" charset="-122"/>
                    <a:ea typeface="黑体" panose="02010609060101010101" pitchFamily="49" charset="-122"/>
                  </a:rPr>
                  <a:t>的网格中有</a:t>
                </a:r>
                <a14:m>
                  <m:oMath xmlns:m="http://schemas.openxmlformats.org/officeDocument/2006/math">
                    <m:r>
                      <a:rPr lang="en-US" altLang="zh-CN" sz="2200" b="1" i="1" smtClean="0">
                        <a:latin typeface="Cambria Math" panose="02040503050406030204" pitchFamily="18" charset="0"/>
                        <a:ea typeface="Cambria Math" panose="02040503050406030204" pitchFamily="18" charset="0"/>
                      </a:rPr>
                      <m:t>𝑲</m:t>
                    </m:r>
                  </m:oMath>
                </a14:m>
                <a:r>
                  <a:rPr lang="zh-CN" altLang="en-US" sz="2200" dirty="0">
                    <a:latin typeface="黑体" panose="02010609060101010101" pitchFamily="49" charset="-122"/>
                    <a:ea typeface="黑体" panose="02010609060101010101" pitchFamily="49" charset="-122"/>
                  </a:rPr>
                  <a:t>颗小行星。小行星</a:t>
                </a:r>
                <a14:m>
                  <m:oMath xmlns:m="http://schemas.openxmlformats.org/officeDocument/2006/math">
                    <m:r>
                      <a:rPr lang="en-US" altLang="zh-CN" sz="2200" b="1" i="1" smtClean="0">
                        <a:latin typeface="Cambria Math" panose="02040503050406030204" pitchFamily="18" charset="0"/>
                        <a:ea typeface="Cambria Math" panose="02040503050406030204" pitchFamily="18" charset="0"/>
                      </a:rPr>
                      <m:t>𝒊</m:t>
                    </m:r>
                  </m:oMath>
                </a14:m>
                <a:r>
                  <a:rPr lang="zh-CN" altLang="en-US" sz="2200" dirty="0">
                    <a:latin typeface="黑体" panose="02010609060101010101" pitchFamily="49" charset="-122"/>
                    <a:ea typeface="黑体" panose="02010609060101010101" pitchFamily="49" charset="-122"/>
                  </a:rPr>
                  <a:t>的位置是</a:t>
                </a:r>
                <a14:m>
                  <m:oMath xmlns:m="http://schemas.openxmlformats.org/officeDocument/2006/math">
                    <m:r>
                      <a:rPr lang="en-US" altLang="zh-CN" sz="2200" b="1" i="1" dirty="0" smtClean="0">
                        <a:latin typeface="Cambria Math" panose="02040503050406030204" pitchFamily="18" charset="0"/>
                        <a:ea typeface="Cambria Math" panose="02040503050406030204" pitchFamily="18" charset="0"/>
                      </a:rPr>
                      <m:t>(</m:t>
                    </m:r>
                    <m:sSub>
                      <m:sSubPr>
                        <m:ctrlPr>
                          <a:rPr lang="en-US" altLang="zh-CN" sz="2200" b="1" i="1" smtClean="0">
                            <a:latin typeface="Cambria Math" panose="02040503050406030204" pitchFamily="18" charset="0"/>
                            <a:ea typeface="Cambria Math" panose="02040503050406030204" pitchFamily="18" charset="0"/>
                          </a:rPr>
                        </m:ctrlPr>
                      </m:sSubPr>
                      <m:e>
                        <m:r>
                          <a:rPr lang="en-US" altLang="zh-CN" sz="2200" b="1" i="1" smtClean="0">
                            <a:latin typeface="Cambria Math" panose="02040503050406030204" pitchFamily="18" charset="0"/>
                            <a:ea typeface="Cambria Math" panose="02040503050406030204" pitchFamily="18" charset="0"/>
                          </a:rPr>
                          <m:t>𝑹</m:t>
                        </m:r>
                      </m:e>
                      <m:sub>
                        <m:r>
                          <a:rPr lang="en-US" altLang="zh-CN" sz="2200" b="1" i="1" smtClean="0">
                            <a:latin typeface="Cambria Math" panose="02040503050406030204" pitchFamily="18" charset="0"/>
                            <a:ea typeface="Cambria Math" panose="02040503050406030204" pitchFamily="18" charset="0"/>
                          </a:rPr>
                          <m:t>𝒊</m:t>
                        </m:r>
                      </m:sub>
                    </m:sSub>
                    <m:r>
                      <a:rPr lang="en-US" altLang="zh-CN" sz="2200" b="1" i="0" smtClean="0">
                        <a:latin typeface="Cambria Math" panose="02040503050406030204" pitchFamily="18" charset="0"/>
                        <a:ea typeface="Cambria Math" panose="02040503050406030204" pitchFamily="18" charset="0"/>
                      </a:rPr>
                      <m:t>,</m:t>
                    </m:r>
                    <m:sSub>
                      <m:sSubPr>
                        <m:ctrlPr>
                          <a:rPr lang="en-US" altLang="zh-CN" sz="2200" b="1" i="1">
                            <a:latin typeface="Cambria Math" panose="02040503050406030204" pitchFamily="18" charset="0"/>
                            <a:ea typeface="Cambria Math" panose="02040503050406030204" pitchFamily="18" charset="0"/>
                          </a:rPr>
                        </m:ctrlPr>
                      </m:sSubPr>
                      <m:e>
                        <m:r>
                          <a:rPr lang="en-US" altLang="zh-CN" sz="2200" b="1" i="1" smtClean="0">
                            <a:latin typeface="Cambria Math" panose="02040503050406030204" pitchFamily="18" charset="0"/>
                            <a:ea typeface="Cambria Math" panose="02040503050406030204" pitchFamily="18" charset="0"/>
                          </a:rPr>
                          <m:t>𝑪</m:t>
                        </m:r>
                      </m:e>
                      <m:sub>
                        <m:r>
                          <a:rPr lang="en-US" altLang="zh-CN" sz="2200" b="1" i="1">
                            <a:latin typeface="Cambria Math" panose="02040503050406030204" pitchFamily="18" charset="0"/>
                            <a:ea typeface="Cambria Math" panose="02040503050406030204" pitchFamily="18" charset="0"/>
                          </a:rPr>
                          <m:t>𝒊</m:t>
                        </m:r>
                      </m:sub>
                    </m:sSub>
                    <m:r>
                      <a:rPr lang="en-US" altLang="zh-CN" sz="2200" b="1" i="1" smtClean="0">
                        <a:latin typeface="Cambria Math" panose="02040503050406030204" pitchFamily="18" charset="0"/>
                        <a:ea typeface="Cambria Math" panose="02040503050406030204" pitchFamily="18" charset="0"/>
                      </a:rPr>
                      <m:t>)</m:t>
                    </m:r>
                  </m:oMath>
                </a14:m>
                <a:r>
                  <a:rPr lang="zh-CN" altLang="en-US" sz="2200" dirty="0">
                    <a:latin typeface="黑体" panose="02010609060101010101" pitchFamily="49" charset="-122"/>
                    <a:ea typeface="黑体" panose="02010609060101010101" pitchFamily="49" charset="-122"/>
                  </a:rPr>
                  <a:t>。现在有一个强力武器能够有一发光束将一整行或一整列的小行星轰为灰烬。想要利用这个武器推毁所有小行星最少需要几发光束。</a:t>
                </a:r>
              </a:p>
            </p:txBody>
          </p:sp>
        </mc:Choice>
        <mc:Fallback xmlns="">
          <p:sp>
            <p:nvSpPr>
              <p:cNvPr id="5" name="文本框 4">
                <a:extLst>
                  <a:ext uri="{FF2B5EF4-FFF2-40B4-BE49-F238E27FC236}">
                    <a16:creationId xmlns:a16="http://schemas.microsoft.com/office/drawing/2014/main" id="{33DB237E-E707-4161-9930-50D800752082}"/>
                  </a:ext>
                </a:extLst>
              </p:cNvPr>
              <p:cNvSpPr txBox="1">
                <a:spLocks noRot="1" noChangeAspect="1" noMove="1" noResize="1" noEditPoints="1" noAdjustHandles="1" noChangeArrowheads="1" noChangeShapeType="1" noTextEdit="1"/>
              </p:cNvSpPr>
              <p:nvPr/>
            </p:nvSpPr>
            <p:spPr>
              <a:xfrm>
                <a:off x="0" y="997536"/>
                <a:ext cx="9331558" cy="1107996"/>
              </a:xfrm>
              <a:prstGeom prst="rect">
                <a:avLst/>
              </a:prstGeom>
              <a:blipFill>
                <a:blip r:embed="rId3"/>
                <a:stretch>
                  <a:fillRect l="-849" t="-5525" b="-99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830434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4" grpId="0" animBg="1"/>
      <p:bldP spid="55" grpId="0" animBg="1"/>
      <p:bldP spid="56" grpId="0" animBg="1"/>
      <p:bldP spid="22" grpId="0" animBg="1"/>
      <p:bldP spid="23" grpId="0" animBg="1"/>
      <p:bldP spid="24" grpId="0" animBg="1"/>
      <p:bldP spid="25" grpId="0" animBg="1"/>
      <p:bldP spid="26" grpId="0" animBg="1"/>
      <p:bldP spid="27" grpId="0" animBg="1"/>
      <p:bldP spid="28" grpId="0" animBg="1"/>
      <p:bldP spid="29" grpId="0" animBg="1"/>
      <p:bldP spid="2" grpId="0"/>
      <p:bldP spid="31" grpId="0"/>
      <p:bldP spid="32" grpId="0"/>
      <p:bldP spid="33" grpId="0"/>
      <p:bldP spid="34" grpId="0"/>
      <p:bldP spid="35" grpId="0"/>
      <p:bldP spid="36" grpId="0"/>
      <p:bldP spid="37" grpId="0"/>
      <p:bldP spid="46" grpId="0" animBg="1"/>
      <p:bldP spid="4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p:txBody>
          <a:bodyPr/>
          <a:lstStyle/>
          <a:p>
            <a:r>
              <a:rPr lang="zh-CN" altLang="en-US" sz="3600" dirty="0">
                <a:latin typeface="Times New Roman" panose="02020603050405020304" pitchFamily="18" charset="0"/>
                <a:cs typeface="Times New Roman" panose="02020603050405020304" pitchFamily="18" charset="0"/>
              </a:rPr>
              <a:t>选址问题</a:t>
            </a:r>
            <a:endParaRPr lang="en-US" altLang="zh-CN" sz="3600"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5" y="1164770"/>
            <a:ext cx="9144000" cy="1762227"/>
          </a:xfrm>
          <a:prstGeom prst="rect">
            <a:avLst/>
          </a:prstGeom>
        </p:spPr>
      </p:pic>
      <p:grpSp>
        <p:nvGrpSpPr>
          <p:cNvPr id="44" name="Group 326">
            <a:extLst>
              <a:ext uri="{FF2B5EF4-FFF2-40B4-BE49-F238E27FC236}">
                <a16:creationId xmlns:a16="http://schemas.microsoft.com/office/drawing/2014/main" id="{9BB75821-73D6-4A5E-975E-DEDA94C46620}"/>
              </a:ext>
            </a:extLst>
          </p:cNvPr>
          <p:cNvGrpSpPr>
            <a:grpSpLocks/>
          </p:cNvGrpSpPr>
          <p:nvPr/>
        </p:nvGrpSpPr>
        <p:grpSpPr bwMode="auto">
          <a:xfrm>
            <a:off x="2445447" y="2782902"/>
            <a:ext cx="3866606" cy="2055784"/>
            <a:chOff x="768" y="2297"/>
            <a:chExt cx="1258" cy="686"/>
          </a:xfrm>
        </p:grpSpPr>
        <p:sp>
          <p:nvSpPr>
            <p:cNvPr id="45" name="Text Box 292">
              <a:extLst>
                <a:ext uri="{FF2B5EF4-FFF2-40B4-BE49-F238E27FC236}">
                  <a16:creationId xmlns:a16="http://schemas.microsoft.com/office/drawing/2014/main" id="{EBA011A7-F3D0-4029-9D0F-C8CE46690113}"/>
                </a:ext>
              </a:extLst>
            </p:cNvPr>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46" name="Line 280">
              <a:extLst>
                <a:ext uri="{FF2B5EF4-FFF2-40B4-BE49-F238E27FC236}">
                  <a16:creationId xmlns:a16="http://schemas.microsoft.com/office/drawing/2014/main" id="{A3448BF5-B390-4CA9-B45E-2A10CE415367}"/>
                </a:ext>
              </a:extLst>
            </p:cNvPr>
            <p:cNvSpPr>
              <a:spLocks noChangeShapeType="1"/>
            </p:cNvSpPr>
            <p:nvPr/>
          </p:nvSpPr>
          <p:spPr bwMode="auto">
            <a:xfrm>
              <a:off x="1008" y="2496"/>
              <a:ext cx="336" cy="1"/>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7" name="Line 281">
              <a:extLst>
                <a:ext uri="{FF2B5EF4-FFF2-40B4-BE49-F238E27FC236}">
                  <a16:creationId xmlns:a16="http://schemas.microsoft.com/office/drawing/2014/main" id="{A29F2FF7-CD96-41EB-AB7D-C96DE0C98B98}"/>
                </a:ext>
              </a:extLst>
            </p:cNvPr>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8" name="Line 283">
              <a:extLst>
                <a:ext uri="{FF2B5EF4-FFF2-40B4-BE49-F238E27FC236}">
                  <a16:creationId xmlns:a16="http://schemas.microsoft.com/office/drawing/2014/main" id="{F0529780-4CBE-424E-9FD9-3759EC9CFF4B}"/>
                </a:ext>
              </a:extLst>
            </p:cNvPr>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9" name="Line 284">
              <a:extLst>
                <a:ext uri="{FF2B5EF4-FFF2-40B4-BE49-F238E27FC236}">
                  <a16:creationId xmlns:a16="http://schemas.microsoft.com/office/drawing/2014/main" id="{C9EDE6F2-EDE2-44CB-9189-08479A50FEAB}"/>
                </a:ext>
              </a:extLst>
            </p:cNvPr>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0" name="Line 285">
              <a:extLst>
                <a:ext uri="{FF2B5EF4-FFF2-40B4-BE49-F238E27FC236}">
                  <a16:creationId xmlns:a16="http://schemas.microsoft.com/office/drawing/2014/main" id="{ABFA338D-EC03-4A8C-B877-5C984005F168}"/>
                </a:ext>
              </a:extLst>
            </p:cNvPr>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1" name="Line 286">
              <a:extLst>
                <a:ext uri="{FF2B5EF4-FFF2-40B4-BE49-F238E27FC236}">
                  <a16:creationId xmlns:a16="http://schemas.microsoft.com/office/drawing/2014/main" id="{B3D0A4D5-29CD-4518-BFE3-DB69DA7E203C}"/>
                </a:ext>
              </a:extLst>
            </p:cNvPr>
            <p:cNvSpPr>
              <a:spLocks noChangeShapeType="1"/>
            </p:cNvSpPr>
            <p:nvPr/>
          </p:nvSpPr>
          <p:spPr bwMode="auto">
            <a:xfrm>
              <a:off x="1344" y="2871"/>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3" name="Line 287">
              <a:extLst>
                <a:ext uri="{FF2B5EF4-FFF2-40B4-BE49-F238E27FC236}">
                  <a16:creationId xmlns:a16="http://schemas.microsoft.com/office/drawing/2014/main" id="{A8F0F3BE-27A6-40EC-8115-6DE4F1E8F1D4}"/>
                </a:ext>
              </a:extLst>
            </p:cNvPr>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9" name="Line 288">
              <a:extLst>
                <a:ext uri="{FF2B5EF4-FFF2-40B4-BE49-F238E27FC236}">
                  <a16:creationId xmlns:a16="http://schemas.microsoft.com/office/drawing/2014/main" id="{B0A02867-99ED-4FDB-BCB0-F634FD23DA60}"/>
                </a:ext>
              </a:extLst>
            </p:cNvPr>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60" name="Line 289">
              <a:extLst>
                <a:ext uri="{FF2B5EF4-FFF2-40B4-BE49-F238E27FC236}">
                  <a16:creationId xmlns:a16="http://schemas.microsoft.com/office/drawing/2014/main" id="{CE7D85D0-5409-40D0-B932-C7B5CC872433}"/>
                </a:ext>
              </a:extLst>
            </p:cNvPr>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61" name="Line 290">
              <a:extLst>
                <a:ext uri="{FF2B5EF4-FFF2-40B4-BE49-F238E27FC236}">
                  <a16:creationId xmlns:a16="http://schemas.microsoft.com/office/drawing/2014/main" id="{3EAC47DD-3E0F-46D4-BCB4-9833BF6E731B}"/>
                </a:ext>
              </a:extLst>
            </p:cNvPr>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62" name="Line 291">
              <a:extLst>
                <a:ext uri="{FF2B5EF4-FFF2-40B4-BE49-F238E27FC236}">
                  <a16:creationId xmlns:a16="http://schemas.microsoft.com/office/drawing/2014/main" id="{960926D5-2859-4D98-A1B6-B57F4FFCA10B}"/>
                </a:ext>
              </a:extLst>
            </p:cNvPr>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63" name="Text Box 293">
              <a:extLst>
                <a:ext uri="{FF2B5EF4-FFF2-40B4-BE49-F238E27FC236}">
                  <a16:creationId xmlns:a16="http://schemas.microsoft.com/office/drawing/2014/main" id="{046CDA81-6698-4B56-98B6-D7C455E9762E}"/>
                </a:ext>
              </a:extLst>
            </p:cNvPr>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64" name="Text Box 294">
              <a:extLst>
                <a:ext uri="{FF2B5EF4-FFF2-40B4-BE49-F238E27FC236}">
                  <a16:creationId xmlns:a16="http://schemas.microsoft.com/office/drawing/2014/main" id="{3EA4F80C-C5BB-4CCB-85D8-4933DF3C29ED}"/>
                </a:ext>
              </a:extLst>
            </p:cNvPr>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65" name="Text Box 295">
              <a:extLst>
                <a:ext uri="{FF2B5EF4-FFF2-40B4-BE49-F238E27FC236}">
                  <a16:creationId xmlns:a16="http://schemas.microsoft.com/office/drawing/2014/main" id="{47B1B3D7-A2F6-46B8-9411-E669DCBD8A5D}"/>
                </a:ext>
              </a:extLst>
            </p:cNvPr>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66" name="Text Box 296">
              <a:extLst>
                <a:ext uri="{FF2B5EF4-FFF2-40B4-BE49-F238E27FC236}">
                  <a16:creationId xmlns:a16="http://schemas.microsoft.com/office/drawing/2014/main" id="{CB42D9D1-8699-4A04-AE8C-27958A64C5FB}"/>
                </a:ext>
              </a:extLst>
            </p:cNvPr>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67" name="Text Box 297">
              <a:extLst>
                <a:ext uri="{FF2B5EF4-FFF2-40B4-BE49-F238E27FC236}">
                  <a16:creationId xmlns:a16="http://schemas.microsoft.com/office/drawing/2014/main" id="{871CFF42-61C1-4FE0-91B9-3DB74E2C3E9A}"/>
                </a:ext>
              </a:extLst>
            </p:cNvPr>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68" name="Text Box 298">
              <a:extLst>
                <a:ext uri="{FF2B5EF4-FFF2-40B4-BE49-F238E27FC236}">
                  <a16:creationId xmlns:a16="http://schemas.microsoft.com/office/drawing/2014/main" id="{AD49DDC7-C499-4A24-97ED-D06C3A6F9CD8}"/>
                </a:ext>
              </a:extLst>
            </p:cNvPr>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69" name="Text Box 299">
              <a:extLst>
                <a:ext uri="{FF2B5EF4-FFF2-40B4-BE49-F238E27FC236}">
                  <a16:creationId xmlns:a16="http://schemas.microsoft.com/office/drawing/2014/main" id="{CD406A9D-27B4-439D-964C-66A39C59D869}"/>
                </a:ext>
              </a:extLst>
            </p:cNvPr>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Tree>
    <p:extLst>
      <p:ext uri="{BB962C8B-B14F-4D97-AF65-F5344CB8AC3E}">
        <p14:creationId xmlns:p14="http://schemas.microsoft.com/office/powerpoint/2010/main" val="228835929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171717" y="946150"/>
                <a:ext cx="8867775"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10.8.1 </a:t>
                </a:r>
                <a:r>
                  <a:rPr lang="zh-CN" altLang="en-US" sz="2800" b="0" dirty="0">
                    <a:latin typeface="黑体" panose="02010609060101010101" pitchFamily="49" charset="-122"/>
                    <a:ea typeface="黑体" panose="02010609060101010101" pitchFamily="49" charset="-122"/>
                  </a:rPr>
                  <a:t>设无向图</a:t>
                </a:r>
                <a14:m>
                  <m:oMath xmlns:m="http://schemas.openxmlformats.org/officeDocument/2006/math">
                    <m:r>
                      <a:rPr lang="en-US" altLang="zh-CN" sz="2800" i="1" dirty="0">
                        <a:latin typeface="Cambria Math" panose="02040503050406030204" pitchFamily="18" charset="0"/>
                      </a:rPr>
                      <m:t>𝑮</m:t>
                    </m:r>
                    <m:r>
                      <a:rPr lang="en-US" altLang="zh-CN" sz="2800" b="0">
                        <a:latin typeface="Cambria Math" panose="02040503050406030204" pitchFamily="18" charset="0"/>
                      </a:rPr>
                      <m:t>=</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𝑽</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𝑬</m:t>
                    </m:r>
                    <m:r>
                      <a:rPr lang="en-US" altLang="zh-CN" sz="2800" i="1" smtClean="0">
                        <a:latin typeface="Cambria Math" panose="02040503050406030204" pitchFamily="18" charset="0"/>
                      </a:rPr>
                      <m:t>⟩ </m:t>
                    </m:r>
                  </m:oMath>
                </a14:m>
                <a:r>
                  <a:rPr lang="zh-CN" altLang="en-US" sz="2800" dirty="0"/>
                  <a:t>，</a:t>
                </a:r>
                <a:r>
                  <a:rPr lang="en-US" altLang="zh-CN" sz="2800" i="1" dirty="0">
                    <a:latin typeface="Times New Roman" panose="02020603050405020304" pitchFamily="18" charset="0"/>
                  </a:rPr>
                  <a:t> </a:t>
                </a:r>
                <a14:m>
                  <m:oMath xmlns:m="http://schemas.openxmlformats.org/officeDocument/2006/math">
                    <m:sSup>
                      <m:sSupPr>
                        <m:ctrlPr>
                          <a:rPr lang="en-US" altLang="zh-CN" sz="2800" i="1" dirty="0" smtClean="0">
                            <a:latin typeface="Cambria Math" panose="02040503050406030204" pitchFamily="18" charset="0"/>
                          </a:rPr>
                        </m:ctrlPr>
                      </m:sSupPr>
                      <m:e>
                        <m:r>
                          <a:rPr lang="en-US" altLang="zh-CN" sz="2800" b="1" i="1" dirty="0" smtClean="0">
                            <a:latin typeface="Cambria Math" panose="02040503050406030204" pitchFamily="18" charset="0"/>
                          </a:rPr>
                          <m:t>𝑽</m:t>
                        </m:r>
                      </m:e>
                      <m:sup>
                        <m:r>
                          <a:rPr lang="en-US" altLang="zh-CN" sz="2800" b="1" i="1" dirty="0" smtClean="0">
                            <a:latin typeface="Cambria Math" panose="02040503050406030204" pitchFamily="18" charset="0"/>
                          </a:rPr>
                          <m:t>∗</m:t>
                        </m:r>
                      </m:sup>
                    </m:sSup>
                    <m:r>
                      <a:rPr lang="en-US" altLang="zh-CN" sz="2800" i="1" dirty="0" smtClean="0">
                        <a:latin typeface="Cambria Math" panose="02040503050406030204" pitchFamily="18" charset="0"/>
                        <a:ea typeface="Cambria Math" panose="02040503050406030204" pitchFamily="18" charset="0"/>
                      </a:rPr>
                      <m:t>⊆</m:t>
                    </m:r>
                    <m:r>
                      <a:rPr lang="en-US" altLang="zh-CN" sz="2800" b="1" i="1" dirty="0" smtClean="0">
                        <a:latin typeface="Cambria Math" panose="02040503050406030204" pitchFamily="18" charset="0"/>
                        <a:ea typeface="Cambria Math" panose="02040503050406030204" pitchFamily="18" charset="0"/>
                      </a:rPr>
                      <m:t>𝑽</m:t>
                    </m:r>
                    <m:r>
                      <a:rPr lang="en-US" altLang="zh-CN" sz="2800" i="1" dirty="0">
                        <a:latin typeface="Cambria Math" panose="02040503050406030204" pitchFamily="18" charset="0"/>
                      </a:rPr>
                      <m:t> </m:t>
                    </m:r>
                  </m:oMath>
                </a14:m>
                <a:r>
                  <a:rPr lang="zh-CN" altLang="en-US" sz="2800" dirty="0"/>
                  <a:t>，</a:t>
                </a:r>
                <a:r>
                  <a:rPr lang="zh-CN" altLang="en-US" sz="2800" b="0" dirty="0">
                    <a:latin typeface="黑体" panose="02010609060101010101" pitchFamily="49" charset="-122"/>
                    <a:ea typeface="黑体" panose="02010609060101010101" pitchFamily="49" charset="-122"/>
                  </a:rPr>
                  <a:t>若对于</a:t>
                </a:r>
                <a14:m>
                  <m:oMath xmlns:m="http://schemas.openxmlformats.org/officeDocument/2006/math">
                    <m:r>
                      <a:rPr lang="en-US" altLang="zh-CN" sz="2800" b="1" i="1" dirty="0" smtClean="0">
                        <a:latin typeface="Cambria Math" panose="02040503050406030204" pitchFamily="18" charset="0"/>
                      </a:rPr>
                      <m:t>𝒖</m:t>
                    </m:r>
                    <m:r>
                      <a:rPr lang="en-US" altLang="zh-CN" sz="2800" b="1" i="1" dirty="0" smtClean="0">
                        <a:latin typeface="Cambria Math" panose="02040503050406030204" pitchFamily="18" charset="0"/>
                        <a:ea typeface="Cambria Math" panose="02040503050406030204" pitchFamily="18" charset="0"/>
                      </a:rPr>
                      <m:t>∈</m:t>
                    </m:r>
                    <m:r>
                      <a:rPr lang="en-US" altLang="zh-CN" sz="2800" b="1" i="1" dirty="0" smtClean="0">
                        <a:latin typeface="Cambria Math" panose="02040503050406030204" pitchFamily="18" charset="0"/>
                        <a:ea typeface="Cambria Math" panose="02040503050406030204" pitchFamily="18" charset="0"/>
                      </a:rPr>
                      <m:t>𝑽</m:t>
                    </m:r>
                    <m:r>
                      <a:rPr lang="en-US" altLang="zh-CN" sz="2800" b="1" i="1" dirty="0" smtClean="0">
                        <a:latin typeface="Cambria Math" panose="02040503050406030204" pitchFamily="18" charset="0"/>
                        <a:ea typeface="Cambria Math" panose="02040503050406030204" pitchFamily="18" charset="0"/>
                      </a:rPr>
                      <m:t>−</m:t>
                    </m:r>
                    <m:sSup>
                      <m:sSupPr>
                        <m:ctrlPr>
                          <a:rPr lang="en-US" altLang="zh-CN" sz="2800" b="1" i="1" dirty="0" smtClean="0">
                            <a:latin typeface="Cambria Math" panose="02040503050406030204" pitchFamily="18" charset="0"/>
                            <a:ea typeface="Cambria Math" panose="02040503050406030204" pitchFamily="18" charset="0"/>
                          </a:rPr>
                        </m:ctrlPr>
                      </m:sSupPr>
                      <m:e>
                        <m:r>
                          <a:rPr lang="en-US" altLang="zh-CN" sz="2800" b="1" i="1" dirty="0" smtClean="0">
                            <a:latin typeface="Cambria Math" panose="02040503050406030204" pitchFamily="18" charset="0"/>
                            <a:ea typeface="Cambria Math" panose="02040503050406030204" pitchFamily="18" charset="0"/>
                          </a:rPr>
                          <m:t>𝑽</m:t>
                        </m:r>
                      </m:e>
                      <m:sup>
                        <m:r>
                          <a:rPr lang="en-US" altLang="zh-CN" sz="2800" b="1" i="1" dirty="0" smtClean="0">
                            <a:latin typeface="Cambria Math" panose="02040503050406030204" pitchFamily="18" charset="0"/>
                            <a:ea typeface="Cambria Math" panose="02040503050406030204" pitchFamily="18" charset="0"/>
                          </a:rPr>
                          <m:t>∗</m:t>
                        </m:r>
                      </m:sup>
                    </m:sSup>
                  </m:oMath>
                </a14:m>
                <a:r>
                  <a:rPr lang="en-US" altLang="zh-CN" sz="2800" i="1" dirty="0">
                    <a:latin typeface="Times New Roman" panose="02020603050405020304" pitchFamily="18" charset="0"/>
                    <a:sym typeface="Symbol" panose="05050102010706020507" pitchFamily="18" charset="2"/>
                  </a:rPr>
                  <a:t>,</a:t>
                </a:r>
                <a:r>
                  <a:rPr lang="en-US" altLang="zh-CN" sz="2800" dirty="0">
                    <a:ea typeface="Cambria Math" panose="02040503050406030204" pitchFamily="18" charset="0"/>
                  </a:rPr>
                  <a:t> </a:t>
                </a:r>
                <a14:m>
                  <m:oMath xmlns:m="http://schemas.openxmlformats.org/officeDocument/2006/math">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𝑽</m:t>
                        </m:r>
                      </m:e>
                      <m:sup>
                        <m:r>
                          <a:rPr lang="en-US" altLang="zh-CN" sz="2800" i="1" dirty="0">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中都有</a:t>
                </a:r>
                <a14:m>
                  <m:oMath xmlns:m="http://schemas.openxmlformats.org/officeDocument/2006/math">
                    <m:r>
                      <a:rPr lang="en-US" altLang="zh-CN" sz="2800" b="1" i="1" dirty="0" smtClean="0">
                        <a:latin typeface="Cambria Math" panose="02040503050406030204" pitchFamily="18" charset="0"/>
                      </a:rPr>
                      <m:t>𝒗</m:t>
                    </m:r>
                    <m:r>
                      <a:rPr lang="en-US" altLang="zh-CN" sz="2800" i="1" dirty="0">
                        <a:latin typeface="Cambria Math" panose="02040503050406030204" pitchFamily="18" charset="0"/>
                        <a:ea typeface="Cambria Math" panose="02040503050406030204" pitchFamily="18" charset="0"/>
                      </a:rPr>
                      <m:t>∈</m:t>
                    </m:r>
                    <m:r>
                      <a:rPr lang="en-US" altLang="zh-CN" sz="2800" i="1" dirty="0">
                        <a:latin typeface="Cambria Math" panose="02040503050406030204" pitchFamily="18" charset="0"/>
                        <a:ea typeface="Cambria Math" panose="02040503050406030204" pitchFamily="18" charset="0"/>
                      </a:rPr>
                      <m:t>𝑽</m:t>
                    </m:r>
                  </m:oMath>
                </a14:m>
                <a:r>
                  <a:rPr lang="zh-CN" altLang="en-US" sz="2800" b="0" dirty="0">
                    <a:latin typeface="黑体" panose="02010609060101010101" pitchFamily="49" charset="-122"/>
                    <a:ea typeface="黑体" panose="02010609060101010101" pitchFamily="49" charset="-122"/>
                    <a:sym typeface="Symbol" panose="05050102010706020507" pitchFamily="18" charset="2"/>
                  </a:rPr>
                  <a:t>使得</a:t>
                </a:r>
                <a14:m>
                  <m:oMath xmlns:m="http://schemas.openxmlformats.org/officeDocument/2006/math">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𝒖</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𝒗</m:t>
                    </m:r>
                    <m:r>
                      <a:rPr lang="en-US" altLang="zh-CN" sz="2800" b="1" i="1" dirty="0" smtClean="0">
                        <a:latin typeface="Cambria Math" panose="02040503050406030204" pitchFamily="18" charset="0"/>
                      </a:rPr>
                      <m:t>)</m:t>
                    </m:r>
                    <m:r>
                      <a:rPr lang="en-US" altLang="zh-CN" sz="2800" i="1" dirty="0">
                        <a:latin typeface="Cambria Math" panose="02040503050406030204" pitchFamily="18" charset="0"/>
                        <a:ea typeface="Cambria Math" panose="02040503050406030204" pitchFamily="18" charset="0"/>
                      </a:rPr>
                      <m:t>∈</m:t>
                    </m:r>
                    <m:r>
                      <a:rPr lang="en-US" altLang="zh-CN" sz="2800" b="1" i="1" dirty="0" smtClean="0">
                        <a:latin typeface="Cambria Math" panose="02040503050406030204" pitchFamily="18" charset="0"/>
                        <a:ea typeface="Cambria Math" panose="02040503050406030204" pitchFamily="18" charset="0"/>
                      </a:rPr>
                      <m:t>𝑬</m:t>
                    </m:r>
                  </m:oMath>
                </a14:m>
                <a:r>
                  <a:rPr lang="en-US" altLang="zh-CN" sz="2800" dirty="0">
                    <a:latin typeface="Times New Roman" panose="02020603050405020304" pitchFamily="18" charset="0"/>
                    <a:sym typeface="Symbol" panose="05050102010706020507" pitchFamily="18" charset="2"/>
                  </a:rPr>
                  <a:t>, </a:t>
                </a:r>
                <a:r>
                  <a:rPr lang="zh-CN" altLang="en-US" sz="2800" b="0" dirty="0">
                    <a:latin typeface="黑体" panose="02010609060101010101" pitchFamily="49" charset="-122"/>
                    <a:ea typeface="黑体" panose="02010609060101010101" pitchFamily="49" charset="-122"/>
                    <a:sym typeface="Symbol" panose="05050102010706020507" pitchFamily="18" charset="2"/>
                  </a:rPr>
                  <a:t>则称</a:t>
                </a:r>
                <a14:m>
                  <m:oMath xmlns:m="http://schemas.openxmlformats.org/officeDocument/2006/math">
                    <m:r>
                      <a:rPr lang="en-US" altLang="zh-CN" sz="2800" i="1" dirty="0">
                        <a:latin typeface="Cambria Math" panose="02040503050406030204" pitchFamily="18" charset="0"/>
                      </a:rPr>
                      <m:t>𝒗</m:t>
                    </m:r>
                  </m:oMath>
                </a14:m>
                <a:r>
                  <a:rPr lang="zh-CN" altLang="en-US" sz="2800" b="0" dirty="0">
                    <a:latin typeface="黑体" panose="02010609060101010101" pitchFamily="49" charset="-122"/>
                    <a:ea typeface="黑体" panose="02010609060101010101" pitchFamily="49" charset="-122"/>
                    <a:sym typeface="Symbol" panose="05050102010706020507" pitchFamily="18" charset="2"/>
                  </a:rPr>
                  <a:t>支配</a:t>
                </a:r>
                <a14:m>
                  <m:oMath xmlns:m="http://schemas.openxmlformats.org/officeDocument/2006/math">
                    <m:r>
                      <a:rPr lang="en-US" altLang="zh-CN" sz="2800" i="1" dirty="0">
                        <a:latin typeface="Cambria Math" panose="02040503050406030204" pitchFamily="18" charset="0"/>
                      </a:rPr>
                      <m:t>𝒖</m:t>
                    </m:r>
                  </m:oMath>
                </a14:m>
                <a:r>
                  <a:rPr lang="en-US" altLang="zh-CN" sz="2800" dirty="0">
                    <a:latin typeface="Times New Roman" panose="02020603050405020304" pitchFamily="18" charset="0"/>
                    <a:sym typeface="Symbol" panose="05050102010706020507" pitchFamily="18" charset="2"/>
                  </a:rPr>
                  <a:t>,</a:t>
                </a:r>
                <a:r>
                  <a:rPr lang="zh-CN" altLang="en-US" sz="2800" b="0" dirty="0">
                    <a:latin typeface="黑体" panose="02010609060101010101" pitchFamily="49" charset="-122"/>
                    <a:ea typeface="黑体" panose="02010609060101010101" pitchFamily="49" charset="-122"/>
                    <a:sym typeface="Symbol" panose="05050102010706020507" pitchFamily="18" charset="2"/>
                  </a:rPr>
                  <a:t>并</a:t>
                </a:r>
                <a:r>
                  <a:rPr lang="zh-CN" altLang="en-US" sz="2800" b="0" dirty="0">
                    <a:latin typeface="黑体" panose="02010609060101010101" pitchFamily="49" charset="-122"/>
                    <a:ea typeface="黑体" panose="02010609060101010101" pitchFamily="49" charset="-122"/>
                  </a:rPr>
                  <a:t>称</a:t>
                </a:r>
                <a14:m>
                  <m:oMath xmlns:m="http://schemas.openxmlformats.org/officeDocument/2006/math">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𝑽</m:t>
                        </m:r>
                      </m:e>
                      <m:sup>
                        <m:r>
                          <a:rPr lang="en-US" altLang="zh-CN" sz="2800" i="1" dirty="0">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是支配集</a:t>
                </a:r>
                <a:r>
                  <a:rPr lang="zh-CN" altLang="en-US" sz="2800" dirty="0"/>
                  <a:t>。</a:t>
                </a:r>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171717" y="946150"/>
                <a:ext cx="8867775" cy="5716588"/>
              </a:xfrm>
              <a:blipFill rotWithShape="0">
                <a:blip r:embed="rId2"/>
                <a:stretch>
                  <a:fillRect t="-746" r="-1100"/>
                </a:stretch>
              </a:blipFill>
            </p:spPr>
            <p:txBody>
              <a:bodyPr/>
              <a:lstStyle/>
              <a:p>
                <a:r>
                  <a:rPr lang="zh-CN" altLang="en-US">
                    <a:noFill/>
                  </a:rPr>
                  <a:t> </a:t>
                </a:r>
              </a:p>
            </p:txBody>
          </p:sp>
        </mc:Fallback>
      </mc:AlternateContent>
      <p:grpSp>
        <p:nvGrpSpPr>
          <p:cNvPr id="4" name="Group 326"/>
          <p:cNvGrpSpPr>
            <a:grpSpLocks/>
          </p:cNvGrpSpPr>
          <p:nvPr/>
        </p:nvGrpSpPr>
        <p:grpSpPr bwMode="auto">
          <a:xfrm>
            <a:off x="2795451" y="3097819"/>
            <a:ext cx="3866606" cy="2055784"/>
            <a:chOff x="768" y="2297"/>
            <a:chExt cx="1258" cy="686"/>
          </a:xfrm>
        </p:grpSpPr>
        <p:sp>
          <p:nvSpPr>
            <p:cNvPr id="5"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6" name="Line 280"/>
            <p:cNvSpPr>
              <a:spLocks noChangeShapeType="1"/>
            </p:cNvSpPr>
            <p:nvPr/>
          </p:nvSpPr>
          <p:spPr bwMode="auto">
            <a:xfrm>
              <a:off x="1008" y="2496"/>
              <a:ext cx="336" cy="1"/>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8"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0"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1" name="Line 286"/>
            <p:cNvSpPr>
              <a:spLocks noChangeShapeType="1"/>
            </p:cNvSpPr>
            <p:nvPr/>
          </p:nvSpPr>
          <p:spPr bwMode="auto">
            <a:xfrm>
              <a:off x="1344" y="2871"/>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2" name="Line 287"/>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3"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4"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5" name="Line 290"/>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6"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17"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18"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19"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20"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21"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22"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23"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Tree>
    <p:extLst>
      <p:ext uri="{BB962C8B-B14F-4D97-AF65-F5344CB8AC3E}">
        <p14:creationId xmlns:p14="http://schemas.microsoft.com/office/powerpoint/2010/main" val="404581185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171717" y="946150"/>
                <a:ext cx="8867775"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10.8.1 </a:t>
                </a:r>
                <a:r>
                  <a:rPr lang="zh-CN" altLang="en-US" sz="2800" b="0" dirty="0">
                    <a:latin typeface="黑体" panose="02010609060101010101" pitchFamily="49" charset="-122"/>
                    <a:ea typeface="黑体" panose="02010609060101010101" pitchFamily="49" charset="-122"/>
                  </a:rPr>
                  <a:t>设无向图</a:t>
                </a:r>
                <a14:m>
                  <m:oMath xmlns:m="http://schemas.openxmlformats.org/officeDocument/2006/math">
                    <m:r>
                      <a:rPr lang="en-US" altLang="zh-CN" sz="2800" i="1" dirty="0">
                        <a:latin typeface="Cambria Math" panose="02040503050406030204" pitchFamily="18" charset="0"/>
                      </a:rPr>
                      <m:t>𝑮</m:t>
                    </m:r>
                    <m:r>
                      <a:rPr lang="en-US" altLang="zh-CN" sz="2800" b="0">
                        <a:latin typeface="Cambria Math" panose="02040503050406030204" pitchFamily="18" charset="0"/>
                      </a:rPr>
                      <m:t>=</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𝑽</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𝑬</m:t>
                    </m:r>
                    <m:r>
                      <a:rPr lang="en-US" altLang="zh-CN" sz="2800" i="1" smtClean="0">
                        <a:latin typeface="Cambria Math" panose="02040503050406030204" pitchFamily="18" charset="0"/>
                      </a:rPr>
                      <m:t>⟩ </m:t>
                    </m:r>
                  </m:oMath>
                </a14:m>
                <a:r>
                  <a:rPr lang="zh-CN" altLang="en-US" sz="2800" dirty="0"/>
                  <a:t>，</a:t>
                </a:r>
                <a:r>
                  <a:rPr lang="en-US" altLang="zh-CN" sz="2800" i="1" dirty="0">
                    <a:latin typeface="Times New Roman" panose="02020603050405020304" pitchFamily="18" charset="0"/>
                  </a:rPr>
                  <a:t> </a:t>
                </a:r>
                <a14:m>
                  <m:oMath xmlns:m="http://schemas.openxmlformats.org/officeDocument/2006/math">
                    <m:sSup>
                      <m:sSupPr>
                        <m:ctrlPr>
                          <a:rPr lang="en-US" altLang="zh-CN" sz="2800" i="1" dirty="0" smtClean="0">
                            <a:latin typeface="Cambria Math" panose="02040503050406030204" pitchFamily="18" charset="0"/>
                          </a:rPr>
                        </m:ctrlPr>
                      </m:sSupPr>
                      <m:e>
                        <m:r>
                          <a:rPr lang="en-US" altLang="zh-CN" sz="2800" b="1" i="1" dirty="0" smtClean="0">
                            <a:latin typeface="Cambria Math" panose="02040503050406030204" pitchFamily="18" charset="0"/>
                          </a:rPr>
                          <m:t>𝑽</m:t>
                        </m:r>
                      </m:e>
                      <m:sup>
                        <m:r>
                          <a:rPr lang="en-US" altLang="zh-CN" sz="2800" b="1" i="1" dirty="0" smtClean="0">
                            <a:latin typeface="Cambria Math" panose="02040503050406030204" pitchFamily="18" charset="0"/>
                          </a:rPr>
                          <m:t>∗</m:t>
                        </m:r>
                      </m:sup>
                    </m:sSup>
                    <m:r>
                      <a:rPr lang="en-US" altLang="zh-CN" sz="2800" i="1" dirty="0" smtClean="0">
                        <a:latin typeface="Cambria Math" panose="02040503050406030204" pitchFamily="18" charset="0"/>
                        <a:ea typeface="Cambria Math" panose="02040503050406030204" pitchFamily="18" charset="0"/>
                      </a:rPr>
                      <m:t>⊆</m:t>
                    </m:r>
                    <m:r>
                      <a:rPr lang="en-US" altLang="zh-CN" sz="2800" b="1" i="1" dirty="0" smtClean="0">
                        <a:latin typeface="Cambria Math" panose="02040503050406030204" pitchFamily="18" charset="0"/>
                        <a:ea typeface="Cambria Math" panose="02040503050406030204" pitchFamily="18" charset="0"/>
                      </a:rPr>
                      <m:t>𝑽</m:t>
                    </m:r>
                    <m:r>
                      <a:rPr lang="en-US" altLang="zh-CN" sz="2800" i="1" dirty="0">
                        <a:latin typeface="Cambria Math" panose="02040503050406030204" pitchFamily="18" charset="0"/>
                      </a:rPr>
                      <m:t> </m:t>
                    </m:r>
                  </m:oMath>
                </a14:m>
                <a:r>
                  <a:rPr lang="zh-CN" altLang="en-US" sz="2800" dirty="0"/>
                  <a:t>，</a:t>
                </a:r>
                <a:r>
                  <a:rPr lang="zh-CN" altLang="en-US" sz="2800" b="0" dirty="0">
                    <a:latin typeface="黑体" panose="02010609060101010101" pitchFamily="49" charset="-122"/>
                    <a:ea typeface="黑体" panose="02010609060101010101" pitchFamily="49" charset="-122"/>
                  </a:rPr>
                  <a:t>若对于</a:t>
                </a:r>
                <a14:m>
                  <m:oMath xmlns:m="http://schemas.openxmlformats.org/officeDocument/2006/math">
                    <m:r>
                      <a:rPr lang="en-US" altLang="zh-CN" sz="2800" b="1" i="1" dirty="0" smtClean="0">
                        <a:latin typeface="Cambria Math" panose="02040503050406030204" pitchFamily="18" charset="0"/>
                      </a:rPr>
                      <m:t>𝒖</m:t>
                    </m:r>
                    <m:r>
                      <a:rPr lang="en-US" altLang="zh-CN" sz="2800" b="1" i="1" dirty="0" smtClean="0">
                        <a:latin typeface="Cambria Math" panose="02040503050406030204" pitchFamily="18" charset="0"/>
                        <a:ea typeface="Cambria Math" panose="02040503050406030204" pitchFamily="18" charset="0"/>
                      </a:rPr>
                      <m:t>∈</m:t>
                    </m:r>
                    <m:r>
                      <a:rPr lang="en-US" altLang="zh-CN" sz="2800" b="1" i="1" dirty="0" smtClean="0">
                        <a:latin typeface="Cambria Math" panose="02040503050406030204" pitchFamily="18" charset="0"/>
                        <a:ea typeface="Cambria Math" panose="02040503050406030204" pitchFamily="18" charset="0"/>
                      </a:rPr>
                      <m:t>𝑽</m:t>
                    </m:r>
                    <m:r>
                      <a:rPr lang="en-US" altLang="zh-CN" sz="2800" b="1" i="1" dirty="0" smtClean="0">
                        <a:latin typeface="Cambria Math" panose="02040503050406030204" pitchFamily="18" charset="0"/>
                        <a:ea typeface="Cambria Math" panose="02040503050406030204" pitchFamily="18" charset="0"/>
                      </a:rPr>
                      <m:t>−</m:t>
                    </m:r>
                    <m:sSup>
                      <m:sSupPr>
                        <m:ctrlPr>
                          <a:rPr lang="en-US" altLang="zh-CN" sz="2800" b="1" i="1" dirty="0" smtClean="0">
                            <a:latin typeface="Cambria Math" panose="02040503050406030204" pitchFamily="18" charset="0"/>
                            <a:ea typeface="Cambria Math" panose="02040503050406030204" pitchFamily="18" charset="0"/>
                          </a:rPr>
                        </m:ctrlPr>
                      </m:sSupPr>
                      <m:e>
                        <m:r>
                          <a:rPr lang="en-US" altLang="zh-CN" sz="2800" b="1" i="1" dirty="0" smtClean="0">
                            <a:latin typeface="Cambria Math" panose="02040503050406030204" pitchFamily="18" charset="0"/>
                            <a:ea typeface="Cambria Math" panose="02040503050406030204" pitchFamily="18" charset="0"/>
                          </a:rPr>
                          <m:t>𝑽</m:t>
                        </m:r>
                      </m:e>
                      <m:sup>
                        <m:r>
                          <a:rPr lang="en-US" altLang="zh-CN" sz="2800" b="1" i="1" dirty="0" smtClean="0">
                            <a:latin typeface="Cambria Math" panose="02040503050406030204" pitchFamily="18" charset="0"/>
                            <a:ea typeface="Cambria Math" panose="02040503050406030204" pitchFamily="18" charset="0"/>
                          </a:rPr>
                          <m:t>∗</m:t>
                        </m:r>
                      </m:sup>
                    </m:sSup>
                  </m:oMath>
                </a14:m>
                <a:r>
                  <a:rPr lang="en-US" altLang="zh-CN" sz="2800" i="1" dirty="0">
                    <a:latin typeface="Times New Roman" panose="02020603050405020304" pitchFamily="18" charset="0"/>
                    <a:sym typeface="Symbol" panose="05050102010706020507" pitchFamily="18" charset="2"/>
                  </a:rPr>
                  <a:t>,</a:t>
                </a:r>
                <a:r>
                  <a:rPr lang="en-US" altLang="zh-CN" sz="2800" dirty="0">
                    <a:ea typeface="Cambria Math" panose="02040503050406030204" pitchFamily="18" charset="0"/>
                  </a:rPr>
                  <a:t> </a:t>
                </a:r>
                <a14:m>
                  <m:oMath xmlns:m="http://schemas.openxmlformats.org/officeDocument/2006/math">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𝑽</m:t>
                        </m:r>
                      </m:e>
                      <m:sup>
                        <m:r>
                          <a:rPr lang="en-US" altLang="zh-CN" sz="2800" i="1" dirty="0">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中都有</a:t>
                </a:r>
                <a14:m>
                  <m:oMath xmlns:m="http://schemas.openxmlformats.org/officeDocument/2006/math">
                    <m:r>
                      <a:rPr lang="en-US" altLang="zh-CN" sz="2800" b="1" i="1" dirty="0" smtClean="0">
                        <a:latin typeface="Cambria Math" panose="02040503050406030204" pitchFamily="18" charset="0"/>
                      </a:rPr>
                      <m:t>𝒗</m:t>
                    </m:r>
                    <m:r>
                      <a:rPr lang="en-US" altLang="zh-CN" sz="2800" i="1" dirty="0">
                        <a:latin typeface="Cambria Math" panose="02040503050406030204" pitchFamily="18" charset="0"/>
                        <a:ea typeface="Cambria Math" panose="02040503050406030204" pitchFamily="18" charset="0"/>
                      </a:rPr>
                      <m:t>∈</m:t>
                    </m:r>
                    <m:r>
                      <a:rPr lang="en-US" altLang="zh-CN" sz="2800" i="1" dirty="0">
                        <a:latin typeface="Cambria Math" panose="02040503050406030204" pitchFamily="18" charset="0"/>
                        <a:ea typeface="Cambria Math" panose="02040503050406030204" pitchFamily="18" charset="0"/>
                      </a:rPr>
                      <m:t>𝑽</m:t>
                    </m:r>
                  </m:oMath>
                </a14:m>
                <a:r>
                  <a:rPr lang="zh-CN" altLang="en-US" sz="2800" b="0" dirty="0">
                    <a:latin typeface="黑体" panose="02010609060101010101" pitchFamily="49" charset="-122"/>
                    <a:ea typeface="黑体" panose="02010609060101010101" pitchFamily="49" charset="-122"/>
                    <a:sym typeface="Symbol" panose="05050102010706020507" pitchFamily="18" charset="2"/>
                  </a:rPr>
                  <a:t>使得</a:t>
                </a:r>
                <a14:m>
                  <m:oMath xmlns:m="http://schemas.openxmlformats.org/officeDocument/2006/math">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𝒖</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𝒗</m:t>
                    </m:r>
                    <m:r>
                      <a:rPr lang="en-US" altLang="zh-CN" sz="2800" b="1" i="1" dirty="0" smtClean="0">
                        <a:latin typeface="Cambria Math" panose="02040503050406030204" pitchFamily="18" charset="0"/>
                      </a:rPr>
                      <m:t>)</m:t>
                    </m:r>
                    <m:r>
                      <a:rPr lang="en-US" altLang="zh-CN" sz="2800" i="1" dirty="0">
                        <a:latin typeface="Cambria Math" panose="02040503050406030204" pitchFamily="18" charset="0"/>
                        <a:ea typeface="Cambria Math" panose="02040503050406030204" pitchFamily="18" charset="0"/>
                      </a:rPr>
                      <m:t>∈</m:t>
                    </m:r>
                    <m:r>
                      <a:rPr lang="en-US" altLang="zh-CN" sz="2800" b="1" i="1" dirty="0" smtClean="0">
                        <a:latin typeface="Cambria Math" panose="02040503050406030204" pitchFamily="18" charset="0"/>
                        <a:ea typeface="Cambria Math" panose="02040503050406030204" pitchFamily="18" charset="0"/>
                      </a:rPr>
                      <m:t>𝑬</m:t>
                    </m:r>
                  </m:oMath>
                </a14:m>
                <a:r>
                  <a:rPr lang="en-US" altLang="zh-CN" sz="2800" dirty="0">
                    <a:latin typeface="Times New Roman" panose="02020603050405020304" pitchFamily="18" charset="0"/>
                    <a:sym typeface="Symbol" panose="05050102010706020507" pitchFamily="18" charset="2"/>
                  </a:rPr>
                  <a:t>, </a:t>
                </a:r>
                <a:r>
                  <a:rPr lang="zh-CN" altLang="en-US" sz="2800" b="0" dirty="0">
                    <a:latin typeface="黑体" panose="02010609060101010101" pitchFamily="49" charset="-122"/>
                    <a:ea typeface="黑体" panose="02010609060101010101" pitchFamily="49" charset="-122"/>
                    <a:sym typeface="Symbol" panose="05050102010706020507" pitchFamily="18" charset="2"/>
                  </a:rPr>
                  <a:t>则称</a:t>
                </a:r>
                <a14:m>
                  <m:oMath xmlns:m="http://schemas.openxmlformats.org/officeDocument/2006/math">
                    <m:r>
                      <a:rPr lang="en-US" altLang="zh-CN" sz="2800" i="1" dirty="0">
                        <a:latin typeface="Cambria Math" panose="02040503050406030204" pitchFamily="18" charset="0"/>
                      </a:rPr>
                      <m:t>𝒗</m:t>
                    </m:r>
                  </m:oMath>
                </a14:m>
                <a:r>
                  <a:rPr lang="zh-CN" altLang="en-US" sz="2800" b="0" dirty="0">
                    <a:latin typeface="黑体" panose="02010609060101010101" pitchFamily="49" charset="-122"/>
                    <a:ea typeface="黑体" panose="02010609060101010101" pitchFamily="49" charset="-122"/>
                    <a:sym typeface="Symbol" panose="05050102010706020507" pitchFamily="18" charset="2"/>
                  </a:rPr>
                  <a:t>支配</a:t>
                </a:r>
                <a14:m>
                  <m:oMath xmlns:m="http://schemas.openxmlformats.org/officeDocument/2006/math">
                    <m:r>
                      <a:rPr lang="en-US" altLang="zh-CN" sz="2800" i="1" dirty="0">
                        <a:latin typeface="Cambria Math" panose="02040503050406030204" pitchFamily="18" charset="0"/>
                      </a:rPr>
                      <m:t>𝒖</m:t>
                    </m:r>
                  </m:oMath>
                </a14:m>
                <a:r>
                  <a:rPr lang="en-US" altLang="zh-CN" sz="2800" dirty="0">
                    <a:latin typeface="Times New Roman" panose="02020603050405020304" pitchFamily="18" charset="0"/>
                    <a:sym typeface="Symbol" panose="05050102010706020507" pitchFamily="18" charset="2"/>
                  </a:rPr>
                  <a:t>,</a:t>
                </a:r>
                <a:r>
                  <a:rPr lang="zh-CN" altLang="en-US" sz="2800" b="0" dirty="0">
                    <a:latin typeface="黑体" panose="02010609060101010101" pitchFamily="49" charset="-122"/>
                    <a:ea typeface="黑体" panose="02010609060101010101" pitchFamily="49" charset="-122"/>
                    <a:sym typeface="Symbol" panose="05050102010706020507" pitchFamily="18" charset="2"/>
                  </a:rPr>
                  <a:t>并</a:t>
                </a:r>
                <a:r>
                  <a:rPr lang="zh-CN" altLang="en-US" sz="2800" b="0" dirty="0">
                    <a:latin typeface="黑体" panose="02010609060101010101" pitchFamily="49" charset="-122"/>
                    <a:ea typeface="黑体" panose="02010609060101010101" pitchFamily="49" charset="-122"/>
                  </a:rPr>
                  <a:t>称</a:t>
                </a:r>
                <a14:m>
                  <m:oMath xmlns:m="http://schemas.openxmlformats.org/officeDocument/2006/math">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𝑽</m:t>
                        </m:r>
                      </m:e>
                      <m:sup>
                        <m:r>
                          <a:rPr lang="en-US" altLang="zh-CN" sz="2800" i="1" dirty="0">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是支配集</a:t>
                </a:r>
                <a:r>
                  <a:rPr lang="zh-CN" altLang="en-US" sz="2800" dirty="0"/>
                  <a:t>。</a:t>
                </a:r>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171717" y="946150"/>
                <a:ext cx="8867775" cy="5716588"/>
              </a:xfrm>
              <a:blipFill rotWithShape="0">
                <a:blip r:embed="rId2"/>
                <a:stretch>
                  <a:fillRect t="-746" r="-1100"/>
                </a:stretch>
              </a:blipFill>
            </p:spPr>
            <p:txBody>
              <a:bodyPr/>
              <a:lstStyle/>
              <a:p>
                <a:r>
                  <a:rPr lang="zh-CN" altLang="en-US">
                    <a:noFill/>
                  </a:rPr>
                  <a:t> </a:t>
                </a:r>
              </a:p>
            </p:txBody>
          </p:sp>
        </mc:Fallback>
      </mc:AlternateContent>
      <p:grpSp>
        <p:nvGrpSpPr>
          <p:cNvPr id="4" name="Group 326"/>
          <p:cNvGrpSpPr>
            <a:grpSpLocks/>
          </p:cNvGrpSpPr>
          <p:nvPr/>
        </p:nvGrpSpPr>
        <p:grpSpPr bwMode="auto">
          <a:xfrm>
            <a:off x="2795451" y="3097819"/>
            <a:ext cx="3866606" cy="2055784"/>
            <a:chOff x="768" y="2297"/>
            <a:chExt cx="1258" cy="686"/>
          </a:xfrm>
        </p:grpSpPr>
        <p:sp>
          <p:nvSpPr>
            <p:cNvPr id="5"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6" name="Line 280"/>
            <p:cNvSpPr>
              <a:spLocks noChangeShapeType="1"/>
            </p:cNvSpPr>
            <p:nvPr/>
          </p:nvSpPr>
          <p:spPr bwMode="auto">
            <a:xfrm>
              <a:off x="1008" y="2496"/>
              <a:ext cx="336" cy="1"/>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8"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0"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1" name="Line 286"/>
            <p:cNvSpPr>
              <a:spLocks noChangeShapeType="1"/>
            </p:cNvSpPr>
            <p:nvPr/>
          </p:nvSpPr>
          <p:spPr bwMode="auto">
            <a:xfrm>
              <a:off x="1344" y="2871"/>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2" name="Line 287"/>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3"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4"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5" name="Line 290"/>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6"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17"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18"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19"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20"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21"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22"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23"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
        <p:nvSpPr>
          <p:cNvPr id="68" name="Text Box 292"/>
          <p:cNvSpPr txBox="1">
            <a:spLocks noChangeArrowheads="1"/>
          </p:cNvSpPr>
          <p:nvPr/>
        </p:nvSpPr>
        <p:spPr bwMode="auto">
          <a:xfrm>
            <a:off x="4047999" y="3094824"/>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69" name="Text Box 292"/>
          <p:cNvSpPr txBox="1">
            <a:spLocks noChangeArrowheads="1"/>
          </p:cNvSpPr>
          <p:nvPr/>
        </p:nvSpPr>
        <p:spPr bwMode="auto">
          <a:xfrm>
            <a:off x="5757258" y="4667011"/>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70" name="Text Box 292"/>
          <p:cNvSpPr txBox="1">
            <a:spLocks noChangeArrowheads="1"/>
          </p:cNvSpPr>
          <p:nvPr/>
        </p:nvSpPr>
        <p:spPr bwMode="auto">
          <a:xfrm>
            <a:off x="2717329" y="4753036"/>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71" name="Text Box 292"/>
          <p:cNvSpPr txBox="1">
            <a:spLocks noChangeArrowheads="1"/>
          </p:cNvSpPr>
          <p:nvPr/>
        </p:nvSpPr>
        <p:spPr bwMode="auto">
          <a:xfrm>
            <a:off x="5553939" y="3104555"/>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Tree>
    <p:extLst>
      <p:ext uri="{BB962C8B-B14F-4D97-AF65-F5344CB8AC3E}">
        <p14:creationId xmlns:p14="http://schemas.microsoft.com/office/powerpoint/2010/main" val="4035888638"/>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dirty="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171717" y="946150"/>
                <a:ext cx="8867775"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10.8.2 </a:t>
                </a:r>
                <a:r>
                  <a:rPr lang="zh-CN" altLang="en-US" sz="2800" b="0" dirty="0">
                    <a:latin typeface="黑体" panose="02010609060101010101" pitchFamily="49" charset="-122"/>
                    <a:ea typeface="黑体" panose="02010609060101010101" pitchFamily="49" charset="-122"/>
                  </a:rPr>
                  <a:t>设</a:t>
                </a:r>
                <a14:m>
                  <m:oMath xmlns:m="http://schemas.openxmlformats.org/officeDocument/2006/math">
                    <m:sSup>
                      <m:sSupPr>
                        <m:ctrlPr>
                          <a:rPr lang="en-US" altLang="zh-CN" sz="2800" i="1" smtClean="0">
                            <a:latin typeface="Cambria Math" panose="02040503050406030204" pitchFamily="18" charset="0"/>
                          </a:rPr>
                        </m:ctrlPr>
                      </m:sSupPr>
                      <m:e>
                        <m:r>
                          <a:rPr lang="en-US" altLang="zh-CN" sz="2800" b="1" i="1" smtClean="0">
                            <a:latin typeface="Cambria Math" panose="02040503050406030204" pitchFamily="18" charset="0"/>
                          </a:rPr>
                          <m:t>𝑽</m:t>
                        </m:r>
                      </m:e>
                      <m:sup>
                        <m:r>
                          <a:rPr lang="en-US" altLang="zh-CN" sz="2800" b="1" i="1" smtClean="0">
                            <a:latin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是图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的支配集</a:t>
                </a:r>
                <a:r>
                  <a:rPr lang="zh-CN" altLang="en-US" sz="2800" dirty="0"/>
                  <a:t>，</a:t>
                </a:r>
                <a:r>
                  <a:rPr lang="zh-CN" altLang="en-US" sz="2800" b="0" dirty="0">
                    <a:latin typeface="黑体" panose="02010609060101010101" pitchFamily="49" charset="-122"/>
                    <a:ea typeface="黑体" panose="02010609060101010101" pitchFamily="49" charset="-122"/>
                  </a:rPr>
                  <a:t>对于</a:t>
                </a:r>
                <a14:m>
                  <m:oMath xmlns:m="http://schemas.openxmlformats.org/officeDocument/2006/math">
                    <m:sSup>
                      <m:sSupPr>
                        <m:ctrlPr>
                          <a:rPr lang="en-US" altLang="zh-CN" sz="2800" i="1">
                            <a:latin typeface="Cambria Math" panose="02040503050406030204" pitchFamily="18" charset="0"/>
                          </a:rPr>
                        </m:ctrlPr>
                      </m:sSupPr>
                      <m:e>
                        <m:r>
                          <a:rPr lang="en-US" altLang="zh-CN" sz="2800" b="1" i="1" smtClean="0">
                            <a:latin typeface="Cambria Math" panose="02040503050406030204" pitchFamily="18" charset="0"/>
                          </a:rPr>
                          <m:t>𝑽</m:t>
                        </m:r>
                      </m:e>
                      <m:sup>
                        <m:r>
                          <a:rPr lang="en-US" altLang="zh-CN" sz="2800" i="1">
                            <a:latin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的</a:t>
                </a:r>
                <a:r>
                  <a:rPr lang="zh-CN" altLang="en-US" sz="2800" b="0" dirty="0">
                    <a:solidFill>
                      <a:srgbClr val="C00000"/>
                    </a:solidFill>
                    <a:latin typeface="黑体" panose="02010609060101010101" pitchFamily="49" charset="-122"/>
                    <a:ea typeface="黑体" panose="02010609060101010101" pitchFamily="49" charset="-122"/>
                  </a:rPr>
                  <a:t>任意真子集</a:t>
                </a:r>
                <a:r>
                  <a:rPr lang="zh-CN" altLang="en-US" sz="2800" b="0" dirty="0">
                    <a:latin typeface="黑体" panose="02010609060101010101" pitchFamily="49" charset="-122"/>
                    <a:ea typeface="黑体" panose="02010609060101010101" pitchFamily="49" charset="-122"/>
                  </a:rPr>
                  <a:t>都不是图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的支配集</a:t>
                </a:r>
                <a:r>
                  <a:rPr lang="zh-CN" altLang="en-US" sz="2800" dirty="0"/>
                  <a:t>，</a:t>
                </a:r>
                <a:r>
                  <a:rPr lang="zh-CN" altLang="en-US" sz="2800" b="0" dirty="0">
                    <a:latin typeface="黑体" panose="02010609060101010101" pitchFamily="49" charset="-122"/>
                    <a:ea typeface="黑体" panose="02010609060101010101" pitchFamily="49" charset="-122"/>
                  </a:rPr>
                  <a:t>则称</a:t>
                </a:r>
                <a14:m>
                  <m:oMath xmlns:m="http://schemas.openxmlformats.org/officeDocument/2006/math">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𝑽</m:t>
                        </m:r>
                      </m:e>
                      <m:sup>
                        <m:r>
                          <a:rPr lang="en-US" altLang="zh-CN" sz="2800" i="1">
                            <a:latin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是图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的极小支配集</a:t>
                </a:r>
                <a:r>
                  <a:rPr lang="zh-CN" altLang="en-US" sz="2800" dirty="0"/>
                  <a:t>。</a:t>
                </a:r>
              </a:p>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10.8.3</a:t>
                </a:r>
                <a:r>
                  <a:rPr lang="en-US" altLang="zh-CN" sz="2800" dirty="0">
                    <a:solidFill>
                      <a:srgbClr val="0099CC"/>
                    </a:solidFill>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a:t>
                </a:r>
                <a:r>
                  <a:rPr lang="zh-CN" altLang="en-US" sz="2800" b="0" dirty="0">
                    <a:solidFill>
                      <a:srgbClr val="C00000"/>
                    </a:solidFill>
                    <a:latin typeface="黑体" panose="02010609060101010101" pitchFamily="49" charset="-122"/>
                    <a:ea typeface="黑体" panose="02010609060101010101" pitchFamily="49" charset="-122"/>
                  </a:rPr>
                  <a:t>节点数最小</a:t>
                </a:r>
                <a:r>
                  <a:rPr lang="zh-CN" altLang="en-US" sz="2800" b="0" dirty="0">
                    <a:latin typeface="黑体" panose="02010609060101010101" pitchFamily="49" charset="-122"/>
                    <a:ea typeface="黑体" panose="02010609060101010101" pitchFamily="49" charset="-122"/>
                  </a:rPr>
                  <a:t>的支配集称为最小支配集</a:t>
                </a:r>
                <a:r>
                  <a:rPr lang="zh-CN" altLang="en-US" sz="2800" dirty="0"/>
                  <a:t>，</a:t>
                </a:r>
                <a:r>
                  <a:rPr lang="zh-CN" altLang="en-US" sz="2800" b="0" dirty="0">
                    <a:latin typeface="黑体" panose="02010609060101010101" pitchFamily="49" charset="-122"/>
                    <a:ea typeface="黑体" panose="02010609060101010101" pitchFamily="49" charset="-122"/>
                  </a:rPr>
                  <a:t>即</a:t>
                </a:r>
                <a14:m>
                  <m:oMath xmlns:m="http://schemas.openxmlformats.org/officeDocument/2006/math">
                    <m:r>
                      <a:rPr lang="en-US" altLang="zh-CN" sz="2800" b="1" i="0" dirty="0" smtClean="0">
                        <a:latin typeface="Cambria Math" panose="02040503050406030204" pitchFamily="18" charset="0"/>
                      </a:rPr>
                      <m:t>𝐦𝐢𝐧</m:t>
                    </m:r>
                    <m:r>
                      <a:rPr lang="en-US" altLang="zh-CN" sz="2800" b="1" i="1" dirty="0" smtClean="0">
                        <a:latin typeface="Cambria Math" panose="02040503050406030204" pitchFamily="18" charset="0"/>
                      </a:rPr>
                      <m:t>{|</m:t>
                    </m:r>
                    <m:sSup>
                      <m:sSupPr>
                        <m:ctrlPr>
                          <a:rPr lang="en-US" altLang="zh-CN" sz="2800" i="1" dirty="0">
                            <a:latin typeface="Cambria Math" panose="02040503050406030204" pitchFamily="18" charset="0"/>
                          </a:rPr>
                        </m:ctrlPr>
                      </m:sSupPr>
                      <m:e>
                        <m:r>
                          <a:rPr lang="en-US" altLang="zh-CN" sz="2800" i="1" dirty="0">
                            <a:latin typeface="Cambria Math" panose="02040503050406030204" pitchFamily="18" charset="0"/>
                          </a:rPr>
                          <m:t>𝑽</m:t>
                        </m:r>
                      </m:e>
                      <m:sup>
                        <m:r>
                          <a:rPr lang="en-US" altLang="zh-CN" sz="2800" i="1" dirty="0">
                            <a:latin typeface="Cambria Math" panose="02040503050406030204" pitchFamily="18" charset="0"/>
                          </a:rPr>
                          <m:t>∗</m:t>
                        </m:r>
                      </m:sup>
                    </m:sSup>
                    <m:r>
                      <a:rPr lang="en-US" altLang="zh-CN" sz="2800" b="1" i="1" dirty="0" smtClean="0">
                        <a:latin typeface="Cambria Math" panose="02040503050406030204" pitchFamily="18" charset="0"/>
                      </a:rPr>
                      <m:t>|}</m:t>
                    </m:r>
                  </m:oMath>
                </a14:m>
                <a:r>
                  <a:rPr lang="zh-CN" altLang="en-US" sz="2800" dirty="0"/>
                  <a:t>。</a:t>
                </a:r>
                <a:endParaRPr lang="en-US" altLang="zh-CN" sz="2800" dirty="0"/>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171717" y="946150"/>
                <a:ext cx="8867775" cy="5716588"/>
              </a:xfrm>
              <a:blipFill rotWithShape="0">
                <a:blip r:embed="rId3"/>
                <a:stretch>
                  <a:fillRect l="-1168" t="-746" r="-1168"/>
                </a:stretch>
              </a:blipFill>
            </p:spPr>
            <p:txBody>
              <a:bodyPr/>
              <a:lstStyle/>
              <a:p>
                <a:r>
                  <a:rPr lang="zh-CN" altLang="en-US">
                    <a:noFill/>
                  </a:rPr>
                  <a:t> </a:t>
                </a:r>
              </a:p>
            </p:txBody>
          </p:sp>
        </mc:Fallback>
      </mc:AlternateContent>
      <p:grpSp>
        <p:nvGrpSpPr>
          <p:cNvPr id="4" name="Group 326"/>
          <p:cNvGrpSpPr>
            <a:grpSpLocks/>
          </p:cNvGrpSpPr>
          <p:nvPr/>
        </p:nvGrpSpPr>
        <p:grpSpPr bwMode="auto">
          <a:xfrm>
            <a:off x="4902925" y="4557727"/>
            <a:ext cx="3866606" cy="2055784"/>
            <a:chOff x="768" y="2297"/>
            <a:chExt cx="1258" cy="686"/>
          </a:xfrm>
        </p:grpSpPr>
        <p:sp>
          <p:nvSpPr>
            <p:cNvPr id="5"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6" name="Line 280"/>
            <p:cNvSpPr>
              <a:spLocks noChangeShapeType="1"/>
            </p:cNvSpPr>
            <p:nvPr/>
          </p:nvSpPr>
          <p:spPr bwMode="auto">
            <a:xfrm>
              <a:off x="1008" y="2496"/>
              <a:ext cx="336" cy="1"/>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8"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0"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1" name="Line 286"/>
            <p:cNvSpPr>
              <a:spLocks noChangeShapeType="1"/>
            </p:cNvSpPr>
            <p:nvPr/>
          </p:nvSpPr>
          <p:spPr bwMode="auto">
            <a:xfrm>
              <a:off x="1344" y="2871"/>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2" name="Line 287"/>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3"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4"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5" name="Line 290"/>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6"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17"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18"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19"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20"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21"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grpSp>
      <p:sp>
        <p:nvSpPr>
          <p:cNvPr id="24" name="Text Box 292"/>
          <p:cNvSpPr txBox="1">
            <a:spLocks noChangeArrowheads="1"/>
          </p:cNvSpPr>
          <p:nvPr/>
        </p:nvSpPr>
        <p:spPr bwMode="auto">
          <a:xfrm>
            <a:off x="6136339" y="4578705"/>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27" name="Text Box 292"/>
          <p:cNvSpPr txBox="1">
            <a:spLocks noChangeArrowheads="1"/>
          </p:cNvSpPr>
          <p:nvPr/>
        </p:nvSpPr>
        <p:spPr bwMode="auto">
          <a:xfrm>
            <a:off x="6159695" y="6247906"/>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28" name="Text Box 298"/>
          <p:cNvSpPr txBox="1">
            <a:spLocks noChangeArrowheads="1"/>
          </p:cNvSpPr>
          <p:nvPr/>
        </p:nvSpPr>
        <p:spPr bwMode="auto">
          <a:xfrm>
            <a:off x="6807029" y="5399820"/>
            <a:ext cx="9159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29" name="Text Box 299"/>
          <p:cNvSpPr txBox="1">
            <a:spLocks noChangeArrowheads="1"/>
          </p:cNvSpPr>
          <p:nvPr/>
        </p:nvSpPr>
        <p:spPr bwMode="auto">
          <a:xfrm>
            <a:off x="5854208" y="5399820"/>
            <a:ext cx="9159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nvGrpSpPr>
          <p:cNvPr id="30" name="Group 326"/>
          <p:cNvGrpSpPr>
            <a:grpSpLocks/>
          </p:cNvGrpSpPr>
          <p:nvPr/>
        </p:nvGrpSpPr>
        <p:grpSpPr bwMode="auto">
          <a:xfrm>
            <a:off x="671076" y="4535502"/>
            <a:ext cx="3866606" cy="2055784"/>
            <a:chOff x="768" y="2297"/>
            <a:chExt cx="1258" cy="686"/>
          </a:xfrm>
        </p:grpSpPr>
        <p:sp>
          <p:nvSpPr>
            <p:cNvPr id="31"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32" name="Line 280"/>
            <p:cNvSpPr>
              <a:spLocks noChangeShapeType="1"/>
            </p:cNvSpPr>
            <p:nvPr/>
          </p:nvSpPr>
          <p:spPr bwMode="auto">
            <a:xfrm>
              <a:off x="1008" y="2496"/>
              <a:ext cx="336" cy="1"/>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3"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4"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5"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6"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7" name="Line 286"/>
            <p:cNvSpPr>
              <a:spLocks noChangeShapeType="1"/>
            </p:cNvSpPr>
            <p:nvPr/>
          </p:nvSpPr>
          <p:spPr bwMode="auto">
            <a:xfrm>
              <a:off x="1344" y="2871"/>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8" name="Line 287"/>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9"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0"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1" name="Line 290"/>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2"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43"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44"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45"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46"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47"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48"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49"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
        <p:nvSpPr>
          <p:cNvPr id="50" name="Text Box 292"/>
          <p:cNvSpPr txBox="1">
            <a:spLocks noChangeArrowheads="1"/>
          </p:cNvSpPr>
          <p:nvPr/>
        </p:nvSpPr>
        <p:spPr bwMode="auto">
          <a:xfrm>
            <a:off x="1923624" y="4532507"/>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51" name="Text Box 292"/>
          <p:cNvSpPr txBox="1">
            <a:spLocks noChangeArrowheads="1"/>
          </p:cNvSpPr>
          <p:nvPr/>
        </p:nvSpPr>
        <p:spPr bwMode="auto">
          <a:xfrm>
            <a:off x="3632883" y="6104694"/>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52" name="Text Box 292"/>
          <p:cNvSpPr txBox="1">
            <a:spLocks noChangeArrowheads="1"/>
          </p:cNvSpPr>
          <p:nvPr/>
        </p:nvSpPr>
        <p:spPr bwMode="auto">
          <a:xfrm>
            <a:off x="592954" y="6190719"/>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
        <p:nvSpPr>
          <p:cNvPr id="53" name="Text Box 292"/>
          <p:cNvSpPr txBox="1">
            <a:spLocks noChangeArrowheads="1"/>
          </p:cNvSpPr>
          <p:nvPr/>
        </p:nvSpPr>
        <p:spPr bwMode="auto">
          <a:xfrm>
            <a:off x="3429564" y="4542238"/>
            <a:ext cx="557605" cy="37959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en-US" altLang="zh-CN" sz="1400" baseline="-25000" dirty="0">
              <a:ea typeface="黑体" panose="02010609060101010101" pitchFamily="49" charset="-122"/>
            </a:endParaRPr>
          </a:p>
          <a:p>
            <a:pPr eaLnBrk="1" hangingPunct="1">
              <a:spcBef>
                <a:spcPct val="0"/>
              </a:spcBef>
              <a:buClrTx/>
              <a:buSzTx/>
              <a:buFontTx/>
              <a:buNone/>
            </a:pPr>
            <a:endParaRPr lang="en-US" altLang="zh-CN" sz="1400" baseline="-25000" dirty="0">
              <a:ea typeface="黑体" panose="02010609060101010101" pitchFamily="49" charset="-122"/>
            </a:endParaRPr>
          </a:p>
        </p:txBody>
      </p:sp>
    </p:spTree>
    <p:extLst>
      <p:ext uri="{BB962C8B-B14F-4D97-AF65-F5344CB8AC3E}">
        <p14:creationId xmlns:p14="http://schemas.microsoft.com/office/powerpoint/2010/main" val="338900471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6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animBg="1"/>
      <p:bldP spid="28" grpId="0"/>
      <p:bldP spid="29" grpId="0"/>
      <p:bldP spid="50" grpId="0" animBg="1"/>
      <p:bldP spid="51" grpId="0" animBg="1"/>
      <p:bldP spid="52" grpId="0" animBg="1"/>
      <p:bldP spid="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dirty="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171717" y="946150"/>
                <a:ext cx="8867775"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定理</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10.8.4 </a:t>
                </a:r>
                <a:r>
                  <a:rPr lang="zh-CN" altLang="en-US" sz="2800" b="0" dirty="0">
                    <a:latin typeface="黑体" panose="02010609060101010101" pitchFamily="49" charset="-122"/>
                    <a:ea typeface="黑体" panose="02010609060101010101" pitchFamily="49" charset="-122"/>
                  </a:rPr>
                  <a:t>设无向图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中无孤立节点</a:t>
                </a:r>
                <a:r>
                  <a:rPr lang="zh-CN" altLang="en-US" sz="2800" dirty="0"/>
                  <a:t>，</a:t>
                </a:r>
                <a14:m>
                  <m:oMath xmlns:m="http://schemas.openxmlformats.org/officeDocument/2006/math">
                    <m:sSubSup>
                      <m:sSubSupPr>
                        <m:ctrlPr>
                          <a:rPr lang="en-US" altLang="zh-CN" sz="2800" b="0" i="1">
                            <a:latin typeface="Cambria Math" panose="02040503050406030204" pitchFamily="18" charset="0"/>
                            <a:ea typeface="黑体" panose="02010609060101010101" pitchFamily="49" charset="-122"/>
                          </a:rPr>
                        </m:ctrlPr>
                      </m:sSubSupPr>
                      <m:e>
                        <m:r>
                          <a:rPr lang="en-US" altLang="zh-CN" sz="2800" b="1" i="1" smtClean="0">
                            <a:latin typeface="Cambria Math" panose="02040503050406030204" pitchFamily="18" charset="0"/>
                            <a:ea typeface="黑体" panose="02010609060101010101" pitchFamily="49" charset="-122"/>
                          </a:rPr>
                          <m:t>𝑽</m:t>
                        </m:r>
                      </m:e>
                      <m:sub>
                        <m:r>
                          <a:rPr lang="en-US" altLang="zh-CN" sz="2800" b="0" i="1" smtClean="0">
                            <a:latin typeface="Cambria Math" panose="02040503050406030204" pitchFamily="18" charset="0"/>
                            <a:ea typeface="黑体" panose="02010609060101010101" pitchFamily="49" charset="-122"/>
                          </a:rPr>
                          <m:t>1</m:t>
                        </m:r>
                      </m:sub>
                      <m:sup>
                        <m:r>
                          <a:rPr lang="en-US" altLang="zh-CN" sz="2800" b="0">
                            <a:latin typeface="Cambria Math" panose="02040503050406030204" pitchFamily="18" charset="0"/>
                            <a:ea typeface="黑体" panose="02010609060101010101" pitchFamily="49" charset="-122"/>
                          </a:rPr>
                          <m:t>∗</m:t>
                        </m:r>
                      </m:sup>
                    </m:sSubSup>
                  </m:oMath>
                </a14:m>
                <a:r>
                  <a:rPr lang="zh-CN" altLang="en-US" sz="2800" dirty="0"/>
                  <a:t>为</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的一个极小支配集，则</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存在另一个极小支配集</a:t>
                </a:r>
                <a14:m>
                  <m:oMath xmlns:m="http://schemas.openxmlformats.org/officeDocument/2006/math">
                    <m:sSubSup>
                      <m:sSubSupPr>
                        <m:ctrlPr>
                          <a:rPr lang="en-US" altLang="zh-CN" sz="2800" i="1">
                            <a:latin typeface="Cambria Math" panose="02040503050406030204" pitchFamily="18" charset="0"/>
                          </a:rPr>
                        </m:ctrlPr>
                      </m:sSubSupPr>
                      <m:e>
                        <m:r>
                          <a:rPr lang="en-US" altLang="zh-CN" sz="2800" b="1" i="1" smtClean="0">
                            <a:latin typeface="Cambria Math" panose="02040503050406030204" pitchFamily="18" charset="0"/>
                          </a:rPr>
                          <m:t>𝑽</m:t>
                        </m:r>
                      </m:e>
                      <m:sub>
                        <m:r>
                          <a:rPr lang="en-US" altLang="zh-CN" sz="2800" b="1" i="1" smtClean="0">
                            <a:latin typeface="Cambria Math" panose="02040503050406030204" pitchFamily="18" charset="0"/>
                          </a:rPr>
                          <m:t>𝟐</m:t>
                        </m:r>
                      </m:sub>
                      <m:sup>
                        <m:r>
                          <a:rPr lang="en-US" altLang="zh-CN" sz="2800" i="1">
                            <a:latin typeface="Cambria Math" panose="02040503050406030204" pitchFamily="18" charset="0"/>
                          </a:rPr>
                          <m:t>∗</m:t>
                        </m:r>
                      </m:sup>
                    </m:sSubSup>
                  </m:oMath>
                </a14:m>
                <a:r>
                  <a:rPr lang="zh-CN" altLang="en-US" sz="2800" dirty="0"/>
                  <a:t>，</a:t>
                </a:r>
                <a:r>
                  <a:rPr lang="zh-CN" altLang="en-US" sz="2800" b="0" dirty="0">
                    <a:latin typeface="黑体" panose="02010609060101010101" pitchFamily="49" charset="-122"/>
                    <a:ea typeface="黑体" panose="02010609060101010101" pitchFamily="49" charset="-122"/>
                  </a:rPr>
                  <a:t>使得</a:t>
                </a:r>
                <a14:m>
                  <m:oMath xmlns:m="http://schemas.openxmlformats.org/officeDocument/2006/math">
                    <m:sSubSup>
                      <m:sSubSupPr>
                        <m:ctrlPr>
                          <a:rPr lang="en-US" altLang="zh-CN" sz="2800" i="1">
                            <a:latin typeface="Cambria Math" panose="02040503050406030204" pitchFamily="18" charset="0"/>
                          </a:rPr>
                        </m:ctrlPr>
                      </m:sSubSupPr>
                      <m:e>
                        <m:r>
                          <a:rPr lang="en-US" altLang="zh-CN" sz="2800" b="1" i="1" smtClean="0">
                            <a:latin typeface="Cambria Math" panose="02040503050406030204" pitchFamily="18" charset="0"/>
                          </a:rPr>
                          <m:t>𝑽</m:t>
                        </m:r>
                      </m:e>
                      <m:sub>
                        <m:r>
                          <a:rPr lang="en-US" altLang="zh-CN" sz="2800" b="1" i="1" smtClean="0">
                            <a:latin typeface="Cambria Math" panose="02040503050406030204" pitchFamily="18" charset="0"/>
                          </a:rPr>
                          <m:t>𝟏</m:t>
                        </m:r>
                      </m:sub>
                      <m:sup>
                        <m:r>
                          <a:rPr lang="en-US" altLang="zh-CN" sz="2800" i="1">
                            <a:latin typeface="Cambria Math" panose="02040503050406030204" pitchFamily="18" charset="0"/>
                          </a:rPr>
                          <m:t>∗</m:t>
                        </m:r>
                      </m:sup>
                    </m:sSubSup>
                    <m:r>
                      <a:rPr lang="en-US" altLang="zh-CN" sz="2800" i="1">
                        <a:latin typeface="Cambria Math" panose="02040503050406030204" pitchFamily="18" charset="0"/>
                        <a:ea typeface="Cambria Math" panose="02040503050406030204" pitchFamily="18" charset="0"/>
                      </a:rPr>
                      <m:t>∩</m:t>
                    </m:r>
                    <m:sSubSup>
                      <m:sSubSupPr>
                        <m:ctrlPr>
                          <a:rPr lang="en-US" altLang="zh-CN" sz="2800" i="1" smtClean="0">
                            <a:latin typeface="Cambria Math" panose="02040503050406030204" pitchFamily="18" charset="0"/>
                          </a:rPr>
                        </m:ctrlPr>
                      </m:sSubSupPr>
                      <m:e>
                        <m:r>
                          <a:rPr lang="en-US" altLang="zh-CN" sz="2800" b="1" i="1" smtClean="0">
                            <a:latin typeface="Cambria Math" panose="02040503050406030204" pitchFamily="18" charset="0"/>
                          </a:rPr>
                          <m:t>𝑽</m:t>
                        </m:r>
                      </m:e>
                      <m:sub>
                        <m:r>
                          <a:rPr lang="en-US" altLang="zh-CN" sz="2800" i="1">
                            <a:latin typeface="Cambria Math" panose="02040503050406030204" pitchFamily="18" charset="0"/>
                          </a:rPr>
                          <m:t>𝟐</m:t>
                        </m:r>
                      </m:sub>
                      <m:sup>
                        <m:r>
                          <a:rPr lang="en-US" altLang="zh-CN" sz="2800" i="1">
                            <a:latin typeface="Cambria Math" panose="02040503050406030204" pitchFamily="18" charset="0"/>
                          </a:rPr>
                          <m:t>∗</m:t>
                        </m:r>
                      </m:sup>
                    </m:sSubSup>
                    <m:r>
                      <a:rPr lang="en-US" altLang="zh-CN" sz="2800" b="1" i="1" smtClean="0">
                        <a:latin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m:t>
                    </m:r>
                  </m:oMath>
                </a14:m>
                <a:r>
                  <a:rPr lang="zh-CN" altLang="en-US" sz="2800" dirty="0"/>
                  <a:t>。</a:t>
                </a:r>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171717" y="946150"/>
                <a:ext cx="8867775" cy="5716588"/>
              </a:xfrm>
              <a:blipFill rotWithShape="0">
                <a:blip r:embed="rId3"/>
                <a:stretch>
                  <a:fillRect l="-1168" t="-746" r="-1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658874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6246" y="946150"/>
                <a:ext cx="9137754"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10.8.4 </a:t>
                </a:r>
                <a:r>
                  <a:rPr lang="zh-CN" altLang="en-US" sz="2800" b="0" dirty="0">
                    <a:latin typeface="黑体" panose="02010609060101010101" pitchFamily="49" charset="-122"/>
                    <a:ea typeface="黑体" panose="02010609060101010101" pitchFamily="49" charset="-122"/>
                  </a:rPr>
                  <a:t>设无向图</a:t>
                </a:r>
                <a14:m>
                  <m:oMath xmlns:m="http://schemas.openxmlformats.org/officeDocument/2006/math">
                    <m:r>
                      <a:rPr lang="en-US" altLang="zh-CN" sz="2800" i="1" dirty="0">
                        <a:latin typeface="Cambria Math" panose="02040503050406030204" pitchFamily="18" charset="0"/>
                      </a:rPr>
                      <m:t>𝑮</m:t>
                    </m:r>
                    <m:r>
                      <a:rPr lang="en-US" altLang="zh-CN" sz="2800" b="0">
                        <a:latin typeface="Cambria Math" panose="02040503050406030204" pitchFamily="18" charset="0"/>
                      </a:rPr>
                      <m:t>=</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𝑽</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𝑬</m:t>
                    </m:r>
                    <m:r>
                      <a:rPr lang="en-US" altLang="zh-CN" sz="2800" i="1" smtClean="0">
                        <a:latin typeface="Cambria Math" panose="02040503050406030204" pitchFamily="18" charset="0"/>
                      </a:rPr>
                      <m:t>⟩ </m:t>
                    </m:r>
                  </m:oMath>
                </a14:m>
                <a:r>
                  <a:rPr lang="zh-CN" altLang="en-US" sz="2800" dirty="0"/>
                  <a:t>，</a:t>
                </a:r>
                <a:r>
                  <a:rPr lang="en-US" altLang="zh-CN" sz="2800" i="1" dirty="0">
                    <a:latin typeface="Times New Roman" panose="02020603050405020304" pitchFamily="18" charset="0"/>
                  </a:rPr>
                  <a:t> </a:t>
                </a:r>
                <a14:m>
                  <m:oMath xmlns:m="http://schemas.openxmlformats.org/officeDocument/2006/math">
                    <m:sSup>
                      <m:sSupPr>
                        <m:ctrlPr>
                          <a:rPr lang="en-US" altLang="zh-CN" sz="2800" b="1" i="1" smtClean="0">
                            <a:latin typeface="Cambria Math" panose="02040503050406030204" pitchFamily="18" charset="0"/>
                            <a:ea typeface="Cambria Math" panose="02040503050406030204" pitchFamily="18" charset="0"/>
                          </a:rPr>
                        </m:ctrlPr>
                      </m:sSupPr>
                      <m:e>
                        <m:r>
                          <a:rPr lang="en-US" altLang="zh-CN" sz="2800" b="1" i="1" smtClean="0">
                            <a:latin typeface="Cambria Math" panose="02040503050406030204" pitchFamily="18" charset="0"/>
                            <a:ea typeface="Cambria Math" panose="02040503050406030204" pitchFamily="18" charset="0"/>
                          </a:rPr>
                          <m:t>𝑬</m:t>
                        </m:r>
                      </m:e>
                      <m:sup>
                        <m:r>
                          <a:rPr lang="en-US" altLang="zh-CN" sz="2800" b="1" i="1" smtClean="0">
                            <a:latin typeface="Cambria Math" panose="02040503050406030204" pitchFamily="18" charset="0"/>
                            <a:ea typeface="Cambria Math" panose="02040503050406030204" pitchFamily="18" charset="0"/>
                          </a:rPr>
                          <m:t>∗</m:t>
                        </m:r>
                      </m:sup>
                    </m:sSup>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𝑬</m:t>
                    </m:r>
                    <m:r>
                      <a:rPr lang="en-US" altLang="zh-CN" sz="2800" i="1">
                        <a:latin typeface="Cambria Math" panose="02040503050406030204" pitchFamily="18" charset="0"/>
                      </a:rPr>
                      <m:t> </m:t>
                    </m:r>
                  </m:oMath>
                </a14:m>
                <a:r>
                  <a:rPr lang="zh-CN" altLang="en-US" sz="2800" dirty="0"/>
                  <a:t>，</a:t>
                </a:r>
                <a:r>
                  <a:rPr lang="zh-CN" altLang="en-US" sz="2800" b="0" dirty="0">
                    <a:latin typeface="黑体" panose="02010609060101010101" pitchFamily="49" charset="-122"/>
                    <a:ea typeface="黑体" panose="02010609060101010101" pitchFamily="49" charset="-122"/>
                  </a:rPr>
                  <a:t>若对于任意的</a:t>
                </a:r>
                <a:r>
                  <a:rPr lang="de-DE" altLang="zh-CN" sz="2800" i="1" dirty="0">
                    <a:latin typeface="Times New Roman" panose="02020603050405020304" pitchFamily="18" charset="0"/>
                  </a:rPr>
                  <a:t>u </a:t>
                </a:r>
                <a:r>
                  <a:rPr lang="en-US" altLang="zh-CN" sz="2800" dirty="0">
                    <a:latin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sym typeface="Symbol" panose="05050102010706020507" pitchFamily="18" charset="2"/>
                  </a:rPr>
                  <a:t>V</a:t>
                </a:r>
                <a:r>
                  <a:rPr lang="zh-CN" altLang="en-US" sz="2800" b="0" dirty="0">
                    <a:latin typeface="黑体" panose="02010609060101010101" pitchFamily="49" charset="-122"/>
                    <a:ea typeface="黑体" panose="02010609060101010101" pitchFamily="49" charset="-122"/>
                  </a:rPr>
                  <a:t>都有</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b="1" i="1" smtClean="0">
                            <a:latin typeface="Cambria Math" panose="02040503050406030204" pitchFamily="18" charset="0"/>
                            <a:ea typeface="Cambria Math" panose="02040503050406030204" pitchFamily="18" charset="0"/>
                          </a:rPr>
                          <m:t>𝒆</m:t>
                        </m:r>
                        <m:r>
                          <a:rPr lang="en-US" altLang="zh-CN" sz="2800" i="1" smtClean="0">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dirty="0"/>
                  <a:t>，</a:t>
                </a:r>
                <a:r>
                  <a:rPr lang="zh-CN" altLang="en-US" sz="2800" b="0" dirty="0">
                    <a:latin typeface="黑体" panose="02010609060101010101" pitchFamily="49" charset="-122"/>
                    <a:ea typeface="黑体" panose="02010609060101010101" pitchFamily="49" charset="-122"/>
                  </a:rPr>
                  <a:t>使得</a:t>
                </a:r>
                <a14:m>
                  <m:oMath xmlns:m="http://schemas.openxmlformats.org/officeDocument/2006/math">
                    <m:r>
                      <a:rPr lang="en-US" altLang="zh-CN" sz="2800" b="1" i="1" smtClean="0">
                        <a:latin typeface="Cambria Math" panose="02040503050406030204" pitchFamily="18" charset="0"/>
                        <a:ea typeface="Cambria Math" panose="02040503050406030204" pitchFamily="18" charset="0"/>
                      </a:rPr>
                      <m:t>𝒖</m:t>
                    </m:r>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𝒆</m:t>
                    </m:r>
                  </m:oMath>
                </a14:m>
                <a:r>
                  <a:rPr lang="zh-CN" altLang="en-US" sz="2800" dirty="0"/>
                  <a:t>，</a:t>
                </a:r>
                <a:r>
                  <a:rPr lang="zh-CN" altLang="en-US" sz="2800" b="0" dirty="0">
                    <a:latin typeface="黑体" panose="02010609060101010101" pitchFamily="49" charset="-122"/>
                    <a:ea typeface="黑体" panose="02010609060101010101" pitchFamily="49" charset="-122"/>
                  </a:rPr>
                  <a:t>则称</a:t>
                </a:r>
                <a14:m>
                  <m:oMath xmlns:m="http://schemas.openxmlformats.org/officeDocument/2006/math">
                    <m:r>
                      <a:rPr lang="en-US" altLang="zh-CN" sz="2800" b="1" i="1" smtClean="0">
                        <a:latin typeface="Cambria Math" panose="02040503050406030204" pitchFamily="18" charset="0"/>
                        <a:ea typeface="Cambria Math" panose="02040503050406030204" pitchFamily="18" charset="0"/>
                      </a:rPr>
                      <m:t>𝒆</m:t>
                    </m:r>
                  </m:oMath>
                </a14:m>
                <a:r>
                  <a:rPr lang="zh-CN" altLang="en-US" sz="2800" b="0" dirty="0">
                    <a:latin typeface="黑体" panose="02010609060101010101" pitchFamily="49" charset="-122"/>
                    <a:ea typeface="黑体" panose="02010609060101010101" pitchFamily="49" charset="-122"/>
                  </a:rPr>
                  <a:t>覆盖</a:t>
                </a:r>
                <a14:m>
                  <m:oMath xmlns:m="http://schemas.openxmlformats.org/officeDocument/2006/math">
                    <m:r>
                      <a:rPr lang="en-US" altLang="zh-CN" sz="2800" b="1" i="1" smtClean="0">
                        <a:latin typeface="Cambria Math" panose="02040503050406030204" pitchFamily="18" charset="0"/>
                        <a:ea typeface="Cambria Math" panose="02040503050406030204" pitchFamily="18" charset="0"/>
                      </a:rPr>
                      <m:t>𝒖</m:t>
                    </m:r>
                  </m:oMath>
                </a14:m>
                <a:r>
                  <a:rPr lang="zh-CN" altLang="en-US" sz="2800" dirty="0"/>
                  <a:t>，</a:t>
                </a:r>
                <a:r>
                  <a:rPr lang="zh-CN" altLang="en-US" sz="2800" b="0" dirty="0">
                    <a:latin typeface="黑体" panose="02010609060101010101" pitchFamily="49" charset="-122"/>
                    <a:ea typeface="黑体" panose="02010609060101010101" pitchFamily="49" charset="-122"/>
                  </a:rPr>
                  <a:t>并称</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是覆盖集</a:t>
                </a:r>
                <a:r>
                  <a:rPr lang="zh-CN" altLang="en-US" sz="2800" dirty="0"/>
                  <a:t>。</a:t>
                </a:r>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6246" y="946150"/>
                <a:ext cx="9137754" cy="5716588"/>
              </a:xfrm>
              <a:blipFill rotWithShape="0">
                <a:blip r:embed="rId3"/>
                <a:stretch>
                  <a:fillRect l="-1134" t="-746"/>
                </a:stretch>
              </a:blipFill>
            </p:spPr>
            <p:txBody>
              <a:bodyPr/>
              <a:lstStyle/>
              <a:p>
                <a:r>
                  <a:rPr lang="zh-CN" altLang="en-US">
                    <a:noFill/>
                  </a:rPr>
                  <a:t> </a:t>
                </a:r>
              </a:p>
            </p:txBody>
          </p:sp>
        </mc:Fallback>
      </mc:AlternateContent>
      <p:grpSp>
        <p:nvGrpSpPr>
          <p:cNvPr id="27" name="Group 326"/>
          <p:cNvGrpSpPr>
            <a:grpSpLocks/>
          </p:cNvGrpSpPr>
          <p:nvPr/>
        </p:nvGrpSpPr>
        <p:grpSpPr bwMode="auto">
          <a:xfrm>
            <a:off x="2641820" y="2910842"/>
            <a:ext cx="3866606" cy="2055784"/>
            <a:chOff x="768" y="2297"/>
            <a:chExt cx="1258" cy="686"/>
          </a:xfrm>
        </p:grpSpPr>
        <p:sp>
          <p:nvSpPr>
            <p:cNvPr id="28"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29" name="Line 280"/>
            <p:cNvSpPr>
              <a:spLocks noChangeShapeType="1"/>
            </p:cNvSpPr>
            <p:nvPr/>
          </p:nvSpPr>
          <p:spPr bwMode="auto">
            <a:xfrm>
              <a:off x="1008" y="2496"/>
              <a:ext cx="336" cy="1"/>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0"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1"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2"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3"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4" name="Line 286"/>
            <p:cNvSpPr>
              <a:spLocks noChangeShapeType="1"/>
            </p:cNvSpPr>
            <p:nvPr/>
          </p:nvSpPr>
          <p:spPr bwMode="auto">
            <a:xfrm>
              <a:off x="1344" y="2871"/>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5" name="Line 287"/>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6"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7"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8" name="Line 290"/>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9"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40"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41"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42"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43"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44"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45"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46"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6246" y="946150"/>
                <a:ext cx="9137754"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10.8.4 </a:t>
                </a:r>
                <a:r>
                  <a:rPr lang="zh-CN" altLang="en-US" sz="2800" b="0" dirty="0">
                    <a:latin typeface="黑体" panose="02010609060101010101" pitchFamily="49" charset="-122"/>
                    <a:ea typeface="黑体" panose="02010609060101010101" pitchFamily="49" charset="-122"/>
                  </a:rPr>
                  <a:t>设无向图</a:t>
                </a:r>
                <a14:m>
                  <m:oMath xmlns:m="http://schemas.openxmlformats.org/officeDocument/2006/math">
                    <m:r>
                      <a:rPr lang="en-US" altLang="zh-CN" sz="2800" i="1" dirty="0">
                        <a:latin typeface="Cambria Math" panose="02040503050406030204" pitchFamily="18" charset="0"/>
                      </a:rPr>
                      <m:t>𝑮</m:t>
                    </m:r>
                    <m:r>
                      <a:rPr lang="en-US" altLang="zh-CN" sz="2800" b="0">
                        <a:latin typeface="Cambria Math" panose="02040503050406030204" pitchFamily="18" charset="0"/>
                      </a:rPr>
                      <m:t>=</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𝑽</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𝑬</m:t>
                    </m:r>
                    <m:r>
                      <a:rPr lang="en-US" altLang="zh-CN" sz="2800" i="1" smtClean="0">
                        <a:latin typeface="Cambria Math" panose="02040503050406030204" pitchFamily="18" charset="0"/>
                      </a:rPr>
                      <m:t>⟩ </m:t>
                    </m:r>
                  </m:oMath>
                </a14:m>
                <a:r>
                  <a:rPr lang="zh-CN" altLang="en-US" sz="2800" dirty="0"/>
                  <a:t>，</a:t>
                </a:r>
                <a:r>
                  <a:rPr lang="en-US" altLang="zh-CN" sz="2800" i="1" dirty="0">
                    <a:latin typeface="Times New Roman" panose="02020603050405020304" pitchFamily="18" charset="0"/>
                  </a:rPr>
                  <a:t> </a:t>
                </a:r>
                <a14:m>
                  <m:oMath xmlns:m="http://schemas.openxmlformats.org/officeDocument/2006/math">
                    <m:sSup>
                      <m:sSupPr>
                        <m:ctrlPr>
                          <a:rPr lang="en-US" altLang="zh-CN" sz="2800" b="1" i="1" smtClean="0">
                            <a:latin typeface="Cambria Math" panose="02040503050406030204" pitchFamily="18" charset="0"/>
                            <a:ea typeface="Cambria Math" panose="02040503050406030204" pitchFamily="18" charset="0"/>
                          </a:rPr>
                        </m:ctrlPr>
                      </m:sSupPr>
                      <m:e>
                        <m:r>
                          <a:rPr lang="en-US" altLang="zh-CN" sz="2800" b="1" i="1" smtClean="0">
                            <a:latin typeface="Cambria Math" panose="02040503050406030204" pitchFamily="18" charset="0"/>
                            <a:ea typeface="Cambria Math" panose="02040503050406030204" pitchFamily="18" charset="0"/>
                          </a:rPr>
                          <m:t>𝑬</m:t>
                        </m:r>
                      </m:e>
                      <m:sup>
                        <m:r>
                          <a:rPr lang="en-US" altLang="zh-CN" sz="2800" b="1" i="1" smtClean="0">
                            <a:latin typeface="Cambria Math" panose="02040503050406030204" pitchFamily="18" charset="0"/>
                            <a:ea typeface="Cambria Math" panose="02040503050406030204" pitchFamily="18" charset="0"/>
                          </a:rPr>
                          <m:t>∗</m:t>
                        </m:r>
                      </m:sup>
                    </m:sSup>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𝑬</m:t>
                    </m:r>
                    <m:r>
                      <a:rPr lang="en-US" altLang="zh-CN" sz="2800" i="1">
                        <a:latin typeface="Cambria Math" panose="02040503050406030204" pitchFamily="18" charset="0"/>
                      </a:rPr>
                      <m:t> </m:t>
                    </m:r>
                  </m:oMath>
                </a14:m>
                <a:r>
                  <a:rPr lang="zh-CN" altLang="en-US" sz="2800" dirty="0"/>
                  <a:t>，</a:t>
                </a:r>
                <a:r>
                  <a:rPr lang="zh-CN" altLang="en-US" sz="2800" b="0" dirty="0">
                    <a:latin typeface="黑体" panose="02010609060101010101" pitchFamily="49" charset="-122"/>
                    <a:ea typeface="黑体" panose="02010609060101010101" pitchFamily="49" charset="-122"/>
                  </a:rPr>
                  <a:t>若对于任意的</a:t>
                </a:r>
                <a:r>
                  <a:rPr lang="de-DE" altLang="zh-CN" sz="2800" i="1" dirty="0">
                    <a:latin typeface="Times New Roman" panose="02020603050405020304" pitchFamily="18" charset="0"/>
                  </a:rPr>
                  <a:t>u </a:t>
                </a:r>
                <a:r>
                  <a:rPr lang="en-US" altLang="zh-CN" sz="2800" dirty="0">
                    <a:latin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sym typeface="Symbol" panose="05050102010706020507" pitchFamily="18" charset="2"/>
                  </a:rPr>
                  <a:t>V</a:t>
                </a:r>
                <a:r>
                  <a:rPr lang="zh-CN" altLang="en-US" sz="2800" b="0" dirty="0">
                    <a:latin typeface="黑体" panose="02010609060101010101" pitchFamily="49" charset="-122"/>
                    <a:ea typeface="黑体" panose="02010609060101010101" pitchFamily="49" charset="-122"/>
                  </a:rPr>
                  <a:t>都有</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b="1" i="1" smtClean="0">
                            <a:latin typeface="Cambria Math" panose="02040503050406030204" pitchFamily="18" charset="0"/>
                            <a:ea typeface="Cambria Math" panose="02040503050406030204" pitchFamily="18" charset="0"/>
                          </a:rPr>
                          <m:t>𝒆</m:t>
                        </m:r>
                        <m:r>
                          <a:rPr lang="en-US" altLang="zh-CN" sz="2800" i="1" smtClean="0">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dirty="0"/>
                  <a:t>，</a:t>
                </a:r>
                <a:r>
                  <a:rPr lang="zh-CN" altLang="en-US" sz="2800" b="0" dirty="0">
                    <a:latin typeface="黑体" panose="02010609060101010101" pitchFamily="49" charset="-122"/>
                    <a:ea typeface="黑体" panose="02010609060101010101" pitchFamily="49" charset="-122"/>
                  </a:rPr>
                  <a:t>使得</a:t>
                </a:r>
                <a14:m>
                  <m:oMath xmlns:m="http://schemas.openxmlformats.org/officeDocument/2006/math">
                    <m:r>
                      <a:rPr lang="en-US" altLang="zh-CN" sz="2800" b="1" i="1" smtClean="0">
                        <a:latin typeface="Cambria Math" panose="02040503050406030204" pitchFamily="18" charset="0"/>
                        <a:ea typeface="Cambria Math" panose="02040503050406030204" pitchFamily="18" charset="0"/>
                      </a:rPr>
                      <m:t>𝒖</m:t>
                    </m:r>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𝒆</m:t>
                    </m:r>
                  </m:oMath>
                </a14:m>
                <a:r>
                  <a:rPr lang="zh-CN" altLang="en-US" sz="2800" dirty="0"/>
                  <a:t>，</a:t>
                </a:r>
                <a:r>
                  <a:rPr lang="zh-CN" altLang="en-US" sz="2800" b="0" dirty="0">
                    <a:latin typeface="黑体" panose="02010609060101010101" pitchFamily="49" charset="-122"/>
                    <a:ea typeface="黑体" panose="02010609060101010101" pitchFamily="49" charset="-122"/>
                  </a:rPr>
                  <a:t>则称</a:t>
                </a:r>
                <a14:m>
                  <m:oMath xmlns:m="http://schemas.openxmlformats.org/officeDocument/2006/math">
                    <m:r>
                      <a:rPr lang="en-US" altLang="zh-CN" sz="2800" b="1" i="1" smtClean="0">
                        <a:latin typeface="Cambria Math" panose="02040503050406030204" pitchFamily="18" charset="0"/>
                        <a:ea typeface="Cambria Math" panose="02040503050406030204" pitchFamily="18" charset="0"/>
                      </a:rPr>
                      <m:t>𝒆</m:t>
                    </m:r>
                  </m:oMath>
                </a14:m>
                <a:r>
                  <a:rPr lang="zh-CN" altLang="en-US" sz="2800" b="0" dirty="0">
                    <a:latin typeface="黑体" panose="02010609060101010101" pitchFamily="49" charset="-122"/>
                    <a:ea typeface="黑体" panose="02010609060101010101" pitchFamily="49" charset="-122"/>
                  </a:rPr>
                  <a:t>覆盖</a:t>
                </a:r>
                <a14:m>
                  <m:oMath xmlns:m="http://schemas.openxmlformats.org/officeDocument/2006/math">
                    <m:r>
                      <a:rPr lang="en-US" altLang="zh-CN" sz="2800" b="1" i="1" smtClean="0">
                        <a:latin typeface="Cambria Math" panose="02040503050406030204" pitchFamily="18" charset="0"/>
                        <a:ea typeface="Cambria Math" panose="02040503050406030204" pitchFamily="18" charset="0"/>
                      </a:rPr>
                      <m:t>𝒖</m:t>
                    </m:r>
                  </m:oMath>
                </a14:m>
                <a:r>
                  <a:rPr lang="zh-CN" altLang="en-US" sz="2800" dirty="0"/>
                  <a:t>，</a:t>
                </a:r>
                <a:r>
                  <a:rPr lang="zh-CN" altLang="en-US" sz="2800" b="0" dirty="0">
                    <a:latin typeface="黑体" panose="02010609060101010101" pitchFamily="49" charset="-122"/>
                    <a:ea typeface="黑体" panose="02010609060101010101" pitchFamily="49" charset="-122"/>
                  </a:rPr>
                  <a:t>并称</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是覆盖集</a:t>
                </a:r>
                <a:r>
                  <a:rPr lang="zh-CN" altLang="en-US" sz="2800" dirty="0"/>
                  <a:t>。</a:t>
                </a:r>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6246" y="946150"/>
                <a:ext cx="9137754" cy="5716588"/>
              </a:xfrm>
              <a:blipFill rotWithShape="0">
                <a:blip r:embed="rId3"/>
                <a:stretch>
                  <a:fillRect l="-1134" t="-746"/>
                </a:stretch>
              </a:blipFill>
            </p:spPr>
            <p:txBody>
              <a:bodyPr/>
              <a:lstStyle/>
              <a:p>
                <a:r>
                  <a:rPr lang="zh-CN" altLang="en-US">
                    <a:noFill/>
                  </a:rPr>
                  <a:t> </a:t>
                </a:r>
              </a:p>
            </p:txBody>
          </p:sp>
        </mc:Fallback>
      </mc:AlternateContent>
      <p:grpSp>
        <p:nvGrpSpPr>
          <p:cNvPr id="24" name="Group 326"/>
          <p:cNvGrpSpPr>
            <a:grpSpLocks/>
          </p:cNvGrpSpPr>
          <p:nvPr/>
        </p:nvGrpSpPr>
        <p:grpSpPr bwMode="auto">
          <a:xfrm>
            <a:off x="2641820" y="2910842"/>
            <a:ext cx="3866606" cy="2055784"/>
            <a:chOff x="768" y="2297"/>
            <a:chExt cx="1258" cy="686"/>
          </a:xfrm>
        </p:grpSpPr>
        <p:sp>
          <p:nvSpPr>
            <p:cNvPr id="25"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26" name="Line 280"/>
            <p:cNvSpPr>
              <a:spLocks noChangeShapeType="1"/>
            </p:cNvSpPr>
            <p:nvPr/>
          </p:nvSpPr>
          <p:spPr bwMode="auto">
            <a:xfrm>
              <a:off x="1008" y="2496"/>
              <a:ext cx="336" cy="1"/>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27"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28"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29" name="Line 284"/>
            <p:cNvSpPr>
              <a:spLocks noChangeShapeType="1"/>
            </p:cNvSpPr>
            <p:nvPr/>
          </p:nvSpPr>
          <p:spPr bwMode="auto">
            <a:xfrm flipH="1">
              <a:off x="1344" y="2496"/>
              <a:ext cx="336" cy="0"/>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0"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1" name="Line 286"/>
            <p:cNvSpPr>
              <a:spLocks noChangeShapeType="1"/>
            </p:cNvSpPr>
            <p:nvPr/>
          </p:nvSpPr>
          <p:spPr bwMode="auto">
            <a:xfrm>
              <a:off x="1344" y="2871"/>
              <a:ext cx="336" cy="0"/>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2" name="Line 287"/>
            <p:cNvSpPr>
              <a:spLocks noChangeShapeType="1"/>
            </p:cNvSpPr>
            <p:nvPr/>
          </p:nvSpPr>
          <p:spPr bwMode="auto">
            <a:xfrm flipV="1">
              <a:off x="1008" y="2684"/>
              <a:ext cx="168" cy="187"/>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3"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4"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5" name="Line 290"/>
            <p:cNvSpPr>
              <a:spLocks noChangeShapeType="1"/>
            </p:cNvSpPr>
            <p:nvPr/>
          </p:nvSpPr>
          <p:spPr bwMode="auto">
            <a:xfrm flipH="1">
              <a:off x="1344" y="2684"/>
              <a:ext cx="168" cy="187"/>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36"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37"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38"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39"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40"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41"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42"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43"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Tree>
    <p:extLst>
      <p:ext uri="{BB962C8B-B14F-4D97-AF65-F5344CB8AC3E}">
        <p14:creationId xmlns:p14="http://schemas.microsoft.com/office/powerpoint/2010/main" val="3060213866"/>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dirty="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6246" y="946150"/>
                <a:ext cx="9137754"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10.8.5 </a:t>
                </a:r>
                <a:r>
                  <a:rPr lang="zh-CN" altLang="en-US" sz="2800" b="0" dirty="0">
                    <a:latin typeface="黑体" panose="02010609060101010101" pitchFamily="49" charset="-122"/>
                    <a:ea typeface="黑体" panose="02010609060101010101" pitchFamily="49" charset="-122"/>
                  </a:rPr>
                  <a:t>设</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是图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的覆盖集</a:t>
                </a:r>
                <a:r>
                  <a:rPr lang="zh-CN" altLang="en-US" sz="2800" dirty="0"/>
                  <a:t>，</a:t>
                </a:r>
                <a:r>
                  <a:rPr lang="en-US" altLang="zh-CN" sz="2800" i="1" dirty="0">
                    <a:latin typeface="Times New Roman" panose="02020603050405020304" pitchFamily="18" charset="0"/>
                    <a:sym typeface="Symbol" panose="05050102010706020507" pitchFamily="18" charset="2"/>
                  </a:rPr>
                  <a:t> </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的任何真子集都不是图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的覆盖集</a:t>
                </a:r>
                <a:r>
                  <a:rPr lang="zh-CN" altLang="en-US" sz="2800" dirty="0"/>
                  <a:t>，</a:t>
                </a:r>
                <a:r>
                  <a:rPr lang="zh-CN" altLang="en-US" sz="2800" b="0" dirty="0">
                    <a:latin typeface="黑体" panose="02010609060101010101" pitchFamily="49" charset="-122"/>
                    <a:ea typeface="黑体" panose="02010609060101010101" pitchFamily="49" charset="-122"/>
                  </a:rPr>
                  <a:t>则称</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的极小覆盖集</a:t>
                </a:r>
                <a:r>
                  <a:rPr lang="zh-CN" altLang="en-US" sz="2800" dirty="0"/>
                  <a:t>。</a:t>
                </a:r>
              </a:p>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10.8.6</a:t>
                </a:r>
                <a:r>
                  <a:rPr lang="en-US" altLang="zh-CN" sz="2800" dirty="0">
                    <a:solidFill>
                      <a:srgbClr val="0099CC"/>
                    </a:solidFill>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的边数最小的覆盖集称为最小覆盖集</a:t>
                </a:r>
                <a:r>
                  <a:rPr lang="zh-CN" altLang="en-US" sz="2800" dirty="0"/>
                  <a:t>，</a:t>
                </a:r>
                <a:r>
                  <a:rPr lang="zh-CN" altLang="en-US" sz="2800" b="0" dirty="0">
                    <a:latin typeface="黑体" panose="02010609060101010101" pitchFamily="49" charset="-122"/>
                    <a:ea typeface="黑体" panose="02010609060101010101" pitchFamily="49" charset="-122"/>
                  </a:rPr>
                  <a:t>即</a:t>
                </a:r>
                <a14:m>
                  <m:oMath xmlns:m="http://schemas.openxmlformats.org/officeDocument/2006/math">
                    <m:r>
                      <a:rPr lang="en-US" altLang="zh-CN" sz="2800" b="1" i="0" dirty="0" smtClean="0">
                        <a:latin typeface="Cambria Math" panose="02040503050406030204" pitchFamily="18" charset="0"/>
                      </a:rPr>
                      <m:t>𝐦𝐢𝐧</m:t>
                    </m:r>
                    <m:r>
                      <a:rPr lang="en-US" altLang="zh-CN" sz="2800" b="1" i="1" dirty="0" smtClean="0">
                        <a:latin typeface="Cambria Math" panose="02040503050406030204" pitchFamily="18" charset="0"/>
                      </a:rPr>
                      <m:t>{|</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r>
                      <a:rPr lang="en-US" altLang="zh-CN" sz="2800" b="1" i="1" dirty="0" smtClean="0">
                        <a:latin typeface="Cambria Math" panose="02040503050406030204" pitchFamily="18" charset="0"/>
                      </a:rPr>
                      <m:t>|}</m:t>
                    </m:r>
                    <m:r>
                      <a:rPr lang="en-US" altLang="zh-CN" sz="2800" i="1" dirty="0">
                        <a:latin typeface="Cambria Math" panose="02040503050406030204" pitchFamily="18" charset="0"/>
                      </a:rPr>
                      <m:t> </m:t>
                    </m:r>
                  </m:oMath>
                </a14:m>
                <a:r>
                  <a:rPr lang="zh-CN" altLang="en-US" sz="2800" dirty="0"/>
                  <a:t>。</a:t>
                </a:r>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6246" y="946150"/>
                <a:ext cx="9137754" cy="5716588"/>
              </a:xfrm>
              <a:blipFill rotWithShape="0">
                <a:blip r:embed="rId3"/>
                <a:stretch>
                  <a:fillRect l="-1134" t="-2132" r="-1001"/>
                </a:stretch>
              </a:blipFill>
            </p:spPr>
            <p:txBody>
              <a:bodyPr/>
              <a:lstStyle/>
              <a:p>
                <a:r>
                  <a:rPr lang="zh-CN" altLang="en-US">
                    <a:noFill/>
                  </a:rPr>
                  <a:t> </a:t>
                </a:r>
              </a:p>
            </p:txBody>
          </p:sp>
        </mc:Fallback>
      </mc:AlternateContent>
      <p:grpSp>
        <p:nvGrpSpPr>
          <p:cNvPr id="4" name="Group 326"/>
          <p:cNvGrpSpPr>
            <a:grpSpLocks/>
          </p:cNvGrpSpPr>
          <p:nvPr/>
        </p:nvGrpSpPr>
        <p:grpSpPr bwMode="auto">
          <a:xfrm>
            <a:off x="4629429" y="3464349"/>
            <a:ext cx="3866606" cy="2055784"/>
            <a:chOff x="768" y="2297"/>
            <a:chExt cx="1258" cy="686"/>
          </a:xfrm>
        </p:grpSpPr>
        <p:sp>
          <p:nvSpPr>
            <p:cNvPr id="5"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6" name="Line 280"/>
            <p:cNvSpPr>
              <a:spLocks noChangeShapeType="1"/>
            </p:cNvSpPr>
            <p:nvPr/>
          </p:nvSpPr>
          <p:spPr bwMode="auto">
            <a:xfrm>
              <a:off x="1008" y="2496"/>
              <a:ext cx="336" cy="1"/>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8"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0"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1" name="Line 286"/>
            <p:cNvSpPr>
              <a:spLocks noChangeShapeType="1"/>
            </p:cNvSpPr>
            <p:nvPr/>
          </p:nvSpPr>
          <p:spPr bwMode="auto">
            <a:xfrm>
              <a:off x="1344" y="2871"/>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2" name="Line 287"/>
            <p:cNvSpPr>
              <a:spLocks noChangeShapeType="1"/>
            </p:cNvSpPr>
            <p:nvPr/>
          </p:nvSpPr>
          <p:spPr bwMode="auto">
            <a:xfrm flipV="1">
              <a:off x="1008" y="2684"/>
              <a:ext cx="168" cy="187"/>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3" name="Line 288"/>
            <p:cNvSpPr>
              <a:spLocks noChangeShapeType="1"/>
            </p:cNvSpPr>
            <p:nvPr/>
          </p:nvSpPr>
          <p:spPr bwMode="auto">
            <a:xfrm>
              <a:off x="1680" y="2496"/>
              <a:ext cx="0" cy="375"/>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4"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5" name="Line 290"/>
            <p:cNvSpPr>
              <a:spLocks noChangeShapeType="1"/>
            </p:cNvSpPr>
            <p:nvPr/>
          </p:nvSpPr>
          <p:spPr bwMode="auto">
            <a:xfrm flipH="1">
              <a:off x="1344" y="2684"/>
              <a:ext cx="168" cy="187"/>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6"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17"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18"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19"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20"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21"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22"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23"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grpSp>
        <p:nvGrpSpPr>
          <p:cNvPr id="44" name="Group 326"/>
          <p:cNvGrpSpPr>
            <a:grpSpLocks/>
          </p:cNvGrpSpPr>
          <p:nvPr/>
        </p:nvGrpSpPr>
        <p:grpSpPr bwMode="auto">
          <a:xfrm>
            <a:off x="434482" y="3461351"/>
            <a:ext cx="3866606" cy="2055784"/>
            <a:chOff x="768" y="2297"/>
            <a:chExt cx="1258" cy="686"/>
          </a:xfrm>
        </p:grpSpPr>
        <p:sp>
          <p:nvSpPr>
            <p:cNvPr id="45"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46" name="Line 280"/>
            <p:cNvSpPr>
              <a:spLocks noChangeShapeType="1"/>
            </p:cNvSpPr>
            <p:nvPr/>
          </p:nvSpPr>
          <p:spPr bwMode="auto">
            <a:xfrm>
              <a:off x="1008" y="2496"/>
              <a:ext cx="336" cy="1"/>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7"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8"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9" name="Line 284"/>
            <p:cNvSpPr>
              <a:spLocks noChangeShapeType="1"/>
            </p:cNvSpPr>
            <p:nvPr/>
          </p:nvSpPr>
          <p:spPr bwMode="auto">
            <a:xfrm flipH="1">
              <a:off x="1344" y="2496"/>
              <a:ext cx="336" cy="0"/>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0"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1" name="Line 286"/>
            <p:cNvSpPr>
              <a:spLocks noChangeShapeType="1"/>
            </p:cNvSpPr>
            <p:nvPr/>
          </p:nvSpPr>
          <p:spPr bwMode="auto">
            <a:xfrm>
              <a:off x="1344" y="2871"/>
              <a:ext cx="336" cy="0"/>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2" name="Line 287"/>
            <p:cNvSpPr>
              <a:spLocks noChangeShapeType="1"/>
            </p:cNvSpPr>
            <p:nvPr/>
          </p:nvSpPr>
          <p:spPr bwMode="auto">
            <a:xfrm flipV="1">
              <a:off x="1008" y="2684"/>
              <a:ext cx="168" cy="187"/>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3"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4"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5" name="Line 290"/>
            <p:cNvSpPr>
              <a:spLocks noChangeShapeType="1"/>
            </p:cNvSpPr>
            <p:nvPr/>
          </p:nvSpPr>
          <p:spPr bwMode="auto">
            <a:xfrm flipH="1">
              <a:off x="1344" y="2684"/>
              <a:ext cx="168" cy="187"/>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6"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57"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58"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59"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60"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61"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62"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63"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Tree>
    <p:extLst>
      <p:ext uri="{BB962C8B-B14F-4D97-AF65-F5344CB8AC3E}">
        <p14:creationId xmlns:p14="http://schemas.microsoft.com/office/powerpoint/2010/main" val="110637903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6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dirty="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75928" y="937441"/>
                <a:ext cx="8998404"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10.8.7 </a:t>
                </a:r>
                <a:r>
                  <a:rPr lang="zh-CN" altLang="en-US" sz="2800" b="0" dirty="0">
                    <a:latin typeface="黑体" panose="02010609060101010101" pitchFamily="49" charset="-122"/>
                    <a:ea typeface="黑体" panose="02010609060101010101" pitchFamily="49" charset="-122"/>
                  </a:rPr>
                  <a:t>设无向图</a:t>
                </a:r>
                <a14:m>
                  <m:oMath xmlns:m="http://schemas.openxmlformats.org/officeDocument/2006/math">
                    <m:r>
                      <a:rPr lang="en-US" altLang="zh-CN" sz="2800" i="1" dirty="0">
                        <a:latin typeface="Cambria Math" panose="02040503050406030204" pitchFamily="18" charset="0"/>
                      </a:rPr>
                      <m:t>𝑮</m:t>
                    </m:r>
                    <m:r>
                      <a:rPr lang="en-US" altLang="zh-CN" sz="2800" b="0">
                        <a:latin typeface="Cambria Math" panose="02040503050406030204" pitchFamily="18" charset="0"/>
                      </a:rPr>
                      <m:t>=</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𝑽</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𝑬</m:t>
                    </m:r>
                    <m:r>
                      <a:rPr lang="en-US" altLang="zh-CN" sz="2800" i="1" smtClean="0">
                        <a:latin typeface="Cambria Math" panose="02040503050406030204" pitchFamily="18" charset="0"/>
                      </a:rPr>
                      <m:t>⟩ </m:t>
                    </m:r>
                  </m:oMath>
                </a14:m>
                <a:r>
                  <a:rPr lang="zh-CN" altLang="en-US" dirty="0"/>
                  <a:t>，</a:t>
                </a:r>
                <a:r>
                  <a:rPr lang="en-US" altLang="zh-CN" i="1" dirty="0">
                    <a:latin typeface="Times New Roman" panose="02020603050405020304" pitchFamily="18" charset="0"/>
                  </a:rPr>
                  <a:t> </a:t>
                </a:r>
                <a14:m>
                  <m:oMath xmlns:m="http://schemas.openxmlformats.org/officeDocument/2006/math">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𝑬</m:t>
                        </m:r>
                      </m:e>
                      <m:sup>
                        <m:r>
                          <a:rPr lang="en-US" altLang="zh-CN" sz="2400" i="1">
                            <a:latin typeface="Cambria Math" panose="02040503050406030204" pitchFamily="18" charset="0"/>
                            <a:ea typeface="Cambria Math" panose="02040503050406030204" pitchFamily="18" charset="0"/>
                          </a:rPr>
                          <m:t>∗</m:t>
                        </m:r>
                      </m:sup>
                    </m:s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𝑬</m:t>
                    </m:r>
                    <m:r>
                      <a:rPr lang="en-US" altLang="zh-CN" sz="2400" i="1">
                        <a:latin typeface="Cambria Math" panose="02040503050406030204" pitchFamily="18" charset="0"/>
                      </a:rPr>
                      <m:t> </m:t>
                    </m:r>
                  </m:oMath>
                </a14:m>
                <a:r>
                  <a:rPr lang="zh-CN" altLang="en-US" dirty="0"/>
                  <a:t>，</a:t>
                </a:r>
                <a:r>
                  <a:rPr lang="zh-CN" altLang="en-US" sz="2800" b="0" dirty="0">
                    <a:latin typeface="黑体" panose="02010609060101010101" pitchFamily="49" charset="-122"/>
                    <a:ea typeface="黑体" panose="02010609060101010101" pitchFamily="49" charset="-122"/>
                  </a:rPr>
                  <a:t>若</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中任意两条边都不相邻，则称</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是独立集</a:t>
                </a:r>
                <a:r>
                  <a:rPr lang="zh-CN" altLang="en-US" dirty="0"/>
                  <a:t>。</a:t>
                </a:r>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75928" y="937441"/>
                <a:ext cx="8998404" cy="5716588"/>
              </a:xfrm>
              <a:blipFill rotWithShape="0">
                <a:blip r:embed="rId2"/>
                <a:stretch>
                  <a:fillRect l="-1151" t="-853"/>
                </a:stretch>
              </a:blipFill>
            </p:spPr>
            <p:txBody>
              <a:bodyPr/>
              <a:lstStyle/>
              <a:p>
                <a:r>
                  <a:rPr lang="zh-CN" altLang="en-US">
                    <a:noFill/>
                  </a:rPr>
                  <a:t> </a:t>
                </a:r>
              </a:p>
            </p:txBody>
          </p:sp>
        </mc:Fallback>
      </mc:AlternateContent>
      <p:grpSp>
        <p:nvGrpSpPr>
          <p:cNvPr id="46" name="Group 326"/>
          <p:cNvGrpSpPr>
            <a:grpSpLocks/>
          </p:cNvGrpSpPr>
          <p:nvPr/>
        </p:nvGrpSpPr>
        <p:grpSpPr bwMode="auto">
          <a:xfrm>
            <a:off x="2071621" y="2634485"/>
            <a:ext cx="3866606" cy="2055784"/>
            <a:chOff x="768" y="2297"/>
            <a:chExt cx="1258" cy="686"/>
          </a:xfrm>
        </p:grpSpPr>
        <p:sp>
          <p:nvSpPr>
            <p:cNvPr id="47"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48" name="Line 280"/>
            <p:cNvSpPr>
              <a:spLocks noChangeShapeType="1"/>
            </p:cNvSpPr>
            <p:nvPr/>
          </p:nvSpPr>
          <p:spPr bwMode="auto">
            <a:xfrm>
              <a:off x="1008" y="2496"/>
              <a:ext cx="336" cy="1"/>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9"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0"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1"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2"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3" name="Line 286"/>
            <p:cNvSpPr>
              <a:spLocks noChangeShapeType="1"/>
            </p:cNvSpPr>
            <p:nvPr/>
          </p:nvSpPr>
          <p:spPr bwMode="auto">
            <a:xfrm>
              <a:off x="1344" y="2871"/>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4" name="Line 287"/>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5"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6"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7" name="Line 290"/>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8"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59"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60"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61"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62"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63"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64"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65"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Tree>
    <p:extLst>
      <p:ext uri="{BB962C8B-B14F-4D97-AF65-F5344CB8AC3E}">
        <p14:creationId xmlns:p14="http://schemas.microsoft.com/office/powerpoint/2010/main" val="298917138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dirty="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75928" y="937441"/>
                <a:ext cx="8998404"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10.8.7 </a:t>
                </a:r>
                <a:r>
                  <a:rPr lang="zh-CN" altLang="en-US" sz="2800" b="0" dirty="0">
                    <a:latin typeface="黑体" panose="02010609060101010101" pitchFamily="49" charset="-122"/>
                    <a:ea typeface="黑体" panose="02010609060101010101" pitchFamily="49" charset="-122"/>
                  </a:rPr>
                  <a:t>设无向图</a:t>
                </a:r>
                <a14:m>
                  <m:oMath xmlns:m="http://schemas.openxmlformats.org/officeDocument/2006/math">
                    <m:r>
                      <a:rPr lang="en-US" altLang="zh-CN" sz="2800" i="1" dirty="0">
                        <a:latin typeface="Cambria Math" panose="02040503050406030204" pitchFamily="18" charset="0"/>
                      </a:rPr>
                      <m:t>𝑮</m:t>
                    </m:r>
                    <m:r>
                      <a:rPr lang="en-US" altLang="zh-CN" sz="2800" b="0">
                        <a:latin typeface="Cambria Math" panose="02040503050406030204" pitchFamily="18" charset="0"/>
                      </a:rPr>
                      <m:t>=</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𝑽</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𝑬</m:t>
                    </m:r>
                    <m:r>
                      <a:rPr lang="en-US" altLang="zh-CN" sz="2800" i="1" smtClean="0">
                        <a:latin typeface="Cambria Math" panose="02040503050406030204" pitchFamily="18" charset="0"/>
                      </a:rPr>
                      <m:t>⟩ </m:t>
                    </m:r>
                  </m:oMath>
                </a14:m>
                <a:r>
                  <a:rPr lang="zh-CN" altLang="en-US" dirty="0"/>
                  <a:t>，</a:t>
                </a:r>
                <a:r>
                  <a:rPr lang="en-US" altLang="zh-CN" i="1" dirty="0">
                    <a:latin typeface="Times New Roman" panose="02020603050405020304" pitchFamily="18" charset="0"/>
                  </a:rPr>
                  <a:t> </a:t>
                </a:r>
                <a14:m>
                  <m:oMath xmlns:m="http://schemas.openxmlformats.org/officeDocument/2006/math">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𝑬</m:t>
                        </m:r>
                      </m:e>
                      <m:sup>
                        <m:r>
                          <a:rPr lang="en-US" altLang="zh-CN" sz="2400" i="1">
                            <a:latin typeface="Cambria Math" panose="02040503050406030204" pitchFamily="18" charset="0"/>
                            <a:ea typeface="Cambria Math" panose="02040503050406030204" pitchFamily="18" charset="0"/>
                          </a:rPr>
                          <m:t>∗</m:t>
                        </m:r>
                      </m:sup>
                    </m:s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𝑬</m:t>
                    </m:r>
                    <m:r>
                      <a:rPr lang="en-US" altLang="zh-CN" sz="2400" i="1">
                        <a:latin typeface="Cambria Math" panose="02040503050406030204" pitchFamily="18" charset="0"/>
                      </a:rPr>
                      <m:t> </m:t>
                    </m:r>
                  </m:oMath>
                </a14:m>
                <a:r>
                  <a:rPr lang="zh-CN" altLang="en-US" dirty="0"/>
                  <a:t>，</a:t>
                </a:r>
                <a:r>
                  <a:rPr lang="zh-CN" altLang="en-US" sz="2800" b="0" dirty="0">
                    <a:latin typeface="黑体" panose="02010609060101010101" pitchFamily="49" charset="-122"/>
                    <a:ea typeface="黑体" panose="02010609060101010101" pitchFamily="49" charset="-122"/>
                  </a:rPr>
                  <a:t>若</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中任意两条边都不相邻，则称</a:t>
                </a:r>
                <a14:m>
                  <m:oMath xmlns:m="http://schemas.openxmlformats.org/officeDocument/2006/math">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𝑬</m:t>
                        </m:r>
                      </m:e>
                      <m:sup>
                        <m:r>
                          <a:rPr lang="en-US" altLang="zh-CN" sz="2800" i="1">
                            <a:latin typeface="Cambria Math" panose="02040503050406030204" pitchFamily="18" charset="0"/>
                            <a:ea typeface="Cambria Math" panose="02040503050406030204" pitchFamily="18" charset="0"/>
                          </a:rPr>
                          <m:t>∗</m:t>
                        </m:r>
                      </m:sup>
                    </m:sSup>
                  </m:oMath>
                </a14:m>
                <a:r>
                  <a:rPr lang="zh-CN" altLang="en-US" sz="2800" b="0" dirty="0">
                    <a:latin typeface="黑体" panose="02010609060101010101" pitchFamily="49" charset="-122"/>
                    <a:ea typeface="黑体" panose="02010609060101010101" pitchFamily="49" charset="-122"/>
                  </a:rPr>
                  <a:t>是独立集</a:t>
                </a:r>
                <a:r>
                  <a:rPr lang="zh-CN" altLang="en-US" dirty="0"/>
                  <a:t>。</a:t>
                </a:r>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75928" y="937441"/>
                <a:ext cx="8998404" cy="5716588"/>
              </a:xfrm>
              <a:blipFill rotWithShape="0">
                <a:blip r:embed="rId2"/>
                <a:stretch>
                  <a:fillRect l="-1151" t="-853"/>
                </a:stretch>
              </a:blipFill>
            </p:spPr>
            <p:txBody>
              <a:bodyPr/>
              <a:lstStyle/>
              <a:p>
                <a:r>
                  <a:rPr lang="zh-CN" altLang="en-US">
                    <a:noFill/>
                  </a:rPr>
                  <a:t> </a:t>
                </a:r>
              </a:p>
            </p:txBody>
          </p:sp>
        </mc:Fallback>
      </mc:AlternateContent>
      <p:grpSp>
        <p:nvGrpSpPr>
          <p:cNvPr id="46" name="Group 326"/>
          <p:cNvGrpSpPr>
            <a:grpSpLocks/>
          </p:cNvGrpSpPr>
          <p:nvPr/>
        </p:nvGrpSpPr>
        <p:grpSpPr bwMode="auto">
          <a:xfrm>
            <a:off x="2071621" y="2634485"/>
            <a:ext cx="3866606" cy="2055784"/>
            <a:chOff x="768" y="2297"/>
            <a:chExt cx="1258" cy="686"/>
          </a:xfrm>
        </p:grpSpPr>
        <p:sp>
          <p:nvSpPr>
            <p:cNvPr id="47" name="Text Box 292"/>
            <p:cNvSpPr txBox="1">
              <a:spLocks noChangeArrowheads="1"/>
            </p:cNvSpPr>
            <p:nvPr/>
          </p:nvSpPr>
          <p:spPr bwMode="auto">
            <a:xfrm>
              <a:off x="1202" y="2297"/>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48" name="Line 280"/>
            <p:cNvSpPr>
              <a:spLocks noChangeShapeType="1"/>
            </p:cNvSpPr>
            <p:nvPr/>
          </p:nvSpPr>
          <p:spPr bwMode="auto">
            <a:xfrm>
              <a:off x="1008" y="2496"/>
              <a:ext cx="336" cy="1"/>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9"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0"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1"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2"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3" name="Line 286"/>
            <p:cNvSpPr>
              <a:spLocks noChangeShapeType="1"/>
            </p:cNvSpPr>
            <p:nvPr/>
          </p:nvSpPr>
          <p:spPr bwMode="auto">
            <a:xfrm>
              <a:off x="1344" y="2871"/>
              <a:ext cx="336" cy="0"/>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4" name="Line 287"/>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5"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6"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7" name="Line 290"/>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58"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59" name="Text Box 293"/>
            <p:cNvSpPr txBox="1">
              <a:spLocks noChangeArrowheads="1"/>
            </p:cNvSpPr>
            <p:nvPr/>
          </p:nvSpPr>
          <p:spPr bwMode="auto">
            <a:xfrm>
              <a:off x="768" y="230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60" name="Text Box 294"/>
            <p:cNvSpPr txBox="1">
              <a:spLocks noChangeArrowheads="1"/>
            </p:cNvSpPr>
            <p:nvPr/>
          </p:nvSpPr>
          <p:spPr bwMode="auto">
            <a:xfrm>
              <a:off x="768" y="2832"/>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61" name="Text Box 295"/>
            <p:cNvSpPr txBox="1">
              <a:spLocks noChangeArrowheads="1"/>
            </p:cNvSpPr>
            <p:nvPr/>
          </p:nvSpPr>
          <p:spPr bwMode="auto">
            <a:xfrm>
              <a:off x="1200" y="2880"/>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62" name="Text Box 296"/>
            <p:cNvSpPr txBox="1">
              <a:spLocks noChangeArrowheads="1"/>
            </p:cNvSpPr>
            <p:nvPr/>
          </p:nvSpPr>
          <p:spPr bwMode="auto">
            <a:xfrm>
              <a:off x="1728" y="2805"/>
              <a:ext cx="29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63" name="Text Box 297"/>
            <p:cNvSpPr txBox="1">
              <a:spLocks noChangeArrowheads="1"/>
            </p:cNvSpPr>
            <p:nvPr/>
          </p:nvSpPr>
          <p:spPr bwMode="auto">
            <a:xfrm>
              <a:off x="1703" y="2307"/>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64"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65"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Tree>
    <p:extLst>
      <p:ext uri="{BB962C8B-B14F-4D97-AF65-F5344CB8AC3E}">
        <p14:creationId xmlns:p14="http://schemas.microsoft.com/office/powerpoint/2010/main" val="1122880313"/>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dirty="0">
                <a:latin typeface="黑体" panose="02010609060101010101" pitchFamily="49" charset="-122"/>
                <a:ea typeface="黑体" panose="02010609060101010101" pitchFamily="49" charset="-122"/>
              </a:rPr>
              <a:t>支配集、覆盖集与独立集</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75928" y="937441"/>
                <a:ext cx="8991872" cy="5716588"/>
              </a:xfrm>
            </p:spPr>
            <p:txBody>
              <a:bodyPr/>
              <a:lstStyle/>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10.8.8 </a:t>
                </a:r>
                <a:r>
                  <a:rPr lang="zh-CN" altLang="en-US" sz="2800" b="0" dirty="0"/>
                  <a:t>设</a:t>
                </a:r>
                <a14:m>
                  <m:oMath xmlns:m="http://schemas.openxmlformats.org/officeDocument/2006/math">
                    <m:sSubSup>
                      <m:sSubSupPr>
                        <m:ctrlPr>
                          <a:rPr lang="en-US" altLang="zh-CN" sz="2800" i="1">
                            <a:latin typeface="Cambria Math" panose="02040503050406030204" pitchFamily="18" charset="0"/>
                          </a:rPr>
                        </m:ctrlPr>
                      </m:sSubSupPr>
                      <m:e>
                        <m:r>
                          <a:rPr lang="en-US" altLang="zh-CN" sz="2800" i="1">
                            <a:latin typeface="Cambria Math" panose="02040503050406030204" pitchFamily="18" charset="0"/>
                          </a:rPr>
                          <m:t>𝑬</m:t>
                        </m:r>
                      </m:e>
                      <m:sub>
                        <m:r>
                          <a:rPr lang="en-US" altLang="zh-CN" sz="2800" b="1" i="1" smtClean="0">
                            <a:latin typeface="Cambria Math" panose="02040503050406030204" pitchFamily="18" charset="0"/>
                          </a:rPr>
                          <m:t>𝟏</m:t>
                        </m:r>
                      </m:sub>
                      <m:sup>
                        <m:r>
                          <a:rPr lang="en-US" altLang="zh-CN" sz="2800" i="1">
                            <a:latin typeface="Cambria Math" panose="02040503050406030204" pitchFamily="18" charset="0"/>
                          </a:rPr>
                          <m:t>∗</m:t>
                        </m:r>
                      </m:sup>
                    </m:sSubSup>
                  </m:oMath>
                </a14:m>
                <a:r>
                  <a:rPr lang="zh-CN" altLang="en-US" sz="2800" b="0" dirty="0"/>
                  <a:t>是图</a:t>
                </a:r>
                <a14:m>
                  <m:oMath xmlns:m="http://schemas.openxmlformats.org/officeDocument/2006/math">
                    <m:r>
                      <a:rPr lang="en-US" altLang="zh-CN" sz="2800" i="1" dirty="0">
                        <a:latin typeface="Cambria Math" panose="02040503050406030204" pitchFamily="18" charset="0"/>
                      </a:rPr>
                      <m:t>𝑮</m:t>
                    </m:r>
                  </m:oMath>
                </a14:m>
                <a:r>
                  <a:rPr lang="zh-CN" altLang="en-US" sz="2800" b="0" dirty="0"/>
                  <a:t>的独立集</a:t>
                </a:r>
                <a:r>
                  <a:rPr lang="zh-CN" altLang="en-US" sz="2800" dirty="0"/>
                  <a:t>，</a:t>
                </a:r>
                <a:r>
                  <a:rPr lang="zh-CN" altLang="en-US" sz="2800" b="0" dirty="0"/>
                  <a:t>对于任意</a:t>
                </a:r>
                <a14:m>
                  <m:oMath xmlns:m="http://schemas.openxmlformats.org/officeDocument/2006/math">
                    <m:sSubSup>
                      <m:sSubSupPr>
                        <m:ctrlPr>
                          <a:rPr lang="en-US" altLang="zh-CN" sz="2800" i="1" smtClean="0">
                            <a:latin typeface="Cambria Math" panose="02040503050406030204" pitchFamily="18" charset="0"/>
                          </a:rPr>
                        </m:ctrlPr>
                      </m:sSubSupPr>
                      <m:e>
                        <m:r>
                          <a:rPr lang="en-US" altLang="zh-CN" sz="2800" b="1" i="1" smtClean="0">
                            <a:latin typeface="Cambria Math" panose="02040503050406030204" pitchFamily="18" charset="0"/>
                          </a:rPr>
                          <m:t>𝑬</m:t>
                        </m:r>
                      </m:e>
                      <m:sub>
                        <m:r>
                          <a:rPr lang="en-US" altLang="zh-CN" sz="2800" b="1" i="1" smtClean="0">
                            <a:latin typeface="Cambria Math" panose="02040503050406030204" pitchFamily="18" charset="0"/>
                          </a:rPr>
                          <m:t>𝟏</m:t>
                        </m:r>
                      </m:sub>
                      <m:sup>
                        <m:r>
                          <a:rPr lang="en-US" altLang="zh-CN" sz="2800" b="1" i="1" smtClean="0">
                            <a:latin typeface="Cambria Math" panose="02040503050406030204" pitchFamily="18" charset="0"/>
                          </a:rPr>
                          <m:t>∗</m:t>
                        </m:r>
                      </m:sup>
                    </m:sSubSup>
                  </m:oMath>
                </a14:m>
                <a:r>
                  <a:rPr lang="en-US" altLang="zh-CN" sz="2800" dirty="0">
                    <a:ea typeface="Cambria Math" panose="02040503050406030204" pitchFamily="18" charset="0"/>
                  </a:rPr>
                  <a:t> </a:t>
                </a:r>
                <a14:m>
                  <m:oMath xmlns:m="http://schemas.openxmlformats.org/officeDocument/2006/math">
                    <m:r>
                      <a:rPr lang="en-US" altLang="zh-CN" sz="2800" i="1">
                        <a:latin typeface="Cambria Math" panose="02040503050406030204" pitchFamily="18" charset="0"/>
                        <a:ea typeface="Cambria Math" panose="02040503050406030204" pitchFamily="18" charset="0"/>
                      </a:rPr>
                      <m:t>⊂</m:t>
                    </m:r>
                    <m:sSubSup>
                      <m:sSubSupPr>
                        <m:ctrlPr>
                          <a:rPr lang="en-US" altLang="zh-CN" sz="2800" i="1">
                            <a:latin typeface="Cambria Math" panose="02040503050406030204" pitchFamily="18" charset="0"/>
                          </a:rPr>
                        </m:ctrlPr>
                      </m:sSubSupPr>
                      <m:e>
                        <m:r>
                          <a:rPr lang="en-US" altLang="zh-CN" sz="2800" i="1">
                            <a:latin typeface="Cambria Math" panose="02040503050406030204" pitchFamily="18" charset="0"/>
                          </a:rPr>
                          <m:t>𝑬</m:t>
                        </m:r>
                      </m:e>
                      <m:sub>
                        <m:r>
                          <a:rPr lang="en-US" altLang="zh-CN" sz="2800" i="1">
                            <a:latin typeface="Cambria Math" panose="02040503050406030204" pitchFamily="18" charset="0"/>
                          </a:rPr>
                          <m:t>𝟐</m:t>
                        </m:r>
                      </m:sub>
                      <m:sup>
                        <m:r>
                          <a:rPr lang="en-US" altLang="zh-CN" sz="2800" i="1">
                            <a:latin typeface="Cambria Math" panose="02040503050406030204" pitchFamily="18" charset="0"/>
                          </a:rPr>
                          <m:t>∗</m:t>
                        </m:r>
                      </m:sup>
                    </m:sSubSup>
                  </m:oMath>
                </a14:m>
                <a:r>
                  <a:rPr lang="zh-CN" altLang="en-US" sz="2800" b="0" dirty="0"/>
                  <a:t>满足的集合</a:t>
                </a:r>
                <a14:m>
                  <m:oMath xmlns:m="http://schemas.openxmlformats.org/officeDocument/2006/math">
                    <m:sSubSup>
                      <m:sSubSupPr>
                        <m:ctrlPr>
                          <a:rPr lang="en-US" altLang="zh-CN" sz="2800" i="1">
                            <a:latin typeface="Cambria Math" panose="02040503050406030204" pitchFamily="18" charset="0"/>
                          </a:rPr>
                        </m:ctrlPr>
                      </m:sSubSupPr>
                      <m:e>
                        <m:r>
                          <a:rPr lang="en-US" altLang="zh-CN" sz="2800" i="1">
                            <a:latin typeface="Cambria Math" panose="02040503050406030204" pitchFamily="18" charset="0"/>
                          </a:rPr>
                          <m:t>𝑬</m:t>
                        </m:r>
                      </m:e>
                      <m:sub>
                        <m:r>
                          <a:rPr lang="en-US" altLang="zh-CN" sz="2800" i="1">
                            <a:latin typeface="Cambria Math" panose="02040503050406030204" pitchFamily="18" charset="0"/>
                          </a:rPr>
                          <m:t>𝟐</m:t>
                        </m:r>
                      </m:sub>
                      <m:sup>
                        <m:r>
                          <a:rPr lang="en-US" altLang="zh-CN" sz="2800" i="1">
                            <a:latin typeface="Cambria Math" panose="02040503050406030204" pitchFamily="18" charset="0"/>
                          </a:rPr>
                          <m:t>∗</m:t>
                        </m:r>
                      </m:sup>
                    </m:sSubSup>
                  </m:oMath>
                </a14:m>
                <a:r>
                  <a:rPr lang="zh-CN" altLang="en-US" sz="2800" b="0" dirty="0"/>
                  <a:t>都不是图</a:t>
                </a:r>
                <a14:m>
                  <m:oMath xmlns:m="http://schemas.openxmlformats.org/officeDocument/2006/math">
                    <m:r>
                      <a:rPr lang="en-US" altLang="zh-CN" sz="2800" i="1" dirty="0">
                        <a:latin typeface="Cambria Math" panose="02040503050406030204" pitchFamily="18" charset="0"/>
                      </a:rPr>
                      <m:t>𝑮</m:t>
                    </m:r>
                  </m:oMath>
                </a14:m>
                <a:r>
                  <a:rPr lang="zh-CN" altLang="en-US" sz="2800" b="0" dirty="0"/>
                  <a:t>的独立集</a:t>
                </a:r>
                <a:r>
                  <a:rPr lang="zh-CN" altLang="en-US" sz="2800" dirty="0"/>
                  <a:t>，</a:t>
                </a:r>
                <a:r>
                  <a:rPr lang="zh-CN" altLang="en-US" sz="2800" b="0" dirty="0"/>
                  <a:t>则称</a:t>
                </a:r>
                <a14:m>
                  <m:oMath xmlns:m="http://schemas.openxmlformats.org/officeDocument/2006/math">
                    <m:sSubSup>
                      <m:sSubSupPr>
                        <m:ctrlPr>
                          <a:rPr lang="en-US" altLang="zh-CN" sz="2800" i="1">
                            <a:latin typeface="Cambria Math" panose="02040503050406030204" pitchFamily="18" charset="0"/>
                          </a:rPr>
                        </m:ctrlPr>
                      </m:sSubSupPr>
                      <m:e>
                        <m:r>
                          <a:rPr lang="en-US" altLang="zh-CN" sz="2800" i="1">
                            <a:latin typeface="Cambria Math" panose="02040503050406030204" pitchFamily="18" charset="0"/>
                          </a:rPr>
                          <m:t>𝑬</m:t>
                        </m:r>
                      </m:e>
                      <m:sub>
                        <m:r>
                          <a:rPr lang="en-US" altLang="zh-CN" sz="2800" i="1">
                            <a:latin typeface="Cambria Math" panose="02040503050406030204" pitchFamily="18" charset="0"/>
                          </a:rPr>
                          <m:t>𝟏</m:t>
                        </m:r>
                      </m:sub>
                      <m:sup>
                        <m:r>
                          <a:rPr lang="en-US" altLang="zh-CN" sz="2800" i="1">
                            <a:latin typeface="Cambria Math" panose="02040503050406030204" pitchFamily="18" charset="0"/>
                          </a:rPr>
                          <m:t>∗</m:t>
                        </m:r>
                      </m:sup>
                    </m:sSubSup>
                  </m:oMath>
                </a14:m>
                <a:r>
                  <a:rPr lang="zh-CN" altLang="en-US" sz="2800" b="0" dirty="0"/>
                  <a:t>为图</a:t>
                </a:r>
                <a14:m>
                  <m:oMath xmlns:m="http://schemas.openxmlformats.org/officeDocument/2006/math">
                    <m:r>
                      <a:rPr lang="en-US" altLang="zh-CN" sz="2800" i="1" dirty="0">
                        <a:latin typeface="Cambria Math" panose="02040503050406030204" pitchFamily="18" charset="0"/>
                      </a:rPr>
                      <m:t>𝑮</m:t>
                    </m:r>
                  </m:oMath>
                </a14:m>
                <a:r>
                  <a:rPr lang="zh-CN" altLang="en-US" sz="2800" b="0" dirty="0"/>
                  <a:t>的极大独立集</a:t>
                </a:r>
                <a:r>
                  <a:rPr lang="zh-CN" altLang="en-US" sz="2800" dirty="0"/>
                  <a:t>。</a:t>
                </a:r>
              </a:p>
              <a:p>
                <a:pPr>
                  <a:lnSpc>
                    <a:spcPct val="120000"/>
                  </a:lnSpc>
                </a:pPr>
                <a:r>
                  <a:rPr lang="zh-CN" altLang="en-US"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kern="12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10.8.9</a:t>
                </a:r>
                <a:r>
                  <a:rPr lang="en-US" altLang="zh-CN" dirty="0"/>
                  <a:t> </a:t>
                </a:r>
                <a:r>
                  <a:rPr lang="zh-CN" altLang="en-US" sz="2800" b="0" dirty="0">
                    <a:latin typeface="黑体" panose="02010609060101010101" pitchFamily="49" charset="-122"/>
                    <a:ea typeface="黑体" panose="02010609060101010101" pitchFamily="49" charset="-122"/>
                  </a:rPr>
                  <a:t>图</a:t>
                </a:r>
                <a14:m>
                  <m:oMath xmlns:m="http://schemas.openxmlformats.org/officeDocument/2006/math">
                    <m:r>
                      <a:rPr lang="en-US" altLang="zh-CN" sz="2800" i="1" dirty="0">
                        <a:latin typeface="Cambria Math" panose="02040503050406030204" pitchFamily="18" charset="0"/>
                      </a:rPr>
                      <m:t>𝑮</m:t>
                    </m:r>
                  </m:oMath>
                </a14:m>
                <a:r>
                  <a:rPr lang="zh-CN" altLang="en-US" sz="2800" b="0" dirty="0">
                    <a:latin typeface="黑体" panose="02010609060101010101" pitchFamily="49" charset="-122"/>
                    <a:ea typeface="黑体" panose="02010609060101010101" pitchFamily="49" charset="-122"/>
                  </a:rPr>
                  <a:t>的边数</a:t>
                </a:r>
                <a:r>
                  <a:rPr lang="zh-CN" altLang="en-US" sz="2800" b="0" dirty="0">
                    <a:solidFill>
                      <a:srgbClr val="C00000"/>
                    </a:solidFill>
                    <a:latin typeface="黑体" panose="02010609060101010101" pitchFamily="49" charset="-122"/>
                    <a:ea typeface="黑体" panose="02010609060101010101" pitchFamily="49" charset="-122"/>
                  </a:rPr>
                  <a:t>最大</a:t>
                </a:r>
                <a:r>
                  <a:rPr lang="zh-CN" altLang="en-US" sz="2800" b="0" dirty="0">
                    <a:latin typeface="黑体" panose="02010609060101010101" pitchFamily="49" charset="-122"/>
                    <a:ea typeface="黑体" panose="02010609060101010101" pitchFamily="49" charset="-122"/>
                  </a:rPr>
                  <a:t>的独立集称为最大独立集</a:t>
                </a:r>
                <a:r>
                  <a:rPr lang="zh-CN" altLang="en-US" dirty="0"/>
                  <a:t>，</a:t>
                </a:r>
                <a:r>
                  <a:rPr lang="zh-CN" altLang="en-US" sz="2800" b="0" dirty="0">
                    <a:latin typeface="黑体" panose="02010609060101010101" pitchFamily="49" charset="-122"/>
                    <a:ea typeface="黑体" panose="02010609060101010101" pitchFamily="49" charset="-122"/>
                  </a:rPr>
                  <a:t>即</a:t>
                </a:r>
                <a14:m>
                  <m:oMath xmlns:m="http://schemas.openxmlformats.org/officeDocument/2006/math">
                    <m:r>
                      <a:rPr lang="en-US" altLang="zh-CN" sz="2400" dirty="0">
                        <a:latin typeface="Cambria Math" panose="02040503050406030204" pitchFamily="18" charset="0"/>
                      </a:rPr>
                      <m:t>𝐦</m:t>
                    </m:r>
                    <m:r>
                      <a:rPr lang="en-US" altLang="zh-CN" sz="2400" b="1" i="0" dirty="0" smtClean="0">
                        <a:latin typeface="Cambria Math" panose="02040503050406030204" pitchFamily="18" charset="0"/>
                      </a:rPr>
                      <m:t>𝐚𝐱</m:t>
                    </m:r>
                    <m:r>
                      <a:rPr lang="en-US" altLang="zh-CN" sz="2400" i="1" dirty="0">
                        <a:latin typeface="Cambria Math" panose="02040503050406030204" pitchFamily="18"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𝑬</m:t>
                        </m:r>
                      </m:e>
                      <m:sup>
                        <m:r>
                          <a:rPr lang="en-US" altLang="zh-CN" sz="2400" i="1">
                            <a:latin typeface="Cambria Math" panose="02040503050406030204" pitchFamily="18" charset="0"/>
                            <a:ea typeface="Cambria Math" panose="02040503050406030204" pitchFamily="18" charset="0"/>
                          </a:rPr>
                          <m:t>∗</m:t>
                        </m:r>
                      </m:sup>
                    </m:sSup>
                    <m:r>
                      <a:rPr lang="en-US" altLang="zh-CN" sz="2400" i="1" dirty="0">
                        <a:latin typeface="Cambria Math" panose="02040503050406030204" pitchFamily="18" charset="0"/>
                      </a:rPr>
                      <m:t>|} </m:t>
                    </m:r>
                  </m:oMath>
                </a14:m>
                <a:r>
                  <a:rPr lang="zh-CN" altLang="en-US" dirty="0"/>
                  <a:t>。</a:t>
                </a:r>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75928" y="937441"/>
                <a:ext cx="8991872" cy="5716588"/>
              </a:xfrm>
              <a:blipFill>
                <a:blip r:embed="rId2"/>
                <a:stretch>
                  <a:fillRect l="-1152" t="-853" r="-542"/>
                </a:stretch>
              </a:blipFill>
            </p:spPr>
            <p:txBody>
              <a:bodyPr/>
              <a:lstStyle/>
              <a:p>
                <a:r>
                  <a:rPr lang="zh-CN" altLang="en-US">
                    <a:noFill/>
                  </a:rPr>
                  <a:t> </a:t>
                </a:r>
              </a:p>
            </p:txBody>
          </p:sp>
        </mc:Fallback>
      </mc:AlternateContent>
      <p:grpSp>
        <p:nvGrpSpPr>
          <p:cNvPr id="64" name="Group 326"/>
          <p:cNvGrpSpPr>
            <a:grpSpLocks/>
          </p:cNvGrpSpPr>
          <p:nvPr/>
        </p:nvGrpSpPr>
        <p:grpSpPr bwMode="auto">
          <a:xfrm>
            <a:off x="5069414" y="3869155"/>
            <a:ext cx="2840019" cy="1941908"/>
            <a:chOff x="876" y="2335"/>
            <a:chExt cx="924" cy="648"/>
          </a:xfrm>
        </p:grpSpPr>
        <p:sp>
          <p:nvSpPr>
            <p:cNvPr id="65" name="Text Box 292"/>
            <p:cNvSpPr txBox="1">
              <a:spLocks noChangeArrowheads="1"/>
            </p:cNvSpPr>
            <p:nvPr/>
          </p:nvSpPr>
          <p:spPr bwMode="auto">
            <a:xfrm>
              <a:off x="1282" y="2335"/>
              <a:ext cx="117"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66" name="Line 280"/>
            <p:cNvSpPr>
              <a:spLocks noChangeShapeType="1"/>
            </p:cNvSpPr>
            <p:nvPr/>
          </p:nvSpPr>
          <p:spPr bwMode="auto">
            <a:xfrm>
              <a:off x="1008" y="2496"/>
              <a:ext cx="336" cy="1"/>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67"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68"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69"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0"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1" name="Line 286"/>
            <p:cNvSpPr>
              <a:spLocks noChangeShapeType="1"/>
            </p:cNvSpPr>
            <p:nvPr/>
          </p:nvSpPr>
          <p:spPr bwMode="auto">
            <a:xfrm>
              <a:off x="1344" y="2871"/>
              <a:ext cx="336" cy="0"/>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2" name="Line 287"/>
            <p:cNvSpPr>
              <a:spLocks noChangeShapeType="1"/>
            </p:cNvSpPr>
            <p:nvPr/>
          </p:nvSpPr>
          <p:spPr bwMode="auto">
            <a:xfrm flipV="1">
              <a:off x="1008" y="2684"/>
              <a:ext cx="168" cy="187"/>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3"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4" name="Line 289"/>
            <p:cNvSpPr>
              <a:spLocks noChangeShapeType="1"/>
            </p:cNvSpPr>
            <p:nvPr/>
          </p:nvSpPr>
          <p:spPr bwMode="auto">
            <a:xfrm flipH="1">
              <a:off x="1512" y="2497"/>
              <a:ext cx="168" cy="188"/>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5" name="Line 290"/>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76"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77" name="Text Box 293"/>
            <p:cNvSpPr txBox="1">
              <a:spLocks noChangeArrowheads="1"/>
            </p:cNvSpPr>
            <p:nvPr/>
          </p:nvSpPr>
          <p:spPr bwMode="auto">
            <a:xfrm>
              <a:off x="886" y="2335"/>
              <a:ext cx="117"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78" name="Text Box 294"/>
            <p:cNvSpPr txBox="1">
              <a:spLocks noChangeArrowheads="1"/>
            </p:cNvSpPr>
            <p:nvPr/>
          </p:nvSpPr>
          <p:spPr bwMode="auto">
            <a:xfrm>
              <a:off x="876" y="2854"/>
              <a:ext cx="130"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79" name="Text Box 295"/>
            <p:cNvSpPr txBox="1">
              <a:spLocks noChangeArrowheads="1"/>
            </p:cNvSpPr>
            <p:nvPr/>
          </p:nvSpPr>
          <p:spPr bwMode="auto">
            <a:xfrm>
              <a:off x="1200" y="2880"/>
              <a:ext cx="16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80" name="Text Box 296"/>
            <p:cNvSpPr txBox="1">
              <a:spLocks noChangeArrowheads="1"/>
            </p:cNvSpPr>
            <p:nvPr/>
          </p:nvSpPr>
          <p:spPr bwMode="auto">
            <a:xfrm>
              <a:off x="1692" y="2880"/>
              <a:ext cx="10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81" name="Text Box 297"/>
            <p:cNvSpPr txBox="1">
              <a:spLocks noChangeArrowheads="1"/>
            </p:cNvSpPr>
            <p:nvPr/>
          </p:nvSpPr>
          <p:spPr bwMode="auto">
            <a:xfrm>
              <a:off x="1672" y="2341"/>
              <a:ext cx="123"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82"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83"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grpSp>
        <p:nvGrpSpPr>
          <p:cNvPr id="84" name="Group 326"/>
          <p:cNvGrpSpPr>
            <a:grpSpLocks/>
          </p:cNvGrpSpPr>
          <p:nvPr/>
        </p:nvGrpSpPr>
        <p:grpSpPr bwMode="auto">
          <a:xfrm>
            <a:off x="754061" y="3942575"/>
            <a:ext cx="2840019" cy="1941908"/>
            <a:chOff x="876" y="2335"/>
            <a:chExt cx="924" cy="648"/>
          </a:xfrm>
        </p:grpSpPr>
        <p:sp>
          <p:nvSpPr>
            <p:cNvPr id="85" name="Text Box 292"/>
            <p:cNvSpPr txBox="1">
              <a:spLocks noChangeArrowheads="1"/>
            </p:cNvSpPr>
            <p:nvPr/>
          </p:nvSpPr>
          <p:spPr bwMode="auto">
            <a:xfrm>
              <a:off x="1282" y="2335"/>
              <a:ext cx="117"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2</a:t>
              </a:r>
            </a:p>
          </p:txBody>
        </p:sp>
        <p:sp>
          <p:nvSpPr>
            <p:cNvPr id="86" name="Line 280"/>
            <p:cNvSpPr>
              <a:spLocks noChangeShapeType="1"/>
            </p:cNvSpPr>
            <p:nvPr/>
          </p:nvSpPr>
          <p:spPr bwMode="auto">
            <a:xfrm>
              <a:off x="1008" y="2496"/>
              <a:ext cx="336" cy="1"/>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87" name="Line 281"/>
            <p:cNvSpPr>
              <a:spLocks noChangeShapeType="1"/>
            </p:cNvSpPr>
            <p:nvPr/>
          </p:nvSpPr>
          <p:spPr bwMode="auto">
            <a:xfrm flipV="1">
              <a:off x="1344"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88" name="Line 283"/>
            <p:cNvSpPr>
              <a:spLocks noChangeShapeType="1"/>
            </p:cNvSpPr>
            <p:nvPr/>
          </p:nvSpPr>
          <p:spPr bwMode="auto">
            <a:xfrm flipV="1">
              <a:off x="1176" y="2496"/>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89" name="Line 284"/>
            <p:cNvSpPr>
              <a:spLocks noChangeShapeType="1"/>
            </p:cNvSpPr>
            <p:nvPr/>
          </p:nvSpPr>
          <p:spPr bwMode="auto">
            <a:xfrm flipH="1">
              <a:off x="1344" y="2496"/>
              <a:ext cx="336" cy="0"/>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0" name="Line 285"/>
            <p:cNvSpPr>
              <a:spLocks noChangeShapeType="1"/>
            </p:cNvSpPr>
            <p:nvPr/>
          </p:nvSpPr>
          <p:spPr bwMode="auto">
            <a:xfrm flipH="1">
              <a:off x="1008"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1" name="Line 286"/>
            <p:cNvSpPr>
              <a:spLocks noChangeShapeType="1"/>
            </p:cNvSpPr>
            <p:nvPr/>
          </p:nvSpPr>
          <p:spPr bwMode="auto">
            <a:xfrm>
              <a:off x="1344" y="2871"/>
              <a:ext cx="336" cy="0"/>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2" name="Line 287"/>
            <p:cNvSpPr>
              <a:spLocks noChangeShapeType="1"/>
            </p:cNvSpPr>
            <p:nvPr/>
          </p:nvSpPr>
          <p:spPr bwMode="auto">
            <a:xfrm flipV="1">
              <a:off x="1008"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3" name="Line 288"/>
            <p:cNvSpPr>
              <a:spLocks noChangeShapeType="1"/>
            </p:cNvSpPr>
            <p:nvPr/>
          </p:nvSpPr>
          <p:spPr bwMode="auto">
            <a:xfrm>
              <a:off x="1680" y="2496"/>
              <a:ext cx="0" cy="375"/>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4" name="Line 289"/>
            <p:cNvSpPr>
              <a:spLocks noChangeShapeType="1"/>
            </p:cNvSpPr>
            <p:nvPr/>
          </p:nvSpPr>
          <p:spPr bwMode="auto">
            <a:xfrm flipH="1">
              <a:off x="1512" y="2497"/>
              <a:ext cx="168" cy="18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5" name="Line 290"/>
            <p:cNvSpPr>
              <a:spLocks noChangeShapeType="1"/>
            </p:cNvSpPr>
            <p:nvPr/>
          </p:nvSpPr>
          <p:spPr bwMode="auto">
            <a:xfrm flipH="1">
              <a:off x="1344" y="2684"/>
              <a:ext cx="168" cy="18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6" name="Line 291"/>
            <p:cNvSpPr>
              <a:spLocks noChangeShapeType="1"/>
            </p:cNvSpPr>
            <p:nvPr/>
          </p:nvSpPr>
          <p:spPr bwMode="auto">
            <a:xfrm>
              <a:off x="1008" y="2880"/>
              <a:ext cx="336"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ea typeface="黑体" panose="02010609060101010101" pitchFamily="49" charset="-122"/>
              </a:endParaRPr>
            </a:p>
          </p:txBody>
        </p:sp>
        <p:sp>
          <p:nvSpPr>
            <p:cNvPr id="97" name="Text Box 293"/>
            <p:cNvSpPr txBox="1">
              <a:spLocks noChangeArrowheads="1"/>
            </p:cNvSpPr>
            <p:nvPr/>
          </p:nvSpPr>
          <p:spPr bwMode="auto">
            <a:xfrm>
              <a:off x="886" y="2335"/>
              <a:ext cx="117"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1</a:t>
              </a:r>
            </a:p>
          </p:txBody>
        </p:sp>
        <p:sp>
          <p:nvSpPr>
            <p:cNvPr id="98" name="Text Box 294"/>
            <p:cNvSpPr txBox="1">
              <a:spLocks noChangeArrowheads="1"/>
            </p:cNvSpPr>
            <p:nvPr/>
          </p:nvSpPr>
          <p:spPr bwMode="auto">
            <a:xfrm>
              <a:off x="876" y="2854"/>
              <a:ext cx="130"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6</a:t>
              </a:r>
            </a:p>
          </p:txBody>
        </p:sp>
        <p:sp>
          <p:nvSpPr>
            <p:cNvPr id="99" name="Text Box 295"/>
            <p:cNvSpPr txBox="1">
              <a:spLocks noChangeArrowheads="1"/>
            </p:cNvSpPr>
            <p:nvPr/>
          </p:nvSpPr>
          <p:spPr bwMode="auto">
            <a:xfrm>
              <a:off x="1200" y="2880"/>
              <a:ext cx="16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5</a:t>
              </a:r>
            </a:p>
          </p:txBody>
        </p:sp>
        <p:sp>
          <p:nvSpPr>
            <p:cNvPr id="100" name="Text Box 296"/>
            <p:cNvSpPr txBox="1">
              <a:spLocks noChangeArrowheads="1"/>
            </p:cNvSpPr>
            <p:nvPr/>
          </p:nvSpPr>
          <p:spPr bwMode="auto">
            <a:xfrm>
              <a:off x="1692" y="2880"/>
              <a:ext cx="108" cy="10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4</a:t>
              </a:r>
            </a:p>
          </p:txBody>
        </p:sp>
        <p:sp>
          <p:nvSpPr>
            <p:cNvPr id="101" name="Text Box 297"/>
            <p:cNvSpPr txBox="1">
              <a:spLocks noChangeArrowheads="1"/>
            </p:cNvSpPr>
            <p:nvPr/>
          </p:nvSpPr>
          <p:spPr bwMode="auto">
            <a:xfrm>
              <a:off x="1672" y="2341"/>
              <a:ext cx="123"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3</a:t>
              </a:r>
            </a:p>
          </p:txBody>
        </p:sp>
        <p:sp>
          <p:nvSpPr>
            <p:cNvPr id="102" name="Text Box 298"/>
            <p:cNvSpPr txBox="1">
              <a:spLocks noChangeArrowheads="1"/>
            </p:cNvSpPr>
            <p:nvPr/>
          </p:nvSpPr>
          <p:spPr bwMode="auto">
            <a:xfrm>
              <a:off x="138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8</a:t>
              </a:r>
            </a:p>
          </p:txBody>
        </p:sp>
        <p:sp>
          <p:nvSpPr>
            <p:cNvPr id="103" name="Text Box 299"/>
            <p:cNvSpPr txBox="1">
              <a:spLocks noChangeArrowheads="1"/>
            </p:cNvSpPr>
            <p:nvPr/>
          </p:nvSpPr>
          <p:spPr bwMode="auto">
            <a:xfrm>
              <a:off x="1070" y="2574"/>
              <a:ext cx="298"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400" dirty="0">
                  <a:ea typeface="黑体" panose="02010609060101010101" pitchFamily="49" charset="-122"/>
                </a:rPr>
                <a:t>v</a:t>
              </a:r>
              <a:r>
                <a:rPr lang="en-US" altLang="zh-CN" sz="1400" baseline="-25000" dirty="0">
                  <a:ea typeface="黑体" panose="02010609060101010101" pitchFamily="49" charset="-122"/>
                </a:rPr>
                <a:t>7</a:t>
              </a:r>
            </a:p>
          </p:txBody>
        </p:sp>
      </p:grpSp>
    </p:spTree>
    <p:extLst>
      <p:ext uri="{BB962C8B-B14F-4D97-AF65-F5344CB8AC3E}">
        <p14:creationId xmlns:p14="http://schemas.microsoft.com/office/powerpoint/2010/main" val="343296331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6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dirty="0"/>
              <a:t>最小覆盖集问题</a:t>
            </a:r>
            <a:endParaRPr lang="zh-CN" altLang="en-US" sz="3600" dirty="0">
              <a:latin typeface="黑体" panose="02010609060101010101" pitchFamily="49" charset="-122"/>
              <a:ea typeface="黑体" panose="02010609060101010101" pitchFamily="49" charset="-122"/>
            </a:endParaRPr>
          </a:p>
        </p:txBody>
      </p:sp>
      <p:sp>
        <p:nvSpPr>
          <p:cNvPr id="154627" name="内容占位符 2"/>
          <p:cNvSpPr>
            <a:spLocks noGrp="1"/>
          </p:cNvSpPr>
          <p:nvPr>
            <p:ph idx="1"/>
          </p:nvPr>
        </p:nvSpPr>
        <p:spPr>
          <a:xfrm>
            <a:off x="75928" y="937441"/>
            <a:ext cx="9338038" cy="5716588"/>
          </a:xfrm>
        </p:spPr>
        <p:txBody>
          <a:bodyPr/>
          <a:lstStyle/>
          <a:p>
            <a:r>
              <a:rPr lang="zh-CN" altLang="en-US" sz="2800" b="0" dirty="0"/>
              <a:t>应用</a:t>
            </a:r>
            <a:endParaRPr lang="en-US" altLang="zh-CN" sz="2800" b="0" dirty="0"/>
          </a:p>
          <a:p>
            <a:pPr lvl="1"/>
            <a:r>
              <a:rPr lang="zh-CN" altLang="en-US" b="0" dirty="0"/>
              <a:t>点覆盖：即对程序的</a:t>
            </a:r>
            <a:r>
              <a:rPr lang="zh-CN" altLang="en-US" b="0" dirty="0">
                <a:solidFill>
                  <a:srgbClr val="C00000"/>
                </a:solidFill>
              </a:rPr>
              <a:t>控制流图节点</a:t>
            </a:r>
            <a:r>
              <a:rPr lang="zh-CN" altLang="en-US" b="0" dirty="0"/>
              <a:t>进行全面覆盖。</a:t>
            </a:r>
          </a:p>
          <a:p>
            <a:pPr lvl="1"/>
            <a:r>
              <a:rPr lang="zh-CN" altLang="en-US" b="0" dirty="0"/>
              <a:t>边覆盖：设计一条路径，使程序的</a:t>
            </a:r>
            <a:r>
              <a:rPr lang="zh-CN" altLang="en-US" b="0" dirty="0">
                <a:solidFill>
                  <a:srgbClr val="C00000"/>
                </a:solidFill>
              </a:rPr>
              <a:t>控制流图中所有边</a:t>
            </a:r>
            <a:r>
              <a:rPr lang="zh-CN" altLang="en-US" b="0" dirty="0"/>
              <a:t>被覆盖。</a:t>
            </a:r>
            <a:endParaRPr lang="en-US" altLang="zh-CN" b="0" dirty="0"/>
          </a:p>
          <a:p>
            <a:endParaRPr lang="zh-CN" altLang="en-US" sz="2800" b="0" dirty="0"/>
          </a:p>
          <a:p>
            <a:pPr eaLnBrk="1" hangingPunct="1">
              <a:spcBef>
                <a:spcPct val="50000"/>
              </a:spcBef>
              <a:buClrTx/>
              <a:buSzTx/>
              <a:buFontTx/>
              <a:buNone/>
            </a:pPr>
            <a:endParaRPr lang="en-US" altLang="zh-CN" sz="2800" dirty="0"/>
          </a:p>
          <a:p>
            <a:pPr eaLnBrk="1" hangingPunct="1">
              <a:spcBef>
                <a:spcPct val="50000"/>
              </a:spcBef>
              <a:buClrTx/>
              <a:buSzTx/>
              <a:buFontTx/>
              <a:buNone/>
            </a:pPr>
            <a:endParaRPr lang="en-US" altLang="zh-CN" sz="2800" dirty="0"/>
          </a:p>
          <a:p>
            <a:pPr eaLnBrk="1" hangingPunct="1">
              <a:spcBef>
                <a:spcPct val="50000"/>
              </a:spcBef>
              <a:buClrTx/>
              <a:buSzTx/>
              <a:buFontTx/>
              <a:buNone/>
            </a:pPr>
            <a:endParaRPr lang="en-US" altLang="zh-CN" sz="2800" dirty="0"/>
          </a:p>
          <a:p>
            <a:pPr eaLnBrk="1" hangingPunct="1">
              <a:spcBef>
                <a:spcPct val="50000"/>
              </a:spcBef>
              <a:buClrTx/>
              <a:buSzTx/>
              <a:buFontTx/>
              <a:buNone/>
            </a:pPr>
            <a:endParaRPr lang="en-US" altLang="zh-CN" sz="2800" dirty="0"/>
          </a:p>
          <a:p>
            <a:pPr eaLnBrk="1" hangingPunct="1">
              <a:spcBef>
                <a:spcPct val="50000"/>
              </a:spcBef>
              <a:buClrTx/>
              <a:buSzTx/>
              <a:buFontTx/>
              <a:buNone/>
            </a:pPr>
            <a:endParaRPr lang="en-US" altLang="zh-CN" sz="2800" dirty="0"/>
          </a:p>
          <a:p>
            <a:pPr eaLnBrk="1" hangingPunct="1">
              <a:spcBef>
                <a:spcPct val="50000"/>
              </a:spcBef>
              <a:buClrTx/>
            </a:pPr>
            <a:r>
              <a:rPr lang="zh-CN" altLang="en-US" sz="2800" dirty="0"/>
              <a:t>问题是</a:t>
            </a:r>
            <a:r>
              <a:rPr lang="en-US" altLang="zh-CN" sz="2800" dirty="0">
                <a:solidFill>
                  <a:srgbClr val="C00000"/>
                </a:solidFill>
              </a:rPr>
              <a:t>NP</a:t>
            </a:r>
            <a:r>
              <a:rPr lang="zh-CN" altLang="en-US" sz="2800" dirty="0">
                <a:solidFill>
                  <a:srgbClr val="C00000"/>
                </a:solidFill>
              </a:rPr>
              <a:t>难的</a:t>
            </a:r>
            <a:endParaRPr lang="en-US" altLang="zh-CN" sz="2800" dirty="0">
              <a:solidFill>
                <a:srgbClr val="C00000"/>
              </a:solidFill>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3346" y="2452923"/>
            <a:ext cx="5178345" cy="3946710"/>
          </a:xfrm>
          <a:prstGeom prst="rect">
            <a:avLst/>
          </a:prstGeom>
        </p:spPr>
      </p:pic>
    </p:spTree>
    <p:extLst>
      <p:ext uri="{BB962C8B-B14F-4D97-AF65-F5344CB8AC3E}">
        <p14:creationId xmlns:p14="http://schemas.microsoft.com/office/powerpoint/2010/main" val="79621947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462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462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462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dirty="0"/>
              <a:t>最小点覆盖集问题</a:t>
            </a:r>
            <a:endParaRPr lang="zh-CN" altLang="en-US" sz="3600"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75928" y="937441"/>
                <a:ext cx="8998404" cy="5716588"/>
              </a:xfrm>
            </p:spPr>
            <p:txBody>
              <a:bodyPr/>
              <a:lstStyle/>
              <a:p>
                <a:pPr eaLnBrk="1" hangingPunct="1">
                  <a:spcBef>
                    <a:spcPct val="50000"/>
                  </a:spcBef>
                  <a:buClrTx/>
                  <a:buSzTx/>
                  <a:buFontTx/>
                  <a:buNone/>
                </a:pPr>
                <a:r>
                  <a:rPr lang="zh-CN" altLang="en-US" sz="2800" kern="1200" dirty="0">
                    <a:solidFill>
                      <a:srgbClr val="0070C0"/>
                    </a:solidFill>
                    <a:latin typeface="Times New Roman" panose="02020603050405020304" pitchFamily="18" charset="0"/>
                    <a:cs typeface="Times New Roman" panose="02020603050405020304" pitchFamily="18" charset="0"/>
                  </a:rPr>
                  <a:t>定义</a:t>
                </a:r>
                <a:r>
                  <a:rPr lang="en-US" altLang="zh-CN" sz="2800" kern="1200" dirty="0">
                    <a:solidFill>
                      <a:srgbClr val="0070C0"/>
                    </a:solidFill>
                    <a:latin typeface="Times New Roman" panose="02020603050405020304" pitchFamily="18" charset="0"/>
                    <a:cs typeface="Times New Roman" panose="02020603050405020304" pitchFamily="18" charset="0"/>
                  </a:rPr>
                  <a:t> </a:t>
                </a:r>
                <a14:m>
                  <m:oMath xmlns:m="http://schemas.openxmlformats.org/officeDocument/2006/math">
                    <m:r>
                      <a:rPr lang="zh-CN" altLang="en-US" sz="2800" i="1" dirty="0" smtClean="0">
                        <a:latin typeface="Cambria Math" panose="02040503050406030204" pitchFamily="18" charset="0"/>
                      </a:rPr>
                      <m:t>给定</m:t>
                    </m:r>
                    <m:r>
                      <a:rPr lang="zh-CN" altLang="en-US" sz="2800" i="1" dirty="0">
                        <a:latin typeface="Cambria Math" panose="02040503050406030204" pitchFamily="18" charset="0"/>
                      </a:rPr>
                      <m:t>一个</m:t>
                    </m:r>
                    <m:r>
                      <a:rPr lang="zh-CN" altLang="en-US" sz="2800" b="1" i="1" dirty="0" smtClean="0">
                        <a:latin typeface="Cambria Math" panose="02040503050406030204" pitchFamily="18" charset="0"/>
                      </a:rPr>
                      <m:t>图</m:t>
                    </m:r>
                    <m:r>
                      <a:rPr lang="en-US" altLang="zh-CN" sz="2800" i="1" dirty="0">
                        <a:latin typeface="Cambria Math" panose="02040503050406030204" pitchFamily="18" charset="0"/>
                      </a:rPr>
                      <m:t>𝑮</m:t>
                    </m:r>
                    <m:r>
                      <a:rPr lang="en-US" altLang="zh-CN" sz="2800" b="0">
                        <a:latin typeface="Cambria Math" panose="02040503050406030204" pitchFamily="18" charset="0"/>
                      </a:rPr>
                      <m:t>=</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𝑽</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𝑬</m:t>
                    </m:r>
                    <m:r>
                      <a:rPr lang="en-US" altLang="zh-CN" sz="2800" i="1" smtClean="0">
                        <a:latin typeface="Cambria Math" panose="02040503050406030204" pitchFamily="18" charset="0"/>
                      </a:rPr>
                      <m:t>⟩</m:t>
                    </m:r>
                  </m:oMath>
                </a14:m>
                <a:r>
                  <a:rPr lang="en-US" altLang="zh-CN" sz="2800" dirty="0"/>
                  <a:t>,</a:t>
                </a:r>
                <a:r>
                  <a:rPr lang="zh-CN" altLang="en-US" sz="2800" b="0" dirty="0"/>
                  <a:t>求</a:t>
                </a:r>
                <a14:m>
                  <m:oMath xmlns:m="http://schemas.openxmlformats.org/officeDocument/2006/math">
                    <m:r>
                      <a:rPr lang="en-US" altLang="zh-CN" sz="2800" b="1" i="1" dirty="0">
                        <a:latin typeface="Cambria Math" panose="02040503050406030204" pitchFamily="18" charset="0"/>
                      </a:rPr>
                      <m:t>𝑮</m:t>
                    </m:r>
                  </m:oMath>
                </a14:m>
                <a:r>
                  <a:rPr lang="zh-CN" altLang="en-US" sz="2800" b="0"/>
                  <a:t>的最小点覆盖</a:t>
                </a:r>
                <a:r>
                  <a:rPr lang="zh-CN" altLang="en-US" sz="2800" b="0" dirty="0"/>
                  <a:t>集</a:t>
                </a:r>
                <a:r>
                  <a:rPr lang="zh-CN" altLang="en-US" sz="2800" dirty="0"/>
                  <a:t>。</a:t>
                </a:r>
                <a:endParaRPr lang="en-US" altLang="zh-CN" sz="2800" dirty="0"/>
              </a:p>
              <a:p>
                <a:pPr eaLnBrk="1" hangingPunct="1">
                  <a:spcBef>
                    <a:spcPct val="50000"/>
                  </a:spcBef>
                  <a:buClrTx/>
                </a:pPr>
                <a:r>
                  <a:rPr lang="zh-CN" altLang="en-US" sz="2800" b="0" dirty="0"/>
                  <a:t>近似算法</a:t>
                </a:r>
                <a:endParaRPr lang="en-US" altLang="zh-CN" sz="2800" b="0" dirty="0"/>
              </a:p>
              <a:p>
                <a:pPr eaLnBrk="1" hangingPunct="1">
                  <a:spcBef>
                    <a:spcPct val="50000"/>
                  </a:spcBef>
                  <a:buClrTx/>
                </a:pPr>
                <a:endParaRPr lang="en-US" altLang="zh-CN" sz="2800" dirty="0"/>
              </a:p>
              <a:p>
                <a:pPr eaLnBrk="1" hangingPunct="1">
                  <a:spcBef>
                    <a:spcPct val="50000"/>
                  </a:spcBef>
                  <a:buClrTx/>
                </a:pPr>
                <a:endParaRPr lang="en-US" altLang="zh-CN" sz="2800" dirty="0"/>
              </a:p>
              <a:p>
                <a:pPr eaLnBrk="1" hangingPunct="1">
                  <a:spcBef>
                    <a:spcPct val="50000"/>
                  </a:spcBef>
                  <a:buClrTx/>
                </a:pPr>
                <a:endParaRPr lang="en-US" altLang="zh-CN" sz="2800" dirty="0"/>
              </a:p>
              <a:p>
                <a:pPr lvl="1" eaLnBrk="1" hangingPunct="1">
                  <a:spcBef>
                    <a:spcPct val="50000"/>
                  </a:spcBef>
                  <a:buClrTx/>
                </a:pPr>
                <a:r>
                  <a:rPr lang="zh-CN" altLang="en-US" b="0" dirty="0"/>
                  <a:t>近似比</a:t>
                </a:r>
                <a:endParaRPr lang="en-US" altLang="zh-CN" dirty="0"/>
              </a:p>
              <a:p>
                <a:pPr eaLnBrk="1" hangingPunct="1">
                  <a:spcBef>
                    <a:spcPct val="50000"/>
                  </a:spcBef>
                  <a:buClrTx/>
                </a:pPr>
                <a:endParaRPr lang="en-US" altLang="zh-CN" sz="2800" dirty="0"/>
              </a:p>
              <a:p>
                <a:pPr eaLnBrk="1" hangingPunct="1">
                  <a:spcBef>
                    <a:spcPct val="50000"/>
                  </a:spcBef>
                  <a:buClrTx/>
                </a:pPr>
                <a:endParaRPr lang="zh-CN" altLang="ru-RU" sz="2800" dirty="0"/>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75928" y="937441"/>
                <a:ext cx="8998404" cy="5716588"/>
              </a:xfrm>
              <a:blipFill>
                <a:blip r:embed="rId3"/>
                <a:stretch>
                  <a:fillRect l="-1354" t="-2239"/>
                </a:stretch>
              </a:blipFill>
            </p:spPr>
            <p:txBody>
              <a:bodyPr/>
              <a:lstStyle/>
              <a:p>
                <a:r>
                  <a:rPr lang="zh-CN" altLang="en-US">
                    <a:noFill/>
                  </a:rPr>
                  <a:t> </a:t>
                </a:r>
              </a:p>
            </p:txBody>
          </p:sp>
        </mc:Fallback>
      </mc:AlternateContent>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485" y="2344222"/>
            <a:ext cx="6536483" cy="1635879"/>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485" y="5062841"/>
            <a:ext cx="6860784" cy="1387574"/>
          </a:xfrm>
          <a:prstGeom prst="rect">
            <a:avLst/>
          </a:prstGeom>
        </p:spPr>
      </p:pic>
      <p:pic>
        <p:nvPicPr>
          <p:cNvPr id="5" name="图片 4">
            <a:extLst>
              <a:ext uri="{FF2B5EF4-FFF2-40B4-BE49-F238E27FC236}">
                <a16:creationId xmlns:a16="http://schemas.microsoft.com/office/drawing/2014/main" id="{167717D8-7A39-4841-831F-9A0FC47F150A}"/>
              </a:ext>
            </a:extLst>
          </p:cNvPr>
          <p:cNvPicPr>
            <a:picLocks noChangeAspect="1"/>
          </p:cNvPicPr>
          <p:nvPr/>
        </p:nvPicPr>
        <p:blipFill>
          <a:blip r:embed="rId6"/>
          <a:stretch>
            <a:fillRect/>
          </a:stretch>
        </p:blipFill>
        <p:spPr>
          <a:xfrm>
            <a:off x="6644814" y="1445462"/>
            <a:ext cx="2443471" cy="1171118"/>
          </a:xfrm>
          <a:prstGeom prst="rect">
            <a:avLst/>
          </a:prstGeom>
        </p:spPr>
      </p:pic>
    </p:spTree>
    <p:extLst>
      <p:ext uri="{BB962C8B-B14F-4D97-AF65-F5344CB8AC3E}">
        <p14:creationId xmlns:p14="http://schemas.microsoft.com/office/powerpoint/2010/main" val="183602499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62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462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462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en-US" altLang="zh-CN" sz="3600" dirty="0">
                <a:latin typeface="Times New Roman" panose="02020603050405020304" pitchFamily="18" charset="0"/>
                <a:ea typeface="黑体" panose="02010609060101010101" pitchFamily="49" charset="-122"/>
                <a:cs typeface="Times New Roman" panose="02020603050405020304" pitchFamily="18" charset="0"/>
              </a:rPr>
              <a:t>Ramsey</a:t>
            </a:r>
            <a:r>
              <a:rPr lang="en-US" altLang="zh-CN" sz="3600" dirty="0">
                <a:latin typeface="黑体" panose="02010609060101010101" pitchFamily="49" charset="-122"/>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拉姆齐</a:t>
            </a:r>
            <a:r>
              <a:rPr lang="en-US" altLang="zh-CN" sz="3600" dirty="0">
                <a:latin typeface="黑体" panose="02010609060101010101" pitchFamily="49" charset="-122"/>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数</a:t>
            </a:r>
          </a:p>
        </p:txBody>
      </p:sp>
      <mc:AlternateContent xmlns:mc="http://schemas.openxmlformats.org/markup-compatibility/2006" xmlns:a14="http://schemas.microsoft.com/office/drawing/2010/main">
        <mc:Choice Requires="a14">
          <p:sp>
            <p:nvSpPr>
              <p:cNvPr id="154627" name="内容占位符 2"/>
              <p:cNvSpPr>
                <a:spLocks noGrp="1"/>
              </p:cNvSpPr>
              <p:nvPr>
                <p:ph idx="1"/>
              </p:nvPr>
            </p:nvSpPr>
            <p:spPr>
              <a:xfrm>
                <a:off x="72798" y="1285784"/>
                <a:ext cx="8998404" cy="5716588"/>
              </a:xfrm>
            </p:spPr>
            <p:txBody>
              <a:bodyPr/>
              <a:lstStyle/>
              <a:p>
                <a:pPr eaLnBrk="1" hangingPunct="1">
                  <a:spcBef>
                    <a:spcPct val="50000"/>
                  </a:spcBef>
                  <a:buClrTx/>
                  <a:buSzTx/>
                  <a:buFontTx/>
                  <a:buNone/>
                </a:pPr>
                <a:r>
                  <a:rPr lang="zh-CN" altLang="en-US" sz="2800" kern="1200" dirty="0">
                    <a:solidFill>
                      <a:srgbClr val="0070C0"/>
                    </a:solidFill>
                    <a:latin typeface="Times New Roman" panose="02020603050405020304" pitchFamily="18" charset="0"/>
                    <a:cs typeface="Times New Roman" panose="02020603050405020304" pitchFamily="18" charset="0"/>
                  </a:rPr>
                  <a:t>定义</a:t>
                </a:r>
                <a:r>
                  <a:rPr lang="en-US" altLang="zh-CN" sz="2800" kern="1200" dirty="0">
                    <a:solidFill>
                      <a:srgbClr val="0070C0"/>
                    </a:solidFill>
                    <a:latin typeface="Times New Roman" panose="02020603050405020304" pitchFamily="18" charset="0"/>
                    <a:cs typeface="Times New Roman" panose="02020603050405020304" pitchFamily="18" charset="0"/>
                  </a:rPr>
                  <a:t> </a:t>
                </a:r>
                <a:r>
                  <a:rPr lang="zh-CN" altLang="en-US" sz="2800" b="0" dirty="0"/>
                  <a:t>设</a:t>
                </a:r>
                <a14:m>
                  <m:oMath xmlns:m="http://schemas.openxmlformats.org/officeDocument/2006/math">
                    <m:r>
                      <a:rPr lang="en-US" altLang="zh-CN" sz="2800" b="1" i="1" dirty="0" smtClean="0">
                        <a:latin typeface="Cambria Math" panose="02040503050406030204" pitchFamily="18" charset="0"/>
                      </a:rPr>
                      <m:t>𝒎</m:t>
                    </m:r>
                  </m:oMath>
                </a14:m>
                <a:r>
                  <a:rPr lang="zh-CN" altLang="en-US" sz="2800" b="0" dirty="0"/>
                  <a:t>和</a:t>
                </a:r>
                <a14:m>
                  <m:oMath xmlns:m="http://schemas.openxmlformats.org/officeDocument/2006/math">
                    <m:r>
                      <a:rPr lang="en-US" altLang="zh-CN" sz="2800" b="1" i="1" dirty="0" smtClean="0">
                        <a:latin typeface="Cambria Math" panose="02040503050406030204" pitchFamily="18" charset="0"/>
                      </a:rPr>
                      <m:t>𝒏</m:t>
                    </m:r>
                  </m:oMath>
                </a14:m>
                <a:r>
                  <a:rPr lang="zh-CN" altLang="en-US" sz="2800" b="0" dirty="0"/>
                  <a:t>是两个正整数，如果存在最小的</a:t>
                </a:r>
                <a14:m>
                  <m:oMath xmlns:m="http://schemas.openxmlformats.org/officeDocument/2006/math">
                    <m:r>
                      <a:rPr lang="en-US" altLang="zh-CN" sz="2800" b="1" i="1" dirty="0">
                        <a:latin typeface="Cambria Math" panose="02040503050406030204" pitchFamily="18" charset="0"/>
                      </a:rPr>
                      <m:t>𝒓</m:t>
                    </m:r>
                    <m:r>
                      <a:rPr lang="en-US" altLang="zh-CN" sz="2800" b="1" i="1" dirty="0">
                        <a:latin typeface="Cambria Math" panose="02040503050406030204" pitchFamily="18" charset="0"/>
                      </a:rPr>
                      <m:t>(</m:t>
                    </m:r>
                    <m:r>
                      <a:rPr lang="en-US" altLang="zh-CN" sz="2800" b="1" i="1" dirty="0">
                        <a:latin typeface="Cambria Math" panose="02040503050406030204" pitchFamily="18" charset="0"/>
                      </a:rPr>
                      <m:t>𝒎</m:t>
                    </m:r>
                    <m:r>
                      <a:rPr lang="en-US" altLang="zh-CN" sz="2800" b="1" i="1" dirty="0">
                        <a:latin typeface="Cambria Math" panose="02040503050406030204" pitchFamily="18" charset="0"/>
                      </a:rPr>
                      <m:t>,</m:t>
                    </m:r>
                    <m:r>
                      <a:rPr lang="en-US" altLang="zh-CN" sz="2800" b="1" i="1" dirty="0">
                        <a:latin typeface="Cambria Math" panose="02040503050406030204" pitchFamily="18" charset="0"/>
                      </a:rPr>
                      <m:t>𝒏</m:t>
                    </m:r>
                    <m:r>
                      <a:rPr lang="en-US" altLang="zh-CN" sz="2800" b="1" i="1" dirty="0">
                        <a:latin typeface="Cambria Math" panose="02040503050406030204" pitchFamily="18" charset="0"/>
                      </a:rPr>
                      <m:t>)</m:t>
                    </m:r>
                  </m:oMath>
                </a14:m>
                <a:r>
                  <a:rPr lang="zh-CN" altLang="en-US" sz="2800" b="0" dirty="0"/>
                  <a:t>阶的图</a:t>
                </a:r>
                <a14:m>
                  <m:oMath xmlns:m="http://schemas.openxmlformats.org/officeDocument/2006/math">
                    <m:r>
                      <a:rPr lang="en-US" altLang="zh-CN" sz="2800" b="1" i="1" dirty="0">
                        <a:latin typeface="Cambria Math" panose="02040503050406030204" pitchFamily="18" charset="0"/>
                      </a:rPr>
                      <m:t>𝑮</m:t>
                    </m:r>
                  </m:oMath>
                </a14:m>
                <a:r>
                  <a:rPr lang="en-US" altLang="zh-CN" sz="2800" b="0" dirty="0"/>
                  <a:t>,</a:t>
                </a:r>
                <a:r>
                  <a:rPr lang="zh-CN" altLang="en-US" sz="2800" b="0" dirty="0"/>
                  <a:t>使得</a:t>
                </a:r>
                <a14:m>
                  <m:oMath xmlns:m="http://schemas.openxmlformats.org/officeDocument/2006/math">
                    <m:r>
                      <a:rPr lang="en-US" altLang="zh-CN" sz="2800" b="1" i="1" dirty="0">
                        <a:latin typeface="Cambria Math" panose="02040503050406030204" pitchFamily="18" charset="0"/>
                      </a:rPr>
                      <m:t>𝑮</m:t>
                    </m:r>
                  </m:oMath>
                </a14:m>
                <a:r>
                  <a:rPr lang="zh-CN" altLang="en-US" sz="2800" b="0" dirty="0"/>
                  <a:t>中或者有</a:t>
                </a:r>
                <a14:m>
                  <m:oMath xmlns:m="http://schemas.openxmlformats.org/officeDocument/2006/math">
                    <m:sSub>
                      <m:sSubPr>
                        <m:ctrlPr>
                          <a:rPr lang="en-US" altLang="zh-CN" sz="2800" i="1" dirty="0" smtClean="0">
                            <a:latin typeface="Cambria Math" panose="02040503050406030204" pitchFamily="18" charset="0"/>
                          </a:rPr>
                        </m:ctrlPr>
                      </m:sSubPr>
                      <m:e>
                        <m:r>
                          <a:rPr lang="en-US" altLang="zh-CN" sz="2800" b="1" i="1" dirty="0" smtClean="0">
                            <a:latin typeface="Cambria Math" panose="02040503050406030204" pitchFamily="18" charset="0"/>
                          </a:rPr>
                          <m:t>𝑲</m:t>
                        </m:r>
                      </m:e>
                      <m:sub>
                        <m:r>
                          <a:rPr lang="en-US" altLang="zh-CN" sz="2800" b="1" i="1" dirty="0" smtClean="0">
                            <a:latin typeface="Cambria Math" panose="02040503050406030204" pitchFamily="18" charset="0"/>
                          </a:rPr>
                          <m:t>𝒎</m:t>
                        </m:r>
                      </m:sub>
                    </m:sSub>
                  </m:oMath>
                </a14:m>
                <a:r>
                  <a:rPr lang="zh-CN" altLang="en-US" sz="2800" b="0" dirty="0"/>
                  <a:t>或者有</a:t>
                </a:r>
                <a14:m>
                  <m:oMath xmlns:m="http://schemas.openxmlformats.org/officeDocument/2006/math">
                    <m:r>
                      <a:rPr lang="en-US" altLang="zh-CN" sz="2800" b="1" i="1" dirty="0" smtClean="0">
                        <a:solidFill>
                          <a:srgbClr val="FF0000"/>
                        </a:solidFill>
                        <a:latin typeface="Cambria Math" panose="02040503050406030204" pitchFamily="18" charset="0"/>
                      </a:rPr>
                      <m:t>𝒏</m:t>
                    </m:r>
                  </m:oMath>
                </a14:m>
                <a:r>
                  <a:rPr lang="zh-CN" altLang="en-US" sz="2800" b="0" dirty="0">
                    <a:solidFill>
                      <a:srgbClr val="FF0000"/>
                    </a:solidFill>
                  </a:rPr>
                  <a:t>个顶点的独立集</a:t>
                </a:r>
                <a:r>
                  <a:rPr lang="zh-CN" altLang="en-US" sz="2800" b="0" dirty="0"/>
                  <a:t>，则称正整数</a:t>
                </a:r>
                <a14:m>
                  <m:oMath xmlns:m="http://schemas.openxmlformats.org/officeDocument/2006/math">
                    <m:r>
                      <a:rPr lang="en-US" altLang="zh-CN" sz="2800" b="1" i="1" dirty="0" smtClean="0">
                        <a:latin typeface="Cambria Math" panose="02040503050406030204" pitchFamily="18" charset="0"/>
                      </a:rPr>
                      <m:t>𝒓</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𝒎</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𝒏</m:t>
                    </m:r>
                    <m:r>
                      <a:rPr lang="en-US" altLang="zh-CN" sz="2800" b="1" i="1" dirty="0" smtClean="0">
                        <a:latin typeface="Cambria Math" panose="02040503050406030204" pitchFamily="18" charset="0"/>
                      </a:rPr>
                      <m:t>)</m:t>
                    </m:r>
                  </m:oMath>
                </a14:m>
                <a:r>
                  <a:rPr lang="zh-CN" altLang="en-US" sz="2800" b="0" dirty="0"/>
                  <a:t>为</a:t>
                </a:r>
                <a14:m>
                  <m:oMath xmlns:m="http://schemas.openxmlformats.org/officeDocument/2006/math">
                    <m:r>
                      <a:rPr lang="en-US" altLang="zh-CN" sz="2800" b="1" i="1" dirty="0" smtClean="0">
                        <a:solidFill>
                          <a:srgbClr val="C00000"/>
                        </a:solidFill>
                        <a:latin typeface="Cambria Math" panose="02040503050406030204" pitchFamily="18" charset="0"/>
                      </a:rPr>
                      <m:t>(</m:t>
                    </m:r>
                    <m:r>
                      <a:rPr lang="en-US" altLang="zh-CN" sz="2800" b="1" i="1" dirty="0" smtClean="0">
                        <a:solidFill>
                          <a:srgbClr val="C00000"/>
                        </a:solidFill>
                        <a:latin typeface="Cambria Math" panose="02040503050406030204" pitchFamily="18" charset="0"/>
                      </a:rPr>
                      <m:t>𝒎</m:t>
                    </m:r>
                    <m:r>
                      <a:rPr lang="en-US" altLang="zh-CN" sz="2800" b="1" i="1" dirty="0" smtClean="0">
                        <a:solidFill>
                          <a:srgbClr val="C00000"/>
                        </a:solidFill>
                        <a:latin typeface="Cambria Math" panose="02040503050406030204" pitchFamily="18" charset="0"/>
                      </a:rPr>
                      <m:t>,</m:t>
                    </m:r>
                    <m:r>
                      <a:rPr lang="en-US" altLang="zh-CN" sz="2800" b="1" i="1" dirty="0" smtClean="0">
                        <a:solidFill>
                          <a:srgbClr val="C00000"/>
                        </a:solidFill>
                        <a:latin typeface="Cambria Math" panose="02040503050406030204" pitchFamily="18" charset="0"/>
                      </a:rPr>
                      <m:t>𝒏</m:t>
                    </m:r>
                    <m:r>
                      <a:rPr lang="en-US" altLang="zh-CN" sz="2800" b="1" i="1" dirty="0" smtClean="0">
                        <a:solidFill>
                          <a:srgbClr val="C00000"/>
                        </a:solidFill>
                        <a:latin typeface="Cambria Math" panose="02040503050406030204" pitchFamily="18" charset="0"/>
                      </a:rPr>
                      <m:t>)</m:t>
                    </m:r>
                  </m:oMath>
                </a14:m>
                <a:r>
                  <a:rPr lang="en-US" altLang="zh-CN" sz="2800" b="0" dirty="0">
                    <a:solidFill>
                      <a:srgbClr val="C00000"/>
                    </a:solidFill>
                    <a:latin typeface="Times New Roman" panose="02020603050405020304" pitchFamily="18" charset="0"/>
                    <a:cs typeface="Times New Roman" panose="02020603050405020304" pitchFamily="18" charset="0"/>
                  </a:rPr>
                  <a:t>Ramsey</a:t>
                </a:r>
                <a:r>
                  <a:rPr lang="en-US" altLang="zh-CN" sz="2800" b="0" dirty="0">
                    <a:solidFill>
                      <a:srgbClr val="C00000"/>
                    </a:solidFill>
                  </a:rPr>
                  <a:t>(</a:t>
                </a:r>
                <a:r>
                  <a:rPr lang="zh-CN" altLang="en-US" sz="2800" b="0" dirty="0">
                    <a:solidFill>
                      <a:srgbClr val="C00000"/>
                    </a:solidFill>
                  </a:rPr>
                  <a:t>拉姆齐</a:t>
                </a:r>
                <a:r>
                  <a:rPr lang="en-US" altLang="zh-CN" sz="2800" b="0" dirty="0">
                    <a:solidFill>
                      <a:srgbClr val="C00000"/>
                    </a:solidFill>
                  </a:rPr>
                  <a:t>)</a:t>
                </a:r>
                <a:r>
                  <a:rPr lang="zh-CN" altLang="en-US" sz="2800" b="0" dirty="0">
                    <a:solidFill>
                      <a:srgbClr val="C00000"/>
                    </a:solidFill>
                  </a:rPr>
                  <a:t>数</a:t>
                </a:r>
                <a:r>
                  <a:rPr lang="en-US" altLang="zh-CN" sz="2800" b="0" dirty="0"/>
                  <a:t>.</a:t>
                </a:r>
              </a:p>
              <a:p>
                <a:pPr eaLnBrk="1" hangingPunct="1">
                  <a:spcBef>
                    <a:spcPts val="600"/>
                  </a:spcBef>
                  <a:buClrTx/>
                </a:pPr>
                <a:r>
                  <a:rPr lang="en-US" altLang="zh-CN" sz="2800" b="0" dirty="0"/>
                  <a:t>97</a:t>
                </a:r>
                <a:r>
                  <a:rPr lang="zh-CN" altLang="en-US" sz="2800" b="0" dirty="0"/>
                  <a:t>年</a:t>
                </a:r>
                <a:r>
                  <a:rPr lang="en-US" altLang="zh-CN" sz="2800" b="0" dirty="0"/>
                  <a:t>(</a:t>
                </a:r>
                <a:r>
                  <a:rPr lang="en-US" altLang="zh-CN" sz="2800" b="0" dirty="0">
                    <a:latin typeface="Times New Roman" panose="02020603050405020304" pitchFamily="18" charset="0"/>
                    <a:cs typeface="Times New Roman" panose="02020603050405020304" pitchFamily="18" charset="0"/>
                  </a:rPr>
                  <a:t>Fulkerson</a:t>
                </a:r>
                <a:r>
                  <a:rPr lang="zh-CN" altLang="en-US" sz="2800" b="0" dirty="0"/>
                  <a:t>奖</a:t>
                </a:r>
                <a:r>
                  <a:rPr lang="en-US" altLang="zh-CN" sz="2800" b="0" dirty="0"/>
                  <a:t>)</a:t>
                </a:r>
                <a:r>
                  <a:rPr lang="zh-CN" altLang="en-US" sz="2800" b="0" dirty="0"/>
                  <a:t>，</a:t>
                </a:r>
                <a:r>
                  <a:rPr lang="en-US" altLang="zh-CN" sz="2800" b="0" dirty="0"/>
                  <a:t>98</a:t>
                </a:r>
                <a:r>
                  <a:rPr lang="zh-CN" altLang="en-US" sz="2800" b="0" dirty="0"/>
                  <a:t>年</a:t>
                </a:r>
                <a:r>
                  <a:rPr lang="en-US" altLang="zh-CN" sz="2800" b="0" dirty="0"/>
                  <a:t>(</a:t>
                </a:r>
                <a:r>
                  <a:rPr lang="en-US" altLang="zh-CN" sz="2800" b="0" dirty="0">
                    <a:latin typeface="Times New Roman" panose="02020603050405020304" pitchFamily="18" charset="0"/>
                    <a:cs typeface="Times New Roman" panose="02020603050405020304" pitchFamily="18" charset="0"/>
                  </a:rPr>
                  <a:t>Fields</a:t>
                </a:r>
                <a:r>
                  <a:rPr lang="zh-CN" altLang="en-US" sz="2800" b="0" dirty="0"/>
                  <a:t>奖</a:t>
                </a:r>
                <a:r>
                  <a:rPr lang="en-US" altLang="zh-CN" sz="2800" b="0" dirty="0"/>
                  <a:t>)</a:t>
                </a:r>
                <a:r>
                  <a:rPr lang="zh-CN" altLang="en-US" sz="2800" b="0" dirty="0"/>
                  <a:t>，</a:t>
                </a:r>
                <a:r>
                  <a:rPr lang="en-US" altLang="zh-CN" sz="2800" b="0" dirty="0"/>
                  <a:t>99</a:t>
                </a:r>
                <a:r>
                  <a:rPr lang="zh-CN" altLang="en-US" sz="2800" b="0" dirty="0"/>
                  <a:t>年</a:t>
                </a:r>
                <a:r>
                  <a:rPr lang="en-US" altLang="zh-CN" sz="2800" b="0" dirty="0"/>
                  <a:t>(</a:t>
                </a:r>
                <a:r>
                  <a:rPr lang="en-US" altLang="zh-CN" sz="2800" b="0" dirty="0">
                    <a:latin typeface="Times New Roman" panose="02020603050405020304" pitchFamily="18" charset="0"/>
                    <a:cs typeface="Times New Roman" panose="02020603050405020304" pitchFamily="18" charset="0"/>
                  </a:rPr>
                  <a:t>Wolf</a:t>
                </a:r>
                <a:r>
                  <a:rPr lang="zh-CN" altLang="en-US" sz="2800" b="0" dirty="0"/>
                  <a:t>奖</a:t>
                </a:r>
                <a:r>
                  <a:rPr lang="en-US" altLang="zh-CN" sz="2800" b="0" dirty="0"/>
                  <a:t>)</a:t>
                </a:r>
                <a:r>
                  <a:rPr lang="zh-CN" altLang="en-US" sz="2800" b="0" dirty="0"/>
                  <a:t>的世界三项数学大奖均与</a:t>
                </a:r>
                <a:r>
                  <a:rPr lang="en-US" altLang="zh-CN" sz="2800" b="0" dirty="0">
                    <a:latin typeface="Times New Roman" panose="02020603050405020304" pitchFamily="18" charset="0"/>
                    <a:cs typeface="Times New Roman" panose="02020603050405020304" pitchFamily="18" charset="0"/>
                  </a:rPr>
                  <a:t>Ramsey</a:t>
                </a:r>
                <a:r>
                  <a:rPr lang="zh-CN" altLang="en-US" sz="2800" b="0" dirty="0"/>
                  <a:t>问题有关</a:t>
                </a:r>
                <a:r>
                  <a:rPr lang="en-US" altLang="zh-CN" sz="2800" b="0" dirty="0"/>
                  <a:t>. </a:t>
                </a:r>
                <a:endParaRPr lang="ru-RU" altLang="zh-CN" sz="2800" b="0" dirty="0"/>
              </a:p>
              <a:p>
                <a:pPr eaLnBrk="1" hangingPunct="1">
                  <a:spcBef>
                    <a:spcPts val="600"/>
                  </a:spcBef>
                  <a:buClrTx/>
                </a:pPr>
                <a14:m>
                  <m:oMath xmlns:m="http://schemas.openxmlformats.org/officeDocument/2006/math">
                    <m:r>
                      <a:rPr lang="en-US" altLang="zh-CN" sz="2800" b="1" i="1" dirty="0">
                        <a:latin typeface="Cambria Math" panose="02040503050406030204" pitchFamily="18" charset="0"/>
                      </a:rPr>
                      <m:t>𝒓</m:t>
                    </m:r>
                    <m:d>
                      <m:dPr>
                        <m:ctrlPr>
                          <a:rPr lang="en-US" altLang="zh-CN" sz="2800" i="1" dirty="0">
                            <a:latin typeface="Cambria Math" panose="02040503050406030204" pitchFamily="18" charset="0"/>
                          </a:rPr>
                        </m:ctrlPr>
                      </m:dPr>
                      <m:e>
                        <m:r>
                          <a:rPr lang="en-US" altLang="zh-CN" sz="2800" b="1" i="1" dirty="0" smtClean="0">
                            <a:latin typeface="Cambria Math" panose="02040503050406030204" pitchFamily="18" charset="0"/>
                          </a:rPr>
                          <m:t>𝟐</m:t>
                        </m:r>
                        <m:r>
                          <a:rPr lang="en-US" altLang="zh-CN" sz="2800" b="1" i="1" dirty="0">
                            <a:latin typeface="Cambria Math" panose="02040503050406030204" pitchFamily="18" charset="0"/>
                          </a:rPr>
                          <m:t>,</m:t>
                        </m:r>
                        <m:r>
                          <a:rPr lang="en-US" altLang="zh-CN" sz="2800" b="1" i="1" dirty="0" smtClean="0">
                            <a:latin typeface="Cambria Math" panose="02040503050406030204" pitchFamily="18" charset="0"/>
                          </a:rPr>
                          <m:t>𝟓</m:t>
                        </m:r>
                      </m:e>
                    </m:d>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𝟓</m:t>
                    </m:r>
                  </m:oMath>
                </a14:m>
                <a:r>
                  <a:rPr lang="en-US" altLang="zh-CN" sz="2800" b="0" dirty="0"/>
                  <a:t>, </a:t>
                </a:r>
                <a14:m>
                  <m:oMath xmlns:m="http://schemas.openxmlformats.org/officeDocument/2006/math">
                    <m:r>
                      <a:rPr lang="en-US" altLang="zh-CN" sz="2800" b="1" i="1" dirty="0">
                        <a:latin typeface="Cambria Math" panose="02040503050406030204" pitchFamily="18" charset="0"/>
                      </a:rPr>
                      <m:t>𝒓</m:t>
                    </m:r>
                    <m:d>
                      <m:dPr>
                        <m:ctrlPr>
                          <a:rPr lang="en-US" altLang="zh-CN" sz="2800" i="1" dirty="0">
                            <a:latin typeface="Cambria Math" panose="02040503050406030204" pitchFamily="18" charset="0"/>
                          </a:rPr>
                        </m:ctrlPr>
                      </m:dPr>
                      <m:e>
                        <m:r>
                          <a:rPr lang="en-US" altLang="zh-CN" sz="2800" b="1" i="1" dirty="0" smtClean="0">
                            <a:latin typeface="Cambria Math" panose="02040503050406030204" pitchFamily="18" charset="0"/>
                          </a:rPr>
                          <m:t>𝟑</m:t>
                        </m:r>
                        <m:r>
                          <a:rPr lang="en-US" altLang="zh-CN" sz="2800" b="1" i="1" dirty="0">
                            <a:latin typeface="Cambria Math" panose="02040503050406030204" pitchFamily="18" charset="0"/>
                          </a:rPr>
                          <m:t>,</m:t>
                        </m:r>
                        <m:r>
                          <a:rPr lang="en-US" altLang="zh-CN" sz="2800" b="1" i="1" dirty="0" smtClean="0">
                            <a:latin typeface="Cambria Math" panose="02040503050406030204" pitchFamily="18" charset="0"/>
                          </a:rPr>
                          <m:t>𝟒</m:t>
                        </m:r>
                      </m:e>
                    </m:d>
                    <m:r>
                      <a:rPr lang="en-US" altLang="zh-CN" sz="2800" b="1" i="1" dirty="0">
                        <a:latin typeface="Cambria Math" panose="02040503050406030204" pitchFamily="18" charset="0"/>
                      </a:rPr>
                      <m:t>=</m:t>
                    </m:r>
                    <m:r>
                      <a:rPr lang="en-US" altLang="zh-CN" sz="2800" b="1" i="1" dirty="0" smtClean="0">
                        <a:latin typeface="Cambria Math" panose="02040503050406030204" pitchFamily="18" charset="0"/>
                      </a:rPr>
                      <m:t>𝟗</m:t>
                    </m:r>
                  </m:oMath>
                </a14:m>
                <a:r>
                  <a:rPr lang="en-US" altLang="zh-CN" sz="2800" b="0" dirty="0"/>
                  <a:t>, </a:t>
                </a:r>
                <a14:m>
                  <m:oMath xmlns:m="http://schemas.openxmlformats.org/officeDocument/2006/math">
                    <m:r>
                      <a:rPr lang="en-US" altLang="zh-CN" sz="2800" b="1" i="1" dirty="0">
                        <a:latin typeface="Cambria Math" panose="02040503050406030204" pitchFamily="18" charset="0"/>
                      </a:rPr>
                      <m:t>𝒓</m:t>
                    </m:r>
                    <m:d>
                      <m:dPr>
                        <m:ctrlPr>
                          <a:rPr lang="en-US" altLang="zh-CN" sz="2800" i="1" dirty="0">
                            <a:latin typeface="Cambria Math" panose="02040503050406030204" pitchFamily="18" charset="0"/>
                          </a:rPr>
                        </m:ctrlPr>
                      </m:dPr>
                      <m:e>
                        <m:r>
                          <a:rPr lang="en-US" altLang="zh-CN" sz="2800" b="1" i="1" dirty="0" smtClean="0">
                            <a:latin typeface="Cambria Math" panose="02040503050406030204" pitchFamily="18" charset="0"/>
                          </a:rPr>
                          <m:t>𝟑</m:t>
                        </m:r>
                        <m:r>
                          <a:rPr lang="en-US" altLang="zh-CN" sz="2800" b="1" i="1" dirty="0">
                            <a:latin typeface="Cambria Math" panose="02040503050406030204" pitchFamily="18" charset="0"/>
                          </a:rPr>
                          <m:t>,</m:t>
                        </m:r>
                        <m:r>
                          <a:rPr lang="en-US" altLang="zh-CN" sz="2800" b="1" i="1" dirty="0">
                            <a:latin typeface="Cambria Math" panose="02040503050406030204" pitchFamily="18" charset="0"/>
                          </a:rPr>
                          <m:t>𝟓</m:t>
                        </m:r>
                      </m:e>
                    </m:d>
                    <m:r>
                      <a:rPr lang="en-US" altLang="zh-CN" sz="2800" b="1" i="1" dirty="0">
                        <a:latin typeface="Cambria Math" panose="02040503050406030204" pitchFamily="18" charset="0"/>
                      </a:rPr>
                      <m:t>=</m:t>
                    </m:r>
                    <m:r>
                      <a:rPr lang="en-US" altLang="zh-CN" sz="2800" b="1" i="1" dirty="0" smtClean="0">
                        <a:latin typeface="Cambria Math" panose="02040503050406030204" pitchFamily="18" charset="0"/>
                      </a:rPr>
                      <m:t>𝟏𝟒</m:t>
                    </m:r>
                  </m:oMath>
                </a14:m>
                <a:r>
                  <a:rPr lang="en-US" altLang="zh-CN" sz="2800" b="0" dirty="0"/>
                  <a:t>. </a:t>
                </a:r>
                <a14:m>
                  <m:oMath xmlns:m="http://schemas.openxmlformats.org/officeDocument/2006/math">
                    <m:r>
                      <a:rPr lang="en-US" altLang="zh-CN" sz="2800" b="1" i="1" dirty="0" smtClean="0">
                        <a:solidFill>
                          <a:srgbClr val="C00000"/>
                        </a:solidFill>
                        <a:latin typeface="Cambria Math" panose="02040503050406030204" pitchFamily="18" charset="0"/>
                      </a:rPr>
                      <m:t>𝒓</m:t>
                    </m:r>
                    <m:d>
                      <m:dPr>
                        <m:ctrlPr>
                          <a:rPr lang="en-US" altLang="zh-CN" sz="2800" i="1" dirty="0">
                            <a:solidFill>
                              <a:srgbClr val="C00000"/>
                            </a:solidFill>
                            <a:latin typeface="Cambria Math" panose="02040503050406030204" pitchFamily="18" charset="0"/>
                          </a:rPr>
                        </m:ctrlPr>
                      </m:dPr>
                      <m:e>
                        <m:r>
                          <a:rPr lang="en-US" altLang="zh-CN" sz="2800" b="1" i="1" dirty="0">
                            <a:solidFill>
                              <a:srgbClr val="C00000"/>
                            </a:solidFill>
                            <a:latin typeface="Cambria Math" panose="02040503050406030204" pitchFamily="18" charset="0"/>
                          </a:rPr>
                          <m:t>𝟑</m:t>
                        </m:r>
                        <m:r>
                          <a:rPr lang="en-US" altLang="zh-CN" sz="2800" b="1" i="1" dirty="0">
                            <a:solidFill>
                              <a:srgbClr val="C00000"/>
                            </a:solidFill>
                            <a:latin typeface="Cambria Math" panose="02040503050406030204" pitchFamily="18" charset="0"/>
                          </a:rPr>
                          <m:t>,</m:t>
                        </m:r>
                        <m:r>
                          <a:rPr lang="en-US" altLang="zh-CN" sz="2800" b="1" i="1" dirty="0" smtClean="0">
                            <a:solidFill>
                              <a:srgbClr val="C00000"/>
                            </a:solidFill>
                            <a:latin typeface="Cambria Math" panose="02040503050406030204" pitchFamily="18" charset="0"/>
                          </a:rPr>
                          <m:t>𝟑</m:t>
                        </m:r>
                      </m:e>
                    </m:d>
                    <m:r>
                      <a:rPr lang="en-US" altLang="zh-CN" sz="2800" b="1" i="1" dirty="0">
                        <a:solidFill>
                          <a:srgbClr val="C00000"/>
                        </a:solidFill>
                        <a:latin typeface="Cambria Math" panose="02040503050406030204" pitchFamily="18" charset="0"/>
                      </a:rPr>
                      <m:t>=</m:t>
                    </m:r>
                    <m:r>
                      <a:rPr lang="en-US" altLang="zh-CN" sz="2800" b="1" i="1" dirty="0" smtClean="0">
                        <a:solidFill>
                          <a:srgbClr val="C00000"/>
                        </a:solidFill>
                        <a:latin typeface="Cambria Math" panose="02040503050406030204" pitchFamily="18" charset="0"/>
                      </a:rPr>
                      <m:t>?</m:t>
                    </m:r>
                  </m:oMath>
                </a14:m>
                <a:endParaRPr lang="en-US" altLang="zh-CN" sz="2800" dirty="0"/>
              </a:p>
              <a:p>
                <a:pPr eaLnBrk="1" hangingPunct="1">
                  <a:spcBef>
                    <a:spcPts val="600"/>
                  </a:spcBef>
                  <a:buClrTx/>
                </a:pPr>
                <a:r>
                  <a:rPr lang="zh-CN" altLang="en-US" sz="2800" b="0" dirty="0"/>
                  <a:t>求</a:t>
                </a:r>
                <a14:m>
                  <m:oMath xmlns:m="http://schemas.openxmlformats.org/officeDocument/2006/math">
                    <m:r>
                      <a:rPr lang="en-US" altLang="zh-CN" sz="2800" b="1" i="1" dirty="0">
                        <a:latin typeface="Cambria Math" panose="02040503050406030204" pitchFamily="18" charset="0"/>
                      </a:rPr>
                      <m:t>(</m:t>
                    </m:r>
                    <m:r>
                      <a:rPr lang="en-US" altLang="zh-CN" sz="2800" b="1" i="1" dirty="0">
                        <a:latin typeface="Cambria Math" panose="02040503050406030204" pitchFamily="18" charset="0"/>
                      </a:rPr>
                      <m:t>𝒎</m:t>
                    </m:r>
                    <m:r>
                      <a:rPr lang="en-US" altLang="zh-CN" sz="2800" b="1" i="1" dirty="0">
                        <a:latin typeface="Cambria Math" panose="02040503050406030204" pitchFamily="18" charset="0"/>
                      </a:rPr>
                      <m:t>,</m:t>
                    </m:r>
                    <m:r>
                      <a:rPr lang="en-US" altLang="zh-CN" sz="2800" b="1" i="1" dirty="0">
                        <a:latin typeface="Cambria Math" panose="02040503050406030204" pitchFamily="18" charset="0"/>
                      </a:rPr>
                      <m:t>𝒏</m:t>
                    </m:r>
                    <m:r>
                      <a:rPr lang="en-US" altLang="zh-CN" sz="2800" b="1" i="1" dirty="0">
                        <a:latin typeface="Cambria Math" panose="02040503050406030204" pitchFamily="18" charset="0"/>
                      </a:rPr>
                      <m:t>)</m:t>
                    </m:r>
                  </m:oMath>
                </a14:m>
                <a:r>
                  <a:rPr lang="zh-CN" altLang="en-US" sz="2800" b="0" dirty="0"/>
                  <a:t>拉姆齐数是一个非常困难的问题，以至于到目前为止，求出来的拉姆齐数还屈指可数</a:t>
                </a:r>
                <a:r>
                  <a:rPr lang="en-US" altLang="zh-CN" sz="2800" b="0" dirty="0"/>
                  <a:t>. </a:t>
                </a:r>
              </a:p>
              <a:p>
                <a:pPr eaLnBrk="1" hangingPunct="1">
                  <a:spcBef>
                    <a:spcPts val="600"/>
                  </a:spcBef>
                  <a:buClrTx/>
                </a:pPr>
                <a:r>
                  <a:rPr lang="zh-CN" altLang="en-US" sz="2800" b="0" dirty="0"/>
                  <a:t>对于</a:t>
                </a:r>
                <a14:m>
                  <m:oMath xmlns:m="http://schemas.openxmlformats.org/officeDocument/2006/math">
                    <m:r>
                      <a:rPr lang="en-US" altLang="zh-CN" sz="2800" b="1" i="1" dirty="0">
                        <a:latin typeface="Cambria Math" panose="02040503050406030204" pitchFamily="18" charset="0"/>
                      </a:rPr>
                      <m:t>𝒓</m:t>
                    </m:r>
                    <m:d>
                      <m:dPr>
                        <m:ctrlPr>
                          <a:rPr lang="en-US" altLang="zh-CN" sz="2800" i="1" dirty="0">
                            <a:latin typeface="Cambria Math" panose="02040503050406030204" pitchFamily="18" charset="0"/>
                          </a:rPr>
                        </m:ctrlPr>
                      </m:dPr>
                      <m:e>
                        <m:r>
                          <a:rPr lang="en-US" altLang="zh-CN" sz="2800" b="1" i="1" dirty="0" smtClean="0">
                            <a:latin typeface="Cambria Math" panose="02040503050406030204" pitchFamily="18" charset="0"/>
                          </a:rPr>
                          <m:t>𝟓</m:t>
                        </m:r>
                        <m:r>
                          <a:rPr lang="en-US" altLang="zh-CN" sz="2800" b="1" i="1" dirty="0">
                            <a:latin typeface="Cambria Math" panose="02040503050406030204" pitchFamily="18" charset="0"/>
                          </a:rPr>
                          <m:t>,</m:t>
                        </m:r>
                        <m:r>
                          <a:rPr lang="en-US" altLang="zh-CN" sz="2800" b="1" i="1" dirty="0">
                            <a:latin typeface="Cambria Math" panose="02040503050406030204" pitchFamily="18" charset="0"/>
                          </a:rPr>
                          <m:t>𝟓</m:t>
                        </m:r>
                      </m:e>
                    </m:d>
                  </m:oMath>
                </a14:m>
                <a:r>
                  <a:rPr lang="zh-CN" altLang="en-US" sz="2800" b="0" dirty="0"/>
                  <a:t>仅知道在</a:t>
                </a:r>
                <a:r>
                  <a:rPr lang="en-US" altLang="zh-CN" sz="2800" b="0" dirty="0"/>
                  <a:t>43(</a:t>
                </a:r>
                <a:r>
                  <a:rPr lang="en-US" altLang="zh-CN" sz="2800" b="0" dirty="0">
                    <a:latin typeface="Times New Roman" panose="02020603050405020304" pitchFamily="18" charset="0"/>
                    <a:cs typeface="Times New Roman" panose="02020603050405020304" pitchFamily="18" charset="0"/>
                  </a:rPr>
                  <a:t>Geoffrey </a:t>
                </a:r>
                <a:r>
                  <a:rPr lang="en-US" altLang="zh-CN" sz="2800" b="0" dirty="0" err="1">
                    <a:latin typeface="Times New Roman" panose="02020603050405020304" pitchFamily="18" charset="0"/>
                    <a:cs typeface="Times New Roman" panose="02020603050405020304" pitchFamily="18" charset="0"/>
                  </a:rPr>
                  <a:t>Exoo</a:t>
                </a:r>
                <a:r>
                  <a:rPr lang="en-US" altLang="zh-CN" sz="2800" b="0" dirty="0"/>
                  <a:t>)</a:t>
                </a:r>
                <a:r>
                  <a:rPr lang="zh-CN" altLang="en-US" sz="2800" b="0" dirty="0"/>
                  <a:t>和</a:t>
                </a:r>
                <a:r>
                  <a:rPr lang="en-US" altLang="zh-CN" sz="2800" b="0" dirty="0"/>
                  <a:t>49</a:t>
                </a:r>
                <a:r>
                  <a:rPr lang="en-US" altLang="zh-CN" sz="2800" b="0" dirty="0">
                    <a:latin typeface="TimesNewRomanPSMT"/>
                  </a:rPr>
                  <a:t>(</a:t>
                </a:r>
                <a:r>
                  <a:rPr lang="zh-CN" altLang="en-US" sz="2800" b="0" dirty="0"/>
                  <a:t>包含</a:t>
                </a:r>
                <a:r>
                  <a:rPr lang="en-US" altLang="zh-CN" sz="2800" b="0" dirty="0">
                    <a:latin typeface="TimesNewRomanPSMT"/>
                  </a:rPr>
                  <a:t>)</a:t>
                </a:r>
                <a:r>
                  <a:rPr lang="zh-CN" altLang="en-US" sz="2800" b="0" dirty="0"/>
                  <a:t>之间</a:t>
                </a:r>
                <a:r>
                  <a:rPr lang="en-US" altLang="zh-CN" sz="2800" b="0" dirty="0"/>
                  <a:t>(</a:t>
                </a:r>
                <a:r>
                  <a:rPr lang="en-US" altLang="zh-CN" sz="2800" b="0" dirty="0">
                    <a:latin typeface="Times New Roman" panose="02020603050405020304" pitchFamily="18" charset="0"/>
                    <a:cs typeface="Times New Roman" panose="02020603050405020304" pitchFamily="18" charset="0"/>
                  </a:rPr>
                  <a:t>McKay and </a:t>
                </a:r>
                <a:r>
                  <a:rPr lang="en-US" altLang="zh-CN" sz="2800" b="0" dirty="0" err="1">
                    <a:latin typeface="Times New Roman" panose="02020603050405020304" pitchFamily="18" charset="0"/>
                    <a:cs typeface="Times New Roman" panose="02020603050405020304" pitchFamily="18" charset="0"/>
                  </a:rPr>
                  <a:t>Radziszowski</a:t>
                </a:r>
                <a:r>
                  <a:rPr lang="en-US" altLang="zh-CN" sz="2800" b="0" dirty="0"/>
                  <a:t>). </a:t>
                </a:r>
              </a:p>
              <a:p>
                <a:pPr eaLnBrk="1" hangingPunct="1">
                  <a:spcBef>
                    <a:spcPts val="600"/>
                  </a:spcBef>
                  <a:buClrTx/>
                </a:pPr>
                <a:r>
                  <a:rPr lang="en-US" altLang="zh-CN" sz="2800" b="0" dirty="0"/>
                  <a:t>(2023)</a:t>
                </a:r>
                <a:r>
                  <a:rPr lang="zh-CN" altLang="en-US" sz="2800" b="0" dirty="0"/>
                  <a:t>当</a:t>
                </a:r>
                <a14:m>
                  <m:oMath xmlns:m="http://schemas.openxmlformats.org/officeDocument/2006/math">
                    <m:r>
                      <a:rPr lang="en-US" altLang="zh-CN" sz="2800" b="1" i="1" dirty="0" smtClean="0">
                        <a:latin typeface="Cambria Math" panose="02040503050406030204" pitchFamily="18" charset="0"/>
                      </a:rPr>
                      <m:t>𝒕</m:t>
                    </m:r>
                    <m:r>
                      <a:rPr lang="en-US" altLang="zh-CN" sz="2800" b="1" i="1" dirty="0" smtClean="0">
                        <a:latin typeface="Cambria Math" panose="02040503050406030204" pitchFamily="18" charset="0"/>
                        <a:ea typeface="Cambria Math" panose="02040503050406030204" pitchFamily="18" charset="0"/>
                      </a:rPr>
                      <m:t>→∞</m:t>
                    </m:r>
                  </m:oMath>
                </a14:m>
                <a:r>
                  <a:rPr lang="zh-CN" altLang="en-US" sz="2800" b="0" dirty="0"/>
                  <a:t>时</a:t>
                </a:r>
                <a:r>
                  <a:rPr lang="zh-CN" altLang="en-US" sz="2800" dirty="0"/>
                  <a:t>，</a:t>
                </a:r>
                <a:r>
                  <a:rPr lang="en-US" altLang="zh-CN" sz="2800" dirty="0"/>
                  <a:t> </a:t>
                </a:r>
                <a14:m>
                  <m:oMath xmlns:m="http://schemas.openxmlformats.org/officeDocument/2006/math">
                    <m:r>
                      <a:rPr lang="en-US" altLang="zh-CN" sz="2800" i="1" dirty="0">
                        <a:latin typeface="Cambria Math" panose="02040503050406030204" pitchFamily="18" charset="0"/>
                      </a:rPr>
                      <m:t>𝒓</m:t>
                    </m:r>
                    <m:d>
                      <m:dPr>
                        <m:ctrlPr>
                          <a:rPr lang="en-US" altLang="zh-CN" sz="2800" i="1" dirty="0">
                            <a:latin typeface="Cambria Math" panose="02040503050406030204" pitchFamily="18" charset="0"/>
                          </a:rPr>
                        </m:ctrlPr>
                      </m:dPr>
                      <m:e>
                        <m:r>
                          <a:rPr lang="en-US" altLang="zh-CN" sz="2800" b="1" i="1" dirty="0" smtClean="0">
                            <a:latin typeface="Cambria Math" panose="02040503050406030204" pitchFamily="18" charset="0"/>
                          </a:rPr>
                          <m:t>𝟒</m:t>
                        </m:r>
                        <m:r>
                          <a:rPr lang="en-US" altLang="zh-CN" sz="2800" i="1" dirty="0">
                            <a:latin typeface="Cambria Math" panose="02040503050406030204" pitchFamily="18" charset="0"/>
                          </a:rPr>
                          <m:t>,</m:t>
                        </m:r>
                        <m:r>
                          <a:rPr lang="en-US" altLang="zh-CN" sz="2800" b="1" i="1" dirty="0" smtClean="0">
                            <a:latin typeface="Cambria Math" panose="02040503050406030204" pitchFamily="18" charset="0"/>
                          </a:rPr>
                          <m:t>𝒕</m:t>
                        </m:r>
                      </m:e>
                    </m:d>
                    <m:r>
                      <a:rPr lang="en-US" altLang="zh-CN" sz="2800" b="1" i="1" dirty="0" smtClean="0">
                        <a:latin typeface="Cambria Math" panose="02040503050406030204" pitchFamily="18" charset="0"/>
                      </a:rPr>
                      <m:t>=</m:t>
                    </m:r>
                    <m:r>
                      <a:rPr lang="zh-CN" altLang="en-US" sz="2800" b="1" i="1" dirty="0" smtClean="0">
                        <a:latin typeface="Cambria Math" panose="02040503050406030204" pitchFamily="18" charset="0"/>
                      </a:rPr>
                      <m:t>𝛀</m:t>
                    </m:r>
                    <m:r>
                      <a:rPr lang="en-US" altLang="zh-CN" sz="2800" b="1" i="1" dirty="0" smtClean="0">
                        <a:latin typeface="Cambria Math" panose="02040503050406030204" pitchFamily="18" charset="0"/>
                      </a:rPr>
                      <m:t>(</m:t>
                    </m:r>
                    <m:f>
                      <m:fPr>
                        <m:ctrlPr>
                          <a:rPr lang="en-US" altLang="zh-CN" sz="2800" b="1" i="1" dirty="0" smtClean="0">
                            <a:latin typeface="Cambria Math" panose="02040503050406030204" pitchFamily="18" charset="0"/>
                          </a:rPr>
                        </m:ctrlPr>
                      </m:fPr>
                      <m:num>
                        <m:sSup>
                          <m:sSupPr>
                            <m:ctrlPr>
                              <a:rPr lang="en-US" altLang="zh-CN" sz="2800" b="1" i="1" dirty="0" smtClean="0">
                                <a:latin typeface="Cambria Math" panose="02040503050406030204" pitchFamily="18" charset="0"/>
                              </a:rPr>
                            </m:ctrlPr>
                          </m:sSupPr>
                          <m:e>
                            <m:r>
                              <a:rPr lang="en-US" altLang="zh-CN" sz="2800" b="1" i="1" dirty="0" smtClean="0">
                                <a:latin typeface="Cambria Math" panose="02040503050406030204" pitchFamily="18" charset="0"/>
                              </a:rPr>
                              <m:t>𝒕</m:t>
                            </m:r>
                          </m:e>
                          <m:sup>
                            <m:r>
                              <a:rPr lang="en-US" altLang="zh-CN" sz="2800" b="1" i="1" dirty="0" smtClean="0">
                                <a:latin typeface="Cambria Math" panose="02040503050406030204" pitchFamily="18" charset="0"/>
                              </a:rPr>
                              <m:t>𝟑</m:t>
                            </m:r>
                          </m:sup>
                        </m:sSup>
                      </m:num>
                      <m:den>
                        <m:sSup>
                          <m:sSupPr>
                            <m:ctrlPr>
                              <a:rPr lang="en-US" altLang="zh-CN" sz="2800" b="1" i="1" dirty="0" smtClean="0">
                                <a:latin typeface="Cambria Math" panose="02040503050406030204" pitchFamily="18" charset="0"/>
                              </a:rPr>
                            </m:ctrlPr>
                          </m:sSupPr>
                          <m:e>
                            <m:r>
                              <a:rPr lang="en-US" altLang="zh-CN" sz="2800" b="1" i="0" dirty="0" smtClean="0">
                                <a:latin typeface="Cambria Math" panose="02040503050406030204" pitchFamily="18" charset="0"/>
                              </a:rPr>
                              <m:t>𝐥𝐨𝐠</m:t>
                            </m:r>
                          </m:e>
                          <m:sup>
                            <m:r>
                              <a:rPr lang="en-US" altLang="zh-CN" sz="2800" b="1" i="1" dirty="0" smtClean="0">
                                <a:latin typeface="Cambria Math" panose="02040503050406030204" pitchFamily="18" charset="0"/>
                              </a:rPr>
                              <m:t>𝟒</m:t>
                            </m:r>
                          </m:sup>
                        </m:sSup>
                        <m:r>
                          <a:rPr lang="en-US" altLang="zh-CN" sz="2800" b="1" i="1" dirty="0" smtClean="0">
                            <a:latin typeface="Cambria Math" panose="02040503050406030204" pitchFamily="18" charset="0"/>
                          </a:rPr>
                          <m:t>𝒕</m:t>
                        </m:r>
                      </m:den>
                    </m:f>
                    <m:r>
                      <a:rPr lang="en-US" altLang="zh-CN" sz="2800" b="1" i="1" dirty="0" smtClean="0">
                        <a:latin typeface="Cambria Math" panose="02040503050406030204" pitchFamily="18" charset="0"/>
                      </a:rPr>
                      <m:t>)</m:t>
                    </m:r>
                  </m:oMath>
                </a14:m>
                <a:r>
                  <a:rPr lang="en-US" altLang="zh-CN" sz="2800" dirty="0"/>
                  <a:t>    </a:t>
                </a:r>
                <a:endParaRPr lang="zh-CN" altLang="ru-RU" sz="2800" dirty="0"/>
              </a:p>
            </p:txBody>
          </p:sp>
        </mc:Choice>
        <mc:Fallback xmlns="">
          <p:sp>
            <p:nvSpPr>
              <p:cNvPr id="154627" name="内容占位符 2"/>
              <p:cNvSpPr>
                <a:spLocks noGrp="1" noRot="1" noChangeAspect="1" noMove="1" noResize="1" noEditPoints="1" noAdjustHandles="1" noChangeArrowheads="1" noChangeShapeType="1" noTextEdit="1"/>
              </p:cNvSpPr>
              <p:nvPr>
                <p:ph idx="1"/>
              </p:nvPr>
            </p:nvSpPr>
            <p:spPr>
              <a:xfrm>
                <a:off x="72798" y="1285784"/>
                <a:ext cx="8998404" cy="5716588"/>
              </a:xfrm>
              <a:blipFill>
                <a:blip r:embed="rId2"/>
                <a:stretch>
                  <a:fillRect l="-1423" t="-2239" r="-1152"/>
                </a:stretch>
              </a:blipFill>
            </p:spPr>
            <p:txBody>
              <a:bodyPr/>
              <a:lstStyle/>
              <a:p>
                <a:r>
                  <a:rPr lang="zh-CN" altLang="en-US">
                    <a:noFill/>
                  </a:rPr>
                  <a:t> </a:t>
                </a:r>
              </a:p>
            </p:txBody>
          </p:sp>
        </mc:Fallback>
      </mc:AlternateContent>
      <p:sp>
        <p:nvSpPr>
          <p:cNvPr id="4" name="圆角矩形标注 3">
            <a:extLst>
              <a:ext uri="{FF2B5EF4-FFF2-40B4-BE49-F238E27FC236}">
                <a16:creationId xmlns:a16="http://schemas.microsoft.com/office/drawing/2014/main" id="{39CA5318-4639-6B41-A888-F6DBF0EA1428}"/>
              </a:ext>
            </a:extLst>
          </p:cNvPr>
          <p:cNvSpPr/>
          <p:nvPr/>
        </p:nvSpPr>
        <p:spPr bwMode="auto">
          <a:xfrm>
            <a:off x="6589232" y="217034"/>
            <a:ext cx="2034068" cy="586376"/>
          </a:xfrm>
          <a:prstGeom prst="wedgeRoundRectCallout">
            <a:avLst>
              <a:gd name="adj1" fmla="val 8615"/>
              <a:gd name="adj2" fmla="val 219671"/>
              <a:gd name="adj3" fmla="val 16667"/>
            </a:avLst>
          </a:prstGeom>
          <a:solidFill>
            <a:srgbClr val="F8FF74"/>
          </a:solidFill>
          <a:ln w="9525" cap="flat" cmpd="sng" algn="ctr">
            <a:solidFill>
              <a:srgbClr val="FFC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zh-CN" altLang="en-US" sz="2400" dirty="0">
                <a:solidFill>
                  <a:srgbClr val="FF0000"/>
                </a:solidFill>
                <a:latin typeface="黑体" panose="02010609060101010101" pitchFamily="49" charset="-122"/>
                <a:ea typeface="黑体" panose="02010609060101010101" pitchFamily="49" charset="-122"/>
              </a:rPr>
              <a:t>顶点互不邻接</a:t>
            </a:r>
          </a:p>
        </p:txBody>
      </p:sp>
    </p:spTree>
    <p:extLst>
      <p:ext uri="{BB962C8B-B14F-4D97-AF65-F5344CB8AC3E}">
        <p14:creationId xmlns:p14="http://schemas.microsoft.com/office/powerpoint/2010/main" val="197087632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4627">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54627">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54627">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54627">
                                            <p:txEl>
                                              <p:pRg st="4" end="4"/>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46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p:txBody>
          <a:bodyPr/>
          <a:lstStyle/>
          <a:p>
            <a:pPr>
              <a:lnSpc>
                <a:spcPct val="120000"/>
              </a:lnSpc>
            </a:pPr>
            <a:r>
              <a:rPr lang="zh-CN" altLang="en-US" sz="3600" dirty="0">
                <a:latin typeface="Times New Roman" panose="02020603050405020304" pitchFamily="18" charset="0"/>
                <a:cs typeface="Times New Roman" panose="02020603050405020304" pitchFamily="18" charset="0"/>
              </a:rPr>
              <a:t>友谊定理</a:t>
            </a:r>
            <a:endParaRPr lang="zh-CN" altLang="en-US" sz="3600"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987DD1F-97DD-4775-8776-C359AC5E3936}"/>
                  </a:ext>
                </a:extLst>
              </p:cNvPr>
              <p:cNvSpPr/>
              <p:nvPr/>
            </p:nvSpPr>
            <p:spPr>
              <a:xfrm>
                <a:off x="337457" y="892629"/>
                <a:ext cx="8469086" cy="1169038"/>
              </a:xfrm>
              <a:prstGeom prst="rect">
                <a:avLst/>
              </a:prstGeom>
            </p:spPr>
            <p:txBody>
              <a:bodyPr wrap="square">
                <a:spAutoFit/>
              </a:bodyPr>
              <a:lstStyle/>
              <a:p>
                <a:pPr>
                  <a:lnSpc>
                    <a:spcPct val="130000"/>
                  </a:lnSpc>
                  <a:spcBef>
                    <a:spcPts val="0"/>
                  </a:spcBef>
                  <a:buNone/>
                </a:pPr>
                <a:r>
                  <a:rPr lang="zh-CN" altLang="en-US" sz="2800" b="1" dirty="0">
                    <a:solidFill>
                      <a:srgbClr val="0070C0"/>
                    </a:solidFill>
                    <a:ea typeface="黑体" panose="02010609060101010101" pitchFamily="49" charset="-122"/>
                    <a:cs typeface="Times New Roman" panose="02020603050405020304" pitchFamily="18" charset="0"/>
                  </a:rPr>
                  <a:t>例：</a:t>
                </a:r>
                <a:r>
                  <a:rPr lang="zh-CN" altLang="en-US" sz="2800" dirty="0">
                    <a:ea typeface="黑体" panose="02010609060101010101" pitchFamily="49" charset="-122"/>
                    <a:cs typeface="Times New Roman" panose="02020603050405020304" pitchFamily="18" charset="0"/>
                  </a:rPr>
                  <a:t>设 </a:t>
                </a:r>
                <a14:m>
                  <m:oMath xmlns:m="http://schemas.openxmlformats.org/officeDocument/2006/math">
                    <m:r>
                      <a:rPr lang="en-US" altLang="zh-CN" sz="2800" i="1">
                        <a:latin typeface="Cambria Math" panose="02040503050406030204" pitchFamily="18" charset="0"/>
                        <a:ea typeface="Cambria Math" panose="02040503050406030204" pitchFamily="18" charset="0"/>
                      </a:rPr>
                      <m:t>𝑮</m:t>
                    </m:r>
                  </m:oMath>
                </a14:m>
                <a:r>
                  <a:rPr lang="en-US" altLang="zh-CN" sz="2800" dirty="0">
                    <a:ea typeface="黑体" panose="02010609060101010101" pitchFamily="49" charset="-122"/>
                    <a:cs typeface="Times New Roman" panose="02020603050405020304" pitchFamily="18" charset="0"/>
                  </a:rPr>
                  <a:t> </a:t>
                </a:r>
                <a:r>
                  <a:rPr lang="zh-CN" altLang="en-US" sz="2800" dirty="0">
                    <a:ea typeface="黑体" panose="02010609060101010101" pitchFamily="49" charset="-122"/>
                    <a:cs typeface="Times New Roman" panose="02020603050405020304" pitchFamily="18" charset="0"/>
                  </a:rPr>
                  <a:t>为</a:t>
                </a:r>
                <a14:m>
                  <m:oMath xmlns:m="http://schemas.openxmlformats.org/officeDocument/2006/math">
                    <m:r>
                      <a:rPr lang="en-US" altLang="zh-CN" sz="2800" b="1" i="1">
                        <a:latin typeface="Cambria Math" panose="02040503050406030204" pitchFamily="18" charset="0"/>
                        <a:ea typeface="Cambria Math" panose="02040503050406030204" pitchFamily="18" charset="0"/>
                      </a:rPr>
                      <m:t>𝒏</m:t>
                    </m:r>
                  </m:oMath>
                </a14:m>
                <a:r>
                  <a:rPr lang="zh-CN" altLang="en-US" sz="2800" dirty="0">
                    <a:ea typeface="黑体" panose="02010609060101010101" pitchFamily="49" charset="-122"/>
                    <a:cs typeface="Times New Roman" panose="02020603050405020304" pitchFamily="18" charset="0"/>
                  </a:rPr>
                  <a:t> 阶</a:t>
                </a:r>
                <a:r>
                  <a:rPr lang="zh-CN" altLang="en-US" sz="2800" dirty="0">
                    <a:solidFill>
                      <a:srgbClr val="000066"/>
                    </a:solidFill>
                    <a:ea typeface="黑体" panose="02010609060101010101" pitchFamily="49" charset="-122"/>
                    <a:cs typeface="Times New Roman" panose="02020603050405020304" pitchFamily="18" charset="0"/>
                  </a:rPr>
                  <a:t>简单无向图</a:t>
                </a:r>
                <a:r>
                  <a:rPr lang="zh-CN" altLang="en-US" sz="2800" dirty="0">
                    <a:ea typeface="黑体" panose="02010609060101010101" pitchFamily="49" charset="-122"/>
                    <a:cs typeface="Times New Roman" panose="02020603050405020304" pitchFamily="18" charset="0"/>
                  </a:rPr>
                  <a:t>，若 </a:t>
                </a:r>
                <a14:m>
                  <m:oMath xmlns:m="http://schemas.openxmlformats.org/officeDocument/2006/math">
                    <m:r>
                      <a:rPr lang="en-US" altLang="zh-CN" sz="2800" i="1">
                        <a:latin typeface="Cambria Math" panose="02040503050406030204" pitchFamily="18" charset="0"/>
                        <a:ea typeface="Cambria Math" panose="02040503050406030204" pitchFamily="18" charset="0"/>
                      </a:rPr>
                      <m:t>𝑮</m:t>
                    </m:r>
                  </m:oMath>
                </a14:m>
                <a:r>
                  <a:rPr lang="en-US" altLang="zh-CN" sz="2800" dirty="0">
                    <a:ea typeface="黑体" panose="02010609060101010101" pitchFamily="49" charset="-122"/>
                    <a:cs typeface="Times New Roman" panose="02020603050405020304" pitchFamily="18" charset="0"/>
                  </a:rPr>
                  <a:t> </a:t>
                </a:r>
                <a:r>
                  <a:rPr lang="zh-CN" altLang="en-US" sz="2800" dirty="0">
                    <a:ea typeface="黑体" panose="02010609060101010101" pitchFamily="49" charset="-122"/>
                    <a:cs typeface="Times New Roman" panose="02020603050405020304" pitchFamily="18" charset="0"/>
                  </a:rPr>
                  <a:t>的任意两个结点的度数之和大于等于</a:t>
                </a:r>
                <a14:m>
                  <m:oMath xmlns:m="http://schemas.openxmlformats.org/officeDocument/2006/math">
                    <m:r>
                      <a:rPr lang="en-US" altLang="zh-CN" sz="2800" b="1" i="1">
                        <a:latin typeface="Cambria Math" panose="02040503050406030204" pitchFamily="18" charset="0"/>
                        <a:ea typeface="Cambria Math" panose="02040503050406030204" pitchFamily="18" charset="0"/>
                      </a:rPr>
                      <m:t>𝒏</m:t>
                    </m:r>
                    <m:r>
                      <a:rPr lang="en-US" altLang="zh-CN" sz="2800" b="1" i="1">
                        <a:latin typeface="Cambria Math" panose="02040503050406030204" pitchFamily="18" charset="0"/>
                        <a:ea typeface="Cambria Math" panose="02040503050406030204" pitchFamily="18" charset="0"/>
                      </a:rPr>
                      <m:t>−</m:t>
                    </m:r>
                    <m:r>
                      <a:rPr lang="en-US" altLang="zh-CN" sz="2800" b="1" i="1">
                        <a:latin typeface="Cambria Math" panose="02040503050406030204" pitchFamily="18" charset="0"/>
                        <a:ea typeface="Cambria Math" panose="02040503050406030204" pitchFamily="18" charset="0"/>
                      </a:rPr>
                      <m:t>𝟏</m:t>
                    </m:r>
                  </m:oMath>
                </a14:m>
                <a:r>
                  <a:rPr lang="zh-CN" altLang="en-US" sz="2800" dirty="0">
                    <a:ea typeface="黑体" panose="02010609060101010101" pitchFamily="49" charset="-122"/>
                    <a:cs typeface="Times New Roman" panose="02020603050405020304" pitchFamily="18" charset="0"/>
                  </a:rPr>
                  <a:t>，则 </a:t>
                </a:r>
                <a14:m>
                  <m:oMath xmlns:m="http://schemas.openxmlformats.org/officeDocument/2006/math">
                    <m:r>
                      <a:rPr lang="en-US" altLang="zh-CN" sz="2800" i="1">
                        <a:latin typeface="Cambria Math" panose="02040503050406030204" pitchFamily="18" charset="0"/>
                        <a:ea typeface="Cambria Math" panose="02040503050406030204" pitchFamily="18" charset="0"/>
                      </a:rPr>
                      <m:t>𝑮</m:t>
                    </m:r>
                  </m:oMath>
                </a14:m>
                <a:r>
                  <a:rPr lang="en-US" altLang="zh-CN" sz="2800" dirty="0">
                    <a:ea typeface="黑体" panose="02010609060101010101" pitchFamily="49" charset="-122"/>
                    <a:cs typeface="Times New Roman" panose="02020603050405020304" pitchFamily="18" charset="0"/>
                  </a:rPr>
                  <a:t> </a:t>
                </a:r>
                <a:r>
                  <a:rPr lang="zh-CN" altLang="en-US" sz="2800" dirty="0">
                    <a:ea typeface="黑体" panose="02010609060101010101" pitchFamily="49" charset="-122"/>
                    <a:cs typeface="Times New Roman" panose="02020603050405020304" pitchFamily="18" charset="0"/>
                  </a:rPr>
                  <a:t>是连通的。</a:t>
                </a:r>
              </a:p>
            </p:txBody>
          </p:sp>
        </mc:Choice>
        <mc:Fallback xmlns="">
          <p:sp>
            <p:nvSpPr>
              <p:cNvPr id="7" name="矩形 6">
                <a:extLst>
                  <a:ext uri="{FF2B5EF4-FFF2-40B4-BE49-F238E27FC236}">
                    <a16:creationId xmlns:a16="http://schemas.microsoft.com/office/drawing/2014/main" id="{9987DD1F-97DD-4775-8776-C359AC5E3936}"/>
                  </a:ext>
                </a:extLst>
              </p:cNvPr>
              <p:cNvSpPr>
                <a:spLocks noRot="1" noChangeAspect="1" noMove="1" noResize="1" noEditPoints="1" noAdjustHandles="1" noChangeArrowheads="1" noChangeShapeType="1" noTextEdit="1"/>
              </p:cNvSpPr>
              <p:nvPr/>
            </p:nvSpPr>
            <p:spPr>
              <a:xfrm>
                <a:off x="337457" y="892629"/>
                <a:ext cx="8469086" cy="1169038"/>
              </a:xfrm>
              <a:prstGeom prst="rect">
                <a:avLst/>
              </a:prstGeom>
              <a:blipFill>
                <a:blip r:embed="rId2"/>
                <a:stretch>
                  <a:fillRect l="-1439" t="-1042" r="-1007" b="-104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8DE3CBC-C89D-48B5-BFC8-DC5F2D1692B7}"/>
                  </a:ext>
                </a:extLst>
              </p:cNvPr>
              <p:cNvSpPr/>
              <p:nvPr/>
            </p:nvSpPr>
            <p:spPr>
              <a:xfrm>
                <a:off x="337457" y="2385626"/>
                <a:ext cx="8954461" cy="1077987"/>
              </a:xfrm>
              <a:prstGeom prst="rect">
                <a:avLst/>
              </a:prstGeom>
            </p:spPr>
            <p:txBody>
              <a:bodyPr wrap="square">
                <a:spAutoFit/>
              </a:bodyPr>
              <a:lstStyle/>
              <a:p>
                <a:pPr>
                  <a:lnSpc>
                    <a:spcPct val="120000"/>
                  </a:lnSpc>
                </a:pPr>
                <a:r>
                  <a:rPr lang="zh-CN" altLang="en-US" sz="2800" b="1" dirty="0">
                    <a:solidFill>
                      <a:srgbClr val="0070C0"/>
                    </a:solidFill>
                    <a:ea typeface="黑体" panose="02010609060101010101" pitchFamily="49" charset="-122"/>
                    <a:cs typeface="Times New Roman" panose="02020603050405020304" pitchFamily="18" charset="0"/>
                  </a:rPr>
                  <a:t>友谊定理</a:t>
                </a:r>
                <a:r>
                  <a:rPr lang="en-US" altLang="zh-CN" sz="2800" b="1" dirty="0">
                    <a:solidFill>
                      <a:srgbClr val="0070C0"/>
                    </a:solidFill>
                    <a:ea typeface="黑体" panose="02010609060101010101" pitchFamily="49" charset="-122"/>
                    <a:cs typeface="Times New Roman" panose="02020603050405020304" pitchFamily="18" charset="0"/>
                  </a:rPr>
                  <a:t>: </a:t>
                </a:r>
                <a:r>
                  <a:rPr lang="zh-CN" altLang="en-US" sz="2800" dirty="0">
                    <a:latin typeface="黑体" panose="02010609060101010101" pitchFamily="49" charset="-122"/>
                    <a:ea typeface="黑体" panose="02010609060101010101" pitchFamily="49" charset="-122"/>
                    <a:cs typeface="+mj-cs"/>
                  </a:rPr>
                  <a:t>若</a:t>
                </a:r>
                <a14:m>
                  <m:oMath xmlns:m="http://schemas.openxmlformats.org/officeDocument/2006/math">
                    <m:r>
                      <a:rPr lang="en-US" altLang="zh-CN" sz="2800" b="0" i="1" smtClean="0">
                        <a:latin typeface="Cambria Math" panose="02040503050406030204" pitchFamily="18" charset="0"/>
                      </a:rPr>
                      <m:t>𝐺</m:t>
                    </m:r>
                  </m:oMath>
                </a14:m>
                <a:r>
                  <a:rPr lang="zh-CN" altLang="en-US" sz="2800" dirty="0">
                    <a:latin typeface="黑体" panose="02010609060101010101" pitchFamily="49" charset="-122"/>
                    <a:ea typeface="黑体" panose="02010609060101010101" pitchFamily="49" charset="-122"/>
                    <a:cs typeface="+mj-cs"/>
                  </a:rPr>
                  <a:t>为⼀个有限图，其中任意两个顶点恰好有⼀个共同邻居</a:t>
                </a:r>
                <a:r>
                  <a:rPr lang="en-US" altLang="zh-CN" sz="2800" dirty="0">
                    <a:latin typeface="黑体" panose="02010609060101010101" pitchFamily="49" charset="-122"/>
                    <a:ea typeface="黑体" panose="02010609060101010101" pitchFamily="49" charset="-122"/>
                    <a:cs typeface="+mj-cs"/>
                  </a:rPr>
                  <a:t>,</a:t>
                </a:r>
                <a:r>
                  <a:rPr lang="zh-CN" altLang="en-US" sz="2800" dirty="0">
                    <a:latin typeface="黑体" panose="02010609060101010101" pitchFamily="49" charset="-122"/>
                    <a:ea typeface="黑体" panose="02010609060101010101" pitchFamily="49" charset="-122"/>
                    <a:cs typeface="+mj-cs"/>
                  </a:rPr>
                  <a:t>则存在⼀个顶点与其他所有顶点相连。</a:t>
                </a:r>
                <a:endParaRPr lang="en-US" altLang="zh-CN" sz="2800" dirty="0">
                  <a:latin typeface="黑体" panose="02010609060101010101" pitchFamily="49" charset="-122"/>
                  <a:ea typeface="黑体" panose="02010609060101010101" pitchFamily="49" charset="-122"/>
                  <a:cs typeface="+mj-cs"/>
                </a:endParaRPr>
              </a:p>
            </p:txBody>
          </p:sp>
        </mc:Choice>
        <mc:Fallback xmlns="">
          <p:sp>
            <p:nvSpPr>
              <p:cNvPr id="8" name="矩形 7">
                <a:extLst>
                  <a:ext uri="{FF2B5EF4-FFF2-40B4-BE49-F238E27FC236}">
                    <a16:creationId xmlns:a16="http://schemas.microsoft.com/office/drawing/2014/main" id="{E8DE3CBC-C89D-48B5-BFC8-DC5F2D1692B7}"/>
                  </a:ext>
                </a:extLst>
              </p:cNvPr>
              <p:cNvSpPr>
                <a:spLocks noRot="1" noChangeAspect="1" noMove="1" noResize="1" noEditPoints="1" noAdjustHandles="1" noChangeArrowheads="1" noChangeShapeType="1" noTextEdit="1"/>
              </p:cNvSpPr>
              <p:nvPr/>
            </p:nvSpPr>
            <p:spPr>
              <a:xfrm>
                <a:off x="337457" y="2385626"/>
                <a:ext cx="8954461" cy="1077987"/>
              </a:xfrm>
              <a:prstGeom prst="rect">
                <a:avLst/>
              </a:prstGeom>
              <a:blipFill>
                <a:blip r:embed="rId3"/>
                <a:stretch>
                  <a:fillRect l="-1361" t="-3955" b="-152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5CC6D0A-2B14-4CB6-9BBE-48D1C39755A1}"/>
                  </a:ext>
                </a:extLst>
              </p:cNvPr>
              <p:cNvSpPr/>
              <p:nvPr/>
            </p:nvSpPr>
            <p:spPr>
              <a:xfrm>
                <a:off x="337457" y="4482667"/>
                <a:ext cx="5007430" cy="1594026"/>
              </a:xfrm>
              <a:prstGeom prst="rect">
                <a:avLst/>
              </a:prstGeom>
            </p:spPr>
            <p:txBody>
              <a:bodyPr wrap="square">
                <a:spAutoFit/>
              </a:bodyPr>
              <a:lstStyle/>
              <a:p>
                <a:pPr>
                  <a:lnSpc>
                    <a:spcPct val="120000"/>
                  </a:lnSpc>
                </a:pPr>
                <a:r>
                  <a:rPr lang="zh-CN" altLang="en-US" sz="2400" b="1" dirty="0">
                    <a:solidFill>
                      <a:srgbClr val="0070C0"/>
                    </a:solidFill>
                    <a:ea typeface="黑体" panose="02010609060101010101" pitchFamily="49" charset="-122"/>
                    <a:cs typeface="Times New Roman" panose="02020603050405020304" pitchFamily="18" charset="0"/>
                  </a:rPr>
                  <a:t>猜想（</a:t>
                </a:r>
                <a:r>
                  <a:rPr lang="en-US" altLang="zh-CN" sz="2400" b="1" dirty="0" err="1">
                    <a:solidFill>
                      <a:srgbClr val="0070C0"/>
                    </a:solidFill>
                    <a:ea typeface="黑体" panose="02010609060101010101" pitchFamily="49" charset="-122"/>
                    <a:cs typeface="Times New Roman" panose="02020603050405020304" pitchFamily="18" charset="0"/>
                  </a:rPr>
                  <a:t>Kotzig</a:t>
                </a:r>
                <a:r>
                  <a:rPr lang="zh-CN" altLang="en-US" sz="2400" b="1" dirty="0">
                    <a:solidFill>
                      <a:srgbClr val="0070C0"/>
                    </a:solidFill>
                    <a:ea typeface="黑体" panose="02010609060101010101" pitchFamily="49" charset="-122"/>
                    <a:cs typeface="Times New Roman" panose="02020603050405020304" pitchFamily="18" charset="0"/>
                  </a:rPr>
                  <a:t>猜想）</a:t>
                </a:r>
                <a:r>
                  <a:rPr lang="en-US" altLang="zh-CN" sz="2400" b="1" dirty="0">
                    <a:solidFill>
                      <a:srgbClr val="0070C0"/>
                    </a:solidFill>
                    <a:ea typeface="黑体" panose="02010609060101010101" pitchFamily="49" charset="-122"/>
                    <a:cs typeface="Times New Roman" panose="02020603050405020304" pitchFamily="18" charset="0"/>
                  </a:rPr>
                  <a:t>:</a:t>
                </a:r>
                <a:r>
                  <a:rPr lang="zh-CN" altLang="en-US" sz="2800" dirty="0">
                    <a:ea typeface="黑体" panose="02010609060101010101" pitchFamily="49" charset="-122"/>
                  </a:rPr>
                  <a:t>若 </a:t>
                </a:r>
                <a:r>
                  <a:rPr lang="en-US" altLang="zh-CN" sz="2800" dirty="0">
                    <a:ea typeface="黑体" panose="02010609060101010101" pitchFamily="49" charset="-122"/>
                  </a:rPr>
                  <a:t> </a:t>
                </a:r>
                <a14:m>
                  <m:oMath xmlns:m="http://schemas.openxmlformats.org/officeDocument/2006/math">
                    <m:r>
                      <a:rPr lang="en-US" altLang="zh-CN" sz="2800" b="1" i="1" smtClean="0">
                        <a:latin typeface="Cambria Math" panose="02040503050406030204" pitchFamily="18" charset="0"/>
                      </a:rPr>
                      <m:t>𝒍</m:t>
                    </m:r>
                    <m:r>
                      <a:rPr lang="en-US" altLang="zh-CN" sz="2800" b="1" i="1" smtClean="0">
                        <a:latin typeface="Cambria Math" panose="02040503050406030204" pitchFamily="18" charset="0"/>
                      </a:rPr>
                      <m:t>&gt;</m:t>
                    </m:r>
                    <m:r>
                      <a:rPr lang="en-US" altLang="zh-CN" sz="2800" b="1" i="1" smtClean="0">
                        <a:latin typeface="Cambria Math" panose="02040503050406030204" pitchFamily="18" charset="0"/>
                      </a:rPr>
                      <m:t>𝟐</m:t>
                    </m:r>
                  </m:oMath>
                </a14:m>
                <a:r>
                  <a:rPr lang="en-US" altLang="zh-CN" sz="2800" b="1" dirty="0">
                    <a:ea typeface="黑体" panose="02010609060101010101" pitchFamily="49" charset="-122"/>
                  </a:rPr>
                  <a:t> </a:t>
                </a:r>
                <a:r>
                  <a:rPr lang="zh-CN" altLang="en-US" sz="2800" dirty="0">
                    <a:ea typeface="黑体" panose="02010609060101010101" pitchFamily="49" charset="-122"/>
                  </a:rPr>
                  <a:t>，则不存在有限图，使得图中任意两点间有一条长度为 </a:t>
                </a:r>
                <a:r>
                  <a:rPr lang="en-US" altLang="zh-CN" sz="2800" dirty="0">
                    <a:ea typeface="黑体" panose="02010609060101010101" pitchFamily="49" charset="-122"/>
                  </a:rPr>
                  <a:t> </a:t>
                </a:r>
                <a14:m>
                  <m:oMath xmlns:m="http://schemas.openxmlformats.org/officeDocument/2006/math">
                    <m:r>
                      <a:rPr lang="en-US" altLang="zh-CN" sz="2800" b="1" i="1">
                        <a:latin typeface="Cambria Math" panose="02040503050406030204" pitchFamily="18" charset="0"/>
                      </a:rPr>
                      <m:t>𝒍</m:t>
                    </m:r>
                  </m:oMath>
                </a14:m>
                <a:r>
                  <a:rPr lang="zh-CN" altLang="en-US" sz="2800" dirty="0">
                    <a:ea typeface="黑体" panose="02010609060101010101" pitchFamily="49" charset="-122"/>
                  </a:rPr>
                  <a:t> 的路</a:t>
                </a:r>
                <a:r>
                  <a:rPr lang="en-US" altLang="zh-CN" sz="2800" dirty="0">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cs typeface="+mj-cs"/>
                </a:endParaRPr>
              </a:p>
            </p:txBody>
          </p:sp>
        </mc:Choice>
        <mc:Fallback xmlns="">
          <p:sp>
            <p:nvSpPr>
              <p:cNvPr id="9" name="矩形 8">
                <a:extLst>
                  <a:ext uri="{FF2B5EF4-FFF2-40B4-BE49-F238E27FC236}">
                    <a16:creationId xmlns:a16="http://schemas.microsoft.com/office/drawing/2014/main" id="{C5CC6D0A-2B14-4CB6-9BBE-48D1C39755A1}"/>
                  </a:ext>
                </a:extLst>
              </p:cNvPr>
              <p:cNvSpPr>
                <a:spLocks noRot="1" noChangeAspect="1" noMove="1" noResize="1" noEditPoints="1" noAdjustHandles="1" noChangeArrowheads="1" noChangeShapeType="1" noTextEdit="1"/>
              </p:cNvSpPr>
              <p:nvPr/>
            </p:nvSpPr>
            <p:spPr>
              <a:xfrm>
                <a:off x="337457" y="4482667"/>
                <a:ext cx="5007430" cy="1594026"/>
              </a:xfrm>
              <a:prstGeom prst="rect">
                <a:avLst/>
              </a:prstGeom>
              <a:blipFill>
                <a:blip r:embed="rId4"/>
                <a:stretch>
                  <a:fillRect l="-2433" t="-2672" r="-1095" b="-9924"/>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DABB563E-4131-4068-BEAF-AE741C622ED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5105" y="3836654"/>
            <a:ext cx="2328295" cy="2148020"/>
          </a:xfrm>
          <a:prstGeom prst="rect">
            <a:avLst/>
          </a:prstGeom>
        </p:spPr>
      </p:pic>
      <p:sp>
        <p:nvSpPr>
          <p:cNvPr id="2" name="文本框 1">
            <a:extLst>
              <a:ext uri="{FF2B5EF4-FFF2-40B4-BE49-F238E27FC236}">
                <a16:creationId xmlns:a16="http://schemas.microsoft.com/office/drawing/2014/main" id="{45F87509-16B2-4ACE-83A7-AFEB6A30CA69}"/>
              </a:ext>
            </a:extLst>
          </p:cNvPr>
          <p:cNvSpPr txBox="1"/>
          <p:nvPr/>
        </p:nvSpPr>
        <p:spPr>
          <a:xfrm>
            <a:off x="6533148" y="6076693"/>
            <a:ext cx="1107996" cy="461665"/>
          </a:xfrm>
          <a:prstGeom prst="rect">
            <a:avLst/>
          </a:prstGeom>
          <a:noFill/>
        </p:spPr>
        <p:txBody>
          <a:bodyPr wrap="none" rtlCol="0">
            <a:spAutoFit/>
          </a:bodyPr>
          <a:lstStyle/>
          <a:p>
            <a:r>
              <a:rPr lang="zh-CN" altLang="en-US" sz="2400" b="1" dirty="0">
                <a:latin typeface="黑体" panose="02010609060101010101" pitchFamily="49" charset="-122"/>
                <a:ea typeface="黑体" panose="02010609060101010101" pitchFamily="49" charset="-122"/>
              </a:rPr>
              <a:t>风车图</a:t>
            </a:r>
          </a:p>
        </p:txBody>
      </p:sp>
    </p:spTree>
    <p:extLst>
      <p:ext uri="{BB962C8B-B14F-4D97-AF65-F5344CB8AC3E}">
        <p14:creationId xmlns:p14="http://schemas.microsoft.com/office/powerpoint/2010/main" val="149804438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 grpId="0"/>
    </p:bldLst>
  </p:timing>
</p:sld>
</file>

<file path=ppt/theme/theme1.xml><?xml version="1.0" encoding="utf-8"?>
<a:theme xmlns:a="http://schemas.openxmlformats.org/drawingml/2006/main" name="Grid">
  <a:themeElements>
    <a:clrScheme name="Gri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Grid">
      <a:majorFont>
        <a:latin typeface="华文中宋"/>
        <a:ea typeface="华文中宋"/>
        <a:cs typeface=""/>
      </a:majorFont>
      <a:minorFont>
        <a:latin typeface="华文仿宋"/>
        <a:ea typeface="华文仿宋"/>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FFCC00">
                <a:gamma/>
                <a:shade val="46275"/>
                <a:invGamma/>
              </a:srgbClr>
            </a:gs>
            <a:gs pos="50000">
              <a:srgbClr val="FFCC00"/>
            </a:gs>
            <a:gs pos="100000">
              <a:srgbClr val="FFCC00">
                <a:gamma/>
                <a:shade val="46275"/>
                <a:invGamma/>
              </a:srgbClr>
            </a:gs>
          </a:gsLst>
          <a:lin ang="0" scaled="1"/>
        </a:gradFill>
        <a:ln w="9525" cap="flat" cmpd="sng" algn="ctr">
          <a:noFill/>
          <a:prstDash val="solid"/>
          <a:round/>
          <a:headEnd type="none" w="med" len="med"/>
          <a:tailEnd type="none" w="med" len="med"/>
        </a:ln>
        <a:effectLst>
          <a:outerShdw dist="74053" dir="7257825" algn="ctr" rotWithShape="0">
            <a:schemeClr val="bg2">
              <a:alpha val="50000"/>
            </a:schemeClr>
          </a:outerShdw>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Times New Roman" pitchFamily="18" charset="0"/>
          </a:defRPr>
        </a:defPPr>
      </a:lstStyle>
    </a:spDef>
    <a:lnDef>
      <a:spPr bwMode="auto">
        <a:gradFill rotWithShape="1">
          <a:gsLst>
            <a:gs pos="0">
              <a:srgbClr val="FFCC00">
                <a:gamma/>
                <a:shade val="46275"/>
                <a:invGamma/>
              </a:srgbClr>
            </a:gs>
            <a:gs pos="50000">
              <a:srgbClr val="FFCC00"/>
            </a:gs>
            <a:gs pos="100000">
              <a:srgbClr val="FFCC00">
                <a:gamma/>
                <a:shade val="46275"/>
                <a:invGamma/>
              </a:srgbClr>
            </a:gs>
          </a:gsLst>
          <a:lin ang="0" scaled="1"/>
        </a:gradFill>
        <a:ln w="9525" cap="flat" cmpd="sng" algn="ctr">
          <a:noFill/>
          <a:prstDash val="solid"/>
          <a:round/>
          <a:headEnd type="none" w="med" len="med"/>
          <a:tailEnd type="none" w="med" len="med"/>
        </a:ln>
        <a:effectLst>
          <a:outerShdw dist="74053" dir="7257825" algn="ctr" rotWithShape="0">
            <a:schemeClr val="bg2">
              <a:alpha val="50000"/>
            </a:schemeClr>
          </a:outerShdw>
        </a:effectLst>
      </a:spPr>
      <a:bodyPr/>
      <a:lstStyle/>
    </a:lnDef>
  </a:objectDefaults>
  <a:extraClrSchemeLst>
    <a:extraClrScheme>
      <a:clrScheme name="Gri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Gri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ri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ri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ri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ri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Gri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42824</TotalTime>
  <Words>2644</Words>
  <Application>Microsoft Office PowerPoint</Application>
  <PresentationFormat>全屏显示(4:3)</PresentationFormat>
  <Paragraphs>372</Paragraphs>
  <Slides>39</Slides>
  <Notes>21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50" baseType="lpstr">
      <vt:lpstr>TimesNewRomanPSMT</vt:lpstr>
      <vt:lpstr>黑体</vt:lpstr>
      <vt:lpstr>华文行楷</vt:lpstr>
      <vt:lpstr>华文中宋</vt:lpstr>
      <vt:lpstr>Arial</vt:lpstr>
      <vt:lpstr>Cambria Math</vt:lpstr>
      <vt:lpstr>Tahoma</vt:lpstr>
      <vt:lpstr>Times New Roman</vt:lpstr>
      <vt:lpstr>Wingdings</vt:lpstr>
      <vt:lpstr>Grid</vt:lpstr>
      <vt:lpstr>位图图像</vt:lpstr>
      <vt:lpstr>提纲</vt:lpstr>
      <vt:lpstr>割集和图</vt:lpstr>
      <vt:lpstr>[ZJOI2004]嗅探器</vt:lpstr>
      <vt:lpstr>点割集的定义</vt:lpstr>
      <vt:lpstr>点割集的定义</vt:lpstr>
      <vt:lpstr>PowerPoint 演示文稿</vt:lpstr>
      <vt:lpstr>PowerPoint 演示文稿</vt:lpstr>
      <vt:lpstr>边割集的定义</vt:lpstr>
      <vt:lpstr>PowerPoint 演示文稿</vt:lpstr>
      <vt:lpstr>PowerPoint 演示文稿</vt:lpstr>
      <vt:lpstr>割集的定义</vt:lpstr>
      <vt:lpstr>点割集的定义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支配集、覆盖集与独立集</vt:lpstr>
      <vt:lpstr>提纲</vt:lpstr>
      <vt:lpstr>POJ 3041: Asteroids</vt:lpstr>
      <vt:lpstr>选址问题</vt:lpstr>
      <vt:lpstr>支配集、覆盖集与独立集</vt:lpstr>
      <vt:lpstr>支配集、覆盖集与独立集</vt:lpstr>
      <vt:lpstr>支配集、覆盖集与独立集</vt:lpstr>
      <vt:lpstr>支配集、覆盖集与独立集</vt:lpstr>
      <vt:lpstr>支配集、覆盖集与独立集</vt:lpstr>
      <vt:lpstr>支配集、覆盖集与独立集</vt:lpstr>
      <vt:lpstr>支配集、覆盖集与独立集</vt:lpstr>
      <vt:lpstr>支配集、覆盖集与独立集</vt:lpstr>
      <vt:lpstr>支配集、覆盖集与独立集</vt:lpstr>
      <vt:lpstr>支配集、覆盖集与独立集</vt:lpstr>
      <vt:lpstr>最小覆盖集问题</vt:lpstr>
      <vt:lpstr>最小点覆盖集问题</vt:lpstr>
      <vt:lpstr>Ramsey(拉姆齐)数</vt:lpstr>
      <vt:lpstr>友谊定理</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863课题“网络环境的系统软件核心技术 及运行平台”成果汇报</dc:title>
  <dc:creator>Ma Dian Fu</dc:creator>
  <cp:lastModifiedBy>1 1</cp:lastModifiedBy>
  <cp:revision>2974</cp:revision>
  <cp:lastPrinted>2024-09-27T02:14:10Z</cp:lastPrinted>
  <dcterms:created xsi:type="dcterms:W3CDTF">2004-03-10T10:42:25Z</dcterms:created>
  <dcterms:modified xsi:type="dcterms:W3CDTF">2025-10-13T07:59:12Z</dcterms:modified>
</cp:coreProperties>
</file>